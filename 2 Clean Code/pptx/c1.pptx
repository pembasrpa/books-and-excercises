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Host Grotesk Medium"/>
      <p:regular r:id="rId15"/>
    </p:embeddedFont>
    <p:embeddedFont>
      <p:font typeface="Host Grotesk Medium"/>
      <p:regular r:id="rId16"/>
    </p:embeddedFont>
    <p:embeddedFont>
      <p:font typeface="Host Grotesk Medium"/>
      <p:regular r:id="rId17"/>
    </p:embeddedFont>
    <p:embeddedFont>
      <p:font typeface="Host Grotesk Medium"/>
      <p:regular r:id="rId18"/>
    </p:embeddedFont>
    <p:embeddedFont>
      <p:font typeface="Roboto"/>
      <p:regular r:id="rId19"/>
    </p:embeddedFont>
    <p:embeddedFont>
      <p:font typeface="Roboto"/>
      <p:regular r:id="rId20"/>
    </p:embeddedFont>
    <p:embeddedFont>
      <p:font typeface="Roboto"/>
      <p:regular r:id="rId21"/>
    </p:embeddedFont>
    <p:embeddedFont>
      <p:font typeface="Roboto"/>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slideLayout" Target="../slideLayouts/slideLayout8.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836182" y="607457"/>
            <a:ext cx="4331137" cy="541377"/>
          </a:xfrm>
          <a:prstGeom prst="rect">
            <a:avLst/>
          </a:prstGeom>
          <a:noFill/>
          <a:ln/>
        </p:spPr>
        <p:txBody>
          <a:bodyPr wrap="none" lIns="0" tIns="0" rIns="0" bIns="0" rtlCol="0" anchor="t"/>
          <a:lstStyle/>
          <a:p>
            <a:pPr algn="l" indent="0" marL="0">
              <a:lnSpc>
                <a:spcPts val="4250"/>
              </a:lnSpc>
              <a:buNone/>
            </a:pPr>
            <a:r>
              <a:rPr lang="en-US" sz="3400" dirty="0">
                <a:solidFill>
                  <a:srgbClr val="2E3C4E"/>
                </a:solidFill>
                <a:latin typeface="Host Grotesk Medium" pitchFamily="34" charset="0"/>
                <a:ea typeface="Host Grotesk Medium" pitchFamily="34" charset="-122"/>
                <a:cs typeface="Host Grotesk Medium" pitchFamily="34" charset="-120"/>
              </a:rPr>
              <a:t>What is Clean Code?</a:t>
            </a:r>
            <a:endParaRPr lang="en-US" sz="3400" dirty="0"/>
          </a:p>
        </p:txBody>
      </p:sp>
      <p:sp>
        <p:nvSpPr>
          <p:cNvPr id="3" name="Text 1"/>
          <p:cNvSpPr/>
          <p:nvPr/>
        </p:nvSpPr>
        <p:spPr>
          <a:xfrm>
            <a:off x="1836182" y="1495306"/>
            <a:ext cx="10957917" cy="519589"/>
          </a:xfrm>
          <a:prstGeom prst="rect">
            <a:avLst/>
          </a:prstGeom>
          <a:noFill/>
          <a:ln/>
        </p:spPr>
        <p:txBody>
          <a:bodyPr wrap="squar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The primary focus of "Clean Code" extends beyond mere structure and layout. It's about the representation of ideas and the effective communication of intent.</a:t>
            </a:r>
            <a:endParaRPr lang="en-US" sz="1350" dirty="0"/>
          </a:p>
        </p:txBody>
      </p:sp>
      <p:sp>
        <p:nvSpPr>
          <p:cNvPr id="4" name="Text 2"/>
          <p:cNvSpPr/>
          <p:nvPr/>
        </p:nvSpPr>
        <p:spPr>
          <a:xfrm>
            <a:off x="1836182" y="2209681"/>
            <a:ext cx="10957917" cy="259794"/>
          </a:xfrm>
          <a:prstGeom prst="rect">
            <a:avLst/>
          </a:prstGeom>
          <a:noFill/>
          <a:ln/>
        </p:spPr>
        <p:txBody>
          <a:bodyPr wrap="none" lIns="0" tIns="0" rIns="0" bIns="0" rtlCol="0" anchor="t"/>
          <a:lstStyle/>
          <a:p>
            <a:pPr algn="l" indent="0" marL="0">
              <a:lnSpc>
                <a:spcPts val="2000"/>
              </a:lnSpc>
              <a:buNone/>
            </a:pPr>
            <a:r>
              <a:rPr lang="en-US" sz="1350" dirty="0">
                <a:solidFill>
                  <a:srgbClr val="95CCDA"/>
                </a:solidFill>
                <a:latin typeface="Roboto" pitchFamily="34" charset="0"/>
                <a:ea typeface="Roboto" pitchFamily="34" charset="-122"/>
                <a:cs typeface="Roboto" pitchFamily="34" charset="-120"/>
              </a:rPr>
              <a:t>It centers on readability, maintainability, and keeping technical debt to a minimum.</a:t>
            </a:r>
            <a:endParaRPr lang="en-US" sz="1350" dirty="0"/>
          </a:p>
        </p:txBody>
      </p:sp>
      <p:sp>
        <p:nvSpPr>
          <p:cNvPr id="5" name="Text 3"/>
          <p:cNvSpPr/>
          <p:nvPr/>
        </p:nvSpPr>
        <p:spPr>
          <a:xfrm>
            <a:off x="1836182" y="2837498"/>
            <a:ext cx="2598658" cy="324802"/>
          </a:xfrm>
          <a:prstGeom prst="rect">
            <a:avLst/>
          </a:prstGeom>
          <a:noFill/>
          <a:ln/>
        </p:spPr>
        <p:txBody>
          <a:bodyPr wrap="none" lIns="0" tIns="0" rIns="0" bIns="0" rtlCol="0" anchor="t"/>
          <a:lstStyle/>
          <a:p>
            <a:pPr algn="l" indent="0" marL="0">
              <a:lnSpc>
                <a:spcPts val="2550"/>
              </a:lnSpc>
              <a:buNone/>
            </a:pPr>
            <a:r>
              <a:rPr lang="en-US" sz="2000" dirty="0">
                <a:solidFill>
                  <a:srgbClr val="2E3C4E"/>
                </a:solidFill>
                <a:latin typeface="Host Grotesk Medium" pitchFamily="34" charset="0"/>
                <a:ea typeface="Host Grotesk Medium" pitchFamily="34" charset="-122"/>
                <a:cs typeface="Host Grotesk Medium" pitchFamily="34" charset="-120"/>
              </a:rPr>
              <a:t>Messy Code Example</a:t>
            </a:r>
            <a:endParaRPr lang="en-US" sz="2000" dirty="0"/>
          </a:p>
        </p:txBody>
      </p:sp>
      <p:sp>
        <p:nvSpPr>
          <p:cNvPr id="6" name="Text 4"/>
          <p:cNvSpPr/>
          <p:nvPr/>
        </p:nvSpPr>
        <p:spPr>
          <a:xfrm>
            <a:off x="1836182" y="3335536"/>
            <a:ext cx="5267563" cy="519589"/>
          </a:xfrm>
          <a:prstGeom prst="rect">
            <a:avLst/>
          </a:prstGeom>
          <a:noFill/>
          <a:ln/>
        </p:spPr>
        <p:txBody>
          <a:bodyPr wrap="squar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This example demonstrates unclear variable names, implicit logic, and lack of clarity, making it difficult to understand and maintain.</a:t>
            </a:r>
            <a:endParaRPr lang="en-US" sz="1350" dirty="0"/>
          </a:p>
        </p:txBody>
      </p:sp>
      <p:sp>
        <p:nvSpPr>
          <p:cNvPr id="7" name="Shape 5"/>
          <p:cNvSpPr/>
          <p:nvPr/>
        </p:nvSpPr>
        <p:spPr>
          <a:xfrm>
            <a:off x="1836182" y="4049911"/>
            <a:ext cx="5267563" cy="3117533"/>
          </a:xfrm>
          <a:prstGeom prst="roundRect">
            <a:avLst>
              <a:gd name="adj" fmla="val 2334"/>
            </a:avLst>
          </a:prstGeom>
          <a:solidFill>
            <a:srgbClr val="EDECE8"/>
          </a:solidFill>
          <a:ln/>
        </p:spPr>
      </p:sp>
      <p:sp>
        <p:nvSpPr>
          <p:cNvPr id="8" name="Shape 6"/>
          <p:cNvSpPr/>
          <p:nvPr/>
        </p:nvSpPr>
        <p:spPr>
          <a:xfrm>
            <a:off x="1827609" y="4049911"/>
            <a:ext cx="5284708" cy="3117533"/>
          </a:xfrm>
          <a:prstGeom prst="roundRect">
            <a:avLst>
              <a:gd name="adj" fmla="val 834"/>
            </a:avLst>
          </a:prstGeom>
          <a:solidFill>
            <a:srgbClr val="EDECE8"/>
          </a:solidFill>
          <a:ln/>
        </p:spPr>
      </p:sp>
      <p:sp>
        <p:nvSpPr>
          <p:cNvPr id="9" name="Text 7"/>
          <p:cNvSpPr/>
          <p:nvPr/>
        </p:nvSpPr>
        <p:spPr>
          <a:xfrm>
            <a:off x="2000845" y="4179808"/>
            <a:ext cx="4938236" cy="2857738"/>
          </a:xfrm>
          <a:prstGeom prst="rect">
            <a:avLst/>
          </a:prstGeom>
          <a:noFill/>
          <a:ln/>
        </p:spPr>
        <p:txBody>
          <a:bodyPr wrap="square" lIns="0" tIns="0" rIns="0" bIns="0" rtlCol="0" anchor="t"/>
          <a:lstStyle/>
          <a:p>
            <a:pPr algn="l" indent="0" marL="0">
              <a:lnSpc>
                <a:spcPts val="2000"/>
              </a:lnSpc>
              <a:buNone/>
            </a:pPr>
            <a:r>
              <a:rPr lang="en-US" sz="1350" dirty="0">
                <a:solidFill>
                  <a:srgbClr val="384653"/>
                </a:solidFill>
                <a:highlight>
                  <a:srgbClr val="EDECE8"/>
                </a:highlight>
                <a:latin typeface="Consolas" pitchFamily="34" charset="0"/>
                <a:ea typeface="Consolas" pitchFamily="34" charset="-122"/>
                <a:cs typeface="Consolas" pitchFamily="34" charset="-120"/>
              </a:rPr>
              <a:t>def process_data(d):
    r = []
    for item in d:
        # Check status and age
        if 's' in item and item['s'] == 'active' and 'a' in item and item['a'] &gt; 18:
            # Add name if available
            if 'n' in item:
                r.append(item['n'])
    return r
</a:t>
            </a:r>
            <a:endParaRPr lang="en-US" sz="1350" dirty="0"/>
          </a:p>
        </p:txBody>
      </p:sp>
      <p:sp>
        <p:nvSpPr>
          <p:cNvPr id="10" name="Text 8"/>
          <p:cNvSpPr/>
          <p:nvPr/>
        </p:nvSpPr>
        <p:spPr>
          <a:xfrm>
            <a:off x="7534037" y="2837498"/>
            <a:ext cx="2598658" cy="324802"/>
          </a:xfrm>
          <a:prstGeom prst="rect">
            <a:avLst/>
          </a:prstGeom>
          <a:noFill/>
          <a:ln/>
        </p:spPr>
        <p:txBody>
          <a:bodyPr wrap="none" lIns="0" tIns="0" rIns="0" bIns="0" rtlCol="0" anchor="t"/>
          <a:lstStyle/>
          <a:p>
            <a:pPr algn="l" indent="0" marL="0">
              <a:lnSpc>
                <a:spcPts val="2550"/>
              </a:lnSpc>
              <a:buNone/>
            </a:pPr>
            <a:r>
              <a:rPr lang="en-US" sz="2000" dirty="0">
                <a:solidFill>
                  <a:srgbClr val="2E3C4E"/>
                </a:solidFill>
                <a:latin typeface="Host Grotesk Medium" pitchFamily="34" charset="0"/>
                <a:ea typeface="Host Grotesk Medium" pitchFamily="34" charset="-122"/>
                <a:cs typeface="Host Grotesk Medium" pitchFamily="34" charset="-120"/>
              </a:rPr>
              <a:t>Clean Code Example</a:t>
            </a:r>
            <a:endParaRPr lang="en-US" sz="2000" dirty="0"/>
          </a:p>
        </p:txBody>
      </p:sp>
      <p:sp>
        <p:nvSpPr>
          <p:cNvPr id="11" name="Text 9"/>
          <p:cNvSpPr/>
          <p:nvPr/>
        </p:nvSpPr>
        <p:spPr>
          <a:xfrm>
            <a:off x="7534037" y="3335536"/>
            <a:ext cx="5267563" cy="519589"/>
          </a:xfrm>
          <a:prstGeom prst="rect">
            <a:avLst/>
          </a:prstGeom>
          <a:noFill/>
          <a:ln/>
        </p:spPr>
        <p:txBody>
          <a:bodyPr wrap="squar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The same logic, but with descriptive variable names, clear intent, and better structure for improved readability and maintainability.</a:t>
            </a:r>
            <a:endParaRPr lang="en-US" sz="1350" dirty="0"/>
          </a:p>
        </p:txBody>
      </p:sp>
      <p:sp>
        <p:nvSpPr>
          <p:cNvPr id="12" name="Shape 10"/>
          <p:cNvSpPr/>
          <p:nvPr/>
        </p:nvSpPr>
        <p:spPr>
          <a:xfrm>
            <a:off x="7534037" y="4049911"/>
            <a:ext cx="5267563" cy="3377327"/>
          </a:xfrm>
          <a:prstGeom prst="roundRect">
            <a:avLst>
              <a:gd name="adj" fmla="val 2155"/>
            </a:avLst>
          </a:prstGeom>
          <a:solidFill>
            <a:srgbClr val="EDECE8"/>
          </a:solidFill>
          <a:ln/>
        </p:spPr>
      </p:sp>
      <p:sp>
        <p:nvSpPr>
          <p:cNvPr id="13" name="Shape 11"/>
          <p:cNvSpPr/>
          <p:nvPr/>
        </p:nvSpPr>
        <p:spPr>
          <a:xfrm>
            <a:off x="7525464" y="4049911"/>
            <a:ext cx="5284708" cy="3377327"/>
          </a:xfrm>
          <a:prstGeom prst="roundRect">
            <a:avLst>
              <a:gd name="adj" fmla="val 769"/>
            </a:avLst>
          </a:prstGeom>
          <a:solidFill>
            <a:srgbClr val="EDECE8"/>
          </a:solidFill>
          <a:ln/>
        </p:spPr>
      </p:sp>
      <p:sp>
        <p:nvSpPr>
          <p:cNvPr id="14" name="Text 12"/>
          <p:cNvSpPr/>
          <p:nvPr/>
        </p:nvSpPr>
        <p:spPr>
          <a:xfrm>
            <a:off x="7698700" y="4179808"/>
            <a:ext cx="4938236" cy="3117533"/>
          </a:xfrm>
          <a:prstGeom prst="rect">
            <a:avLst/>
          </a:prstGeom>
          <a:noFill/>
          <a:ln/>
        </p:spPr>
        <p:txBody>
          <a:bodyPr wrap="square" lIns="0" tIns="0" rIns="0" bIns="0" rtlCol="0" anchor="t"/>
          <a:lstStyle/>
          <a:p>
            <a:pPr algn="l" indent="0" marL="0">
              <a:lnSpc>
                <a:spcPts val="2000"/>
              </a:lnSpc>
              <a:buNone/>
            </a:pPr>
            <a:r>
              <a:rPr lang="en-US" sz="1350" dirty="0">
                <a:solidFill>
                  <a:srgbClr val="384653"/>
                </a:solidFill>
                <a:highlight>
                  <a:srgbClr val="EDECE8"/>
                </a:highlight>
                <a:latin typeface="Consolas" pitchFamily="34" charset="0"/>
                <a:ea typeface="Consolas" pitchFamily="34" charset="-122"/>
                <a:cs typeface="Consolas" pitchFamily="34" charset="-120"/>
              </a:rPr>
              <a:t>def get_names_of_eligible_active_users(users_data):
    eligible_users_names = []
    for user in users_data:
        is_active = user.get('status') == 'active'
        is_adult = user.get('age') &gt; 18
        if is_active and is_adult:
            user_name = user.get('name')
            if user_name:
                eligible_users_names.append(user_name)
    return eligible_users_names
</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728442" y="311825"/>
            <a:ext cx="3044904" cy="354330"/>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Defining Technical Debt</a:t>
            </a:r>
            <a:endParaRPr lang="en-US" sz="2200" dirty="0"/>
          </a:p>
        </p:txBody>
      </p:sp>
      <p:sp>
        <p:nvSpPr>
          <p:cNvPr id="3" name="Text 1"/>
          <p:cNvSpPr/>
          <p:nvPr/>
        </p:nvSpPr>
        <p:spPr>
          <a:xfrm>
            <a:off x="3728442" y="892969"/>
            <a:ext cx="7173397" cy="170140"/>
          </a:xfrm>
          <a:prstGeom prst="rect">
            <a:avLst/>
          </a:prstGeom>
          <a:noFill/>
          <a:ln/>
        </p:spPr>
        <p:txBody>
          <a:bodyPr wrap="non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Technical Debt is the cumulative cost of choosing a quick, messy solution over a well-thought-out, maintainable one.</a:t>
            </a:r>
            <a:endParaRPr lang="en-US" sz="850" dirty="0"/>
          </a:p>
        </p:txBody>
      </p:sp>
      <p:sp>
        <p:nvSpPr>
          <p:cNvPr id="4" name="Text 2"/>
          <p:cNvSpPr/>
          <p:nvPr/>
        </p:nvSpPr>
        <p:spPr>
          <a:xfrm>
            <a:off x="3728442" y="1190625"/>
            <a:ext cx="7173397" cy="170140"/>
          </a:xfrm>
          <a:prstGeom prst="rect">
            <a:avLst/>
          </a:prstGeom>
          <a:noFill/>
          <a:ln/>
        </p:spPr>
        <p:txBody>
          <a:bodyPr wrap="none" lIns="0" tIns="0" rIns="0" bIns="0" rtlCol="0" anchor="t"/>
          <a:lstStyle/>
          <a:p>
            <a:pPr algn="l" indent="0" marL="0">
              <a:lnSpc>
                <a:spcPts val="1300"/>
              </a:lnSpc>
              <a:buNone/>
            </a:pPr>
            <a:r>
              <a:rPr lang="en-US" sz="850" dirty="0">
                <a:solidFill>
                  <a:srgbClr val="C3643D"/>
                </a:solidFill>
                <a:latin typeface="Roboto" pitchFamily="34" charset="0"/>
                <a:ea typeface="Roboto" pitchFamily="34" charset="-122"/>
                <a:cs typeface="Roboto" pitchFamily="34" charset="-120"/>
              </a:rPr>
              <a:t>Clean code acts as the primary defense against its accumulation.</a:t>
            </a:r>
            <a:endParaRPr lang="en-US" sz="850" dirty="0"/>
          </a:p>
        </p:txBody>
      </p:sp>
      <p:sp>
        <p:nvSpPr>
          <p:cNvPr id="5" name="Text 3"/>
          <p:cNvSpPr/>
          <p:nvPr/>
        </p:nvSpPr>
        <p:spPr>
          <a:xfrm>
            <a:off x="3728442" y="1601629"/>
            <a:ext cx="3448288" cy="425291"/>
          </a:xfrm>
          <a:prstGeom prst="rect">
            <a:avLst/>
          </a:prstGeom>
          <a:noFill/>
          <a:ln/>
        </p:spPr>
        <p:txBody>
          <a:bodyPr wrap="square" lIns="0" tIns="0" rIns="0" bIns="0" rtlCol="0" anchor="t"/>
          <a:lstStyle/>
          <a:p>
            <a:pPr algn="l" indent="0" marL="0">
              <a:lnSpc>
                <a:spcPts val="1650"/>
              </a:lnSpc>
              <a:buNone/>
            </a:pPr>
            <a:r>
              <a:rPr lang="en-US" sz="1300" dirty="0">
                <a:solidFill>
                  <a:srgbClr val="2E3C4E"/>
                </a:solidFill>
                <a:latin typeface="Host Grotesk Medium" pitchFamily="34" charset="0"/>
                <a:ea typeface="Host Grotesk Medium" pitchFamily="34" charset="-122"/>
                <a:cs typeface="Host Grotesk Medium" pitchFamily="34" charset="-120"/>
              </a:rPr>
              <a:t>Technical Debt Example: The Growing Conditional</a:t>
            </a:r>
            <a:endParaRPr lang="en-US" sz="1300" dirty="0"/>
          </a:p>
        </p:txBody>
      </p:sp>
      <p:sp>
        <p:nvSpPr>
          <p:cNvPr id="6" name="Text 4"/>
          <p:cNvSpPr/>
          <p:nvPr/>
        </p:nvSpPr>
        <p:spPr>
          <a:xfrm>
            <a:off x="3728442" y="2140267"/>
            <a:ext cx="3448288" cy="34790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A new feature is requested: process different user types. The team quickly adds an </a:t>
            </a:r>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elif</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branch for each new type to an existing function.</a:t>
            </a:r>
            <a:endParaRPr lang="en-US" sz="850" dirty="0"/>
          </a:p>
        </p:txBody>
      </p:sp>
      <p:sp>
        <p:nvSpPr>
          <p:cNvPr id="7" name="Shape 5"/>
          <p:cNvSpPr/>
          <p:nvPr/>
        </p:nvSpPr>
        <p:spPr>
          <a:xfrm>
            <a:off x="3728442" y="2615684"/>
            <a:ext cx="3448288" cy="2722126"/>
          </a:xfrm>
          <a:prstGeom prst="roundRect">
            <a:avLst>
              <a:gd name="adj" fmla="val 1750"/>
            </a:avLst>
          </a:prstGeom>
          <a:solidFill>
            <a:srgbClr val="EDECE8"/>
          </a:solidFill>
          <a:ln/>
        </p:spPr>
      </p:sp>
      <p:sp>
        <p:nvSpPr>
          <p:cNvPr id="8" name="Shape 6"/>
          <p:cNvSpPr/>
          <p:nvPr/>
        </p:nvSpPr>
        <p:spPr>
          <a:xfrm>
            <a:off x="3722846" y="2615684"/>
            <a:ext cx="3459480" cy="2722126"/>
          </a:xfrm>
          <a:prstGeom prst="roundRect">
            <a:avLst>
              <a:gd name="adj" fmla="val 625"/>
            </a:avLst>
          </a:prstGeom>
          <a:solidFill>
            <a:srgbClr val="EDECE8"/>
          </a:solidFill>
          <a:ln/>
        </p:spPr>
      </p:sp>
      <p:sp>
        <p:nvSpPr>
          <p:cNvPr id="9" name="Text 7"/>
          <p:cNvSpPr/>
          <p:nvPr/>
        </p:nvSpPr>
        <p:spPr>
          <a:xfrm>
            <a:off x="3836194" y="2700695"/>
            <a:ext cx="3232785" cy="2552105"/>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def process_user_data(user):
    if user['type'] == 'standard':
        # Initial logic for standard users
        user['status'] = 'active'
        user['points'] = user.get('points', 0) + 10
    elif user['type'] == 'premium':
        # Quick add-on for premium users
        user['status'] = 'active'
        user['loyalty_bonus'] = user.get('loyalty_bonus', 0) + 50
    elif user['type'] == 'admin':
        # Another quick add-on for admin users
        user['status'] = 'admin_active'
        user['permissions'] = ['read', 'write', 'delete']
    return user
</a:t>
            </a:r>
            <a:endParaRPr lang="en-US" sz="850" dirty="0"/>
          </a:p>
        </p:txBody>
      </p:sp>
      <p:sp>
        <p:nvSpPr>
          <p:cNvPr id="10" name="Text 8"/>
          <p:cNvSpPr/>
          <p:nvPr/>
        </p:nvSpPr>
        <p:spPr>
          <a:xfrm>
            <a:off x="3728442" y="5465326"/>
            <a:ext cx="3448288" cy="858322"/>
          </a:xfrm>
          <a:prstGeom prst="rect">
            <a:avLst/>
          </a:prstGeom>
          <a:noFill/>
          <a:ln/>
        </p:spPr>
        <p:txBody>
          <a:bodyPr wrap="square" lIns="0" tIns="0" rIns="0" bIns="0" rtlCol="0" anchor="t"/>
          <a:lstStyle/>
          <a:p>
            <a:pPr algn="l" indent="0" marL="0">
              <a:lnSpc>
                <a:spcPts val="1300"/>
              </a:lnSpc>
              <a:buNone/>
            </a:pPr>
            <a:r>
              <a:rPr lang="en-US" sz="850" b="1" dirty="0">
                <a:solidFill>
                  <a:srgbClr val="C3643D"/>
                </a:solidFill>
                <a:latin typeface="Roboto" pitchFamily="34" charset="0"/>
                <a:ea typeface="Roboto" pitchFamily="34" charset="-122"/>
                <a:cs typeface="Roboto" pitchFamily="34" charset="-120"/>
              </a:rPr>
              <a:t>Long-term Cost:</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This approach makes the function grow unwieldy and hard to test. Each new user type requires modifying this central function, increasing the risk of introducing bugs to existing logic and slowing down development. The duplicate </a:t>
            </a:r>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user['status'] = 'active'</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is also a subtle bug waiting to happen for admin users.</a:t>
            </a:r>
            <a:endParaRPr lang="en-US" sz="850" dirty="0"/>
          </a:p>
        </p:txBody>
      </p:sp>
      <p:sp>
        <p:nvSpPr>
          <p:cNvPr id="11" name="Text 9"/>
          <p:cNvSpPr/>
          <p:nvPr/>
        </p:nvSpPr>
        <p:spPr>
          <a:xfrm>
            <a:off x="7461052" y="1601629"/>
            <a:ext cx="3160514" cy="212646"/>
          </a:xfrm>
          <a:prstGeom prst="rect">
            <a:avLst/>
          </a:prstGeom>
          <a:noFill/>
          <a:ln/>
        </p:spPr>
        <p:txBody>
          <a:bodyPr wrap="none" lIns="0" tIns="0" rIns="0" bIns="0" rtlCol="0" anchor="t"/>
          <a:lstStyle/>
          <a:p>
            <a:pPr algn="l" indent="0" marL="0">
              <a:lnSpc>
                <a:spcPts val="1650"/>
              </a:lnSpc>
              <a:buNone/>
            </a:pPr>
            <a:r>
              <a:rPr lang="en-US" sz="1300" dirty="0">
                <a:solidFill>
                  <a:srgbClr val="2E3C4E"/>
                </a:solidFill>
                <a:latin typeface="Host Grotesk Medium" pitchFamily="34" charset="0"/>
                <a:ea typeface="Host Grotesk Medium" pitchFamily="34" charset="-122"/>
                <a:cs typeface="Host Grotesk Medium" pitchFamily="34" charset="-120"/>
              </a:rPr>
              <a:t>Clean Code Alternative: Strategy Pattern</a:t>
            </a:r>
            <a:endParaRPr lang="en-US" sz="1300" dirty="0"/>
          </a:p>
        </p:txBody>
      </p:sp>
      <p:sp>
        <p:nvSpPr>
          <p:cNvPr id="12" name="Text 10"/>
          <p:cNvSpPr/>
          <p:nvPr/>
        </p:nvSpPr>
        <p:spPr>
          <a:xfrm>
            <a:off x="7461052" y="1927622"/>
            <a:ext cx="3448288" cy="34028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Instead of one large function, each user type has its own dedicated processing logic, mapped to a dispatcher.</a:t>
            </a:r>
            <a:endParaRPr lang="en-US" sz="850" dirty="0"/>
          </a:p>
        </p:txBody>
      </p:sp>
      <p:sp>
        <p:nvSpPr>
          <p:cNvPr id="13" name="Shape 11"/>
          <p:cNvSpPr/>
          <p:nvPr/>
        </p:nvSpPr>
        <p:spPr>
          <a:xfrm>
            <a:off x="7461052" y="2395418"/>
            <a:ext cx="3448288" cy="5104090"/>
          </a:xfrm>
          <a:prstGeom prst="roundRect">
            <a:avLst>
              <a:gd name="adj" fmla="val 1381"/>
            </a:avLst>
          </a:prstGeom>
          <a:solidFill>
            <a:srgbClr val="EDECE8"/>
          </a:solidFill>
          <a:ln/>
        </p:spPr>
      </p:sp>
      <p:sp>
        <p:nvSpPr>
          <p:cNvPr id="14" name="Shape 12"/>
          <p:cNvSpPr/>
          <p:nvPr/>
        </p:nvSpPr>
        <p:spPr>
          <a:xfrm>
            <a:off x="7455456" y="2395418"/>
            <a:ext cx="3459480" cy="5104090"/>
          </a:xfrm>
          <a:prstGeom prst="roundRect">
            <a:avLst>
              <a:gd name="adj" fmla="val 492"/>
            </a:avLst>
          </a:prstGeom>
          <a:solidFill>
            <a:srgbClr val="EDECE8"/>
          </a:solidFill>
          <a:ln/>
        </p:spPr>
      </p:sp>
      <p:sp>
        <p:nvSpPr>
          <p:cNvPr id="15" name="Text 13"/>
          <p:cNvSpPr/>
          <p:nvPr/>
        </p:nvSpPr>
        <p:spPr>
          <a:xfrm>
            <a:off x="7568803" y="2480429"/>
            <a:ext cx="3232785" cy="4934069"/>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def _process_standard_user(user):
    user['status'] = 'active'
    user['points'] = user.get('points', 0) + 10
    return user
def _process_premium_user(user):
    user['status'] = 'active'
    user['loyalty_bonus'] = user.get('loyalty_bonus', 0) + 50
    return user
def _process_admin_user(user):
    user['status'] = 'admin_active'
    user['permissions'] = ['read', 'write', 'delete']
    return user
USER_PROCESSORS = {
    'standard': _process_standard_user,
    'premium': _process_premium_user,
    'admin': _process_admin_user,
}
def process_user_data_clean(user):
    processor = USER_PROCESSORS.get(user['type'])
    if processor:
        return processor(user)
    else:
        print(f"Warning: Unknown user type '{user['type']}'")
        return user
</a:t>
            </a:r>
            <a:endParaRPr lang="en-US" sz="850" dirty="0"/>
          </a:p>
        </p:txBody>
      </p:sp>
      <p:sp>
        <p:nvSpPr>
          <p:cNvPr id="16" name="Text 14"/>
          <p:cNvSpPr/>
          <p:nvPr/>
        </p:nvSpPr>
        <p:spPr>
          <a:xfrm>
            <a:off x="7461052" y="7627025"/>
            <a:ext cx="3448288" cy="688181"/>
          </a:xfrm>
          <a:prstGeom prst="rect">
            <a:avLst/>
          </a:prstGeom>
          <a:noFill/>
          <a:ln/>
        </p:spPr>
        <p:txBody>
          <a:bodyPr wrap="square" lIns="0" tIns="0" rIns="0" bIns="0" rtlCol="0" anchor="t"/>
          <a:lstStyle/>
          <a:p>
            <a:pPr algn="l" indent="0" marL="0">
              <a:lnSpc>
                <a:spcPts val="1300"/>
              </a:lnSpc>
              <a:buNone/>
            </a:pPr>
            <a:r>
              <a:rPr lang="en-US" sz="850" b="1" dirty="0">
                <a:solidFill>
                  <a:srgbClr val="95CCDA"/>
                </a:solidFill>
                <a:latin typeface="Roboto" pitchFamily="34" charset="0"/>
                <a:ea typeface="Roboto" pitchFamily="34" charset="-122"/>
                <a:cs typeface="Roboto" pitchFamily="34" charset="-120"/>
              </a:rPr>
              <a:t>Benefit:</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Adding a new user type now only requires creating a new small function and adding it to the </a:t>
            </a:r>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USER_PROCESSORS</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dictionary. This adheres to the Open/Closed Principle, reducing the chance of regressions, making the code easier to understand, test, and extend.</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720108" y="653772"/>
            <a:ext cx="5192197" cy="355163"/>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Coding Styles: Necessary, Not Sufficient</a:t>
            </a:r>
            <a:endParaRPr lang="en-US" sz="2200" dirty="0"/>
          </a:p>
        </p:txBody>
      </p:sp>
      <p:sp>
        <p:nvSpPr>
          <p:cNvPr id="3" name="Text 1"/>
          <p:cNvSpPr/>
          <p:nvPr/>
        </p:nvSpPr>
        <p:spPr>
          <a:xfrm>
            <a:off x="3720108" y="1236226"/>
            <a:ext cx="7190065" cy="170497"/>
          </a:xfrm>
          <a:prstGeom prst="rect">
            <a:avLst/>
          </a:prstGeom>
          <a:noFill/>
          <a:ln/>
        </p:spPr>
        <p:txBody>
          <a:bodyPr wrap="non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Is adherence to coding styles (like PEP 8) sufficient for clean code?</a:t>
            </a:r>
            <a:endParaRPr lang="en-US" sz="850" dirty="0"/>
          </a:p>
        </p:txBody>
      </p:sp>
      <p:sp>
        <p:nvSpPr>
          <p:cNvPr id="4" name="Text 2"/>
          <p:cNvSpPr/>
          <p:nvPr/>
        </p:nvSpPr>
        <p:spPr>
          <a:xfrm>
            <a:off x="3720108" y="1534597"/>
            <a:ext cx="7190065" cy="170497"/>
          </a:xfrm>
          <a:prstGeom prst="rect">
            <a:avLst/>
          </a:prstGeom>
          <a:noFill/>
          <a:ln/>
        </p:spPr>
        <p:txBody>
          <a:bodyPr wrap="non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No. It is a </a:t>
            </a:r>
            <a:pPr algn="l" indent="0" marL="0">
              <a:lnSpc>
                <a:spcPts val="1300"/>
              </a:lnSpc>
              <a:buNone/>
            </a:pPr>
            <a:r>
              <a:rPr lang="en-US" sz="850" dirty="0">
                <a:solidFill>
                  <a:srgbClr val="95CCDA"/>
                </a:solidFill>
                <a:latin typeface="Roboto" pitchFamily="34" charset="0"/>
                <a:ea typeface="Roboto" pitchFamily="34" charset="-122"/>
                <a:cs typeface="Roboto" pitchFamily="34" charset="-120"/>
              </a:rPr>
              <a:t>necessary condition</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(a minimal requirement) but not sufficient. Correctness and clear representation of ideas are also required.</a:t>
            </a:r>
            <a:endParaRPr lang="en-US" sz="850" dirty="0"/>
          </a:p>
        </p:txBody>
      </p:sp>
      <p:sp>
        <p:nvSpPr>
          <p:cNvPr id="5" name="Text 3"/>
          <p:cNvSpPr/>
          <p:nvPr/>
        </p:nvSpPr>
        <p:spPr>
          <a:xfrm>
            <a:off x="3720108" y="1946553"/>
            <a:ext cx="2287548" cy="213122"/>
          </a:xfrm>
          <a:prstGeom prst="rect">
            <a:avLst/>
          </a:prstGeom>
          <a:noFill/>
          <a:ln/>
        </p:spPr>
        <p:txBody>
          <a:bodyPr wrap="none" lIns="0" tIns="0" rIns="0" bIns="0" rtlCol="0" anchor="t"/>
          <a:lstStyle/>
          <a:p>
            <a:pPr algn="l" indent="0" marL="0">
              <a:lnSpc>
                <a:spcPts val="1650"/>
              </a:lnSpc>
              <a:buNone/>
            </a:pPr>
            <a:r>
              <a:rPr lang="en-US" sz="1300" dirty="0">
                <a:solidFill>
                  <a:srgbClr val="2E3C4E"/>
                </a:solidFill>
                <a:latin typeface="Host Grotesk Medium" pitchFamily="34" charset="0"/>
                <a:ea typeface="Host Grotesk Medium" pitchFamily="34" charset="-122"/>
                <a:cs typeface="Host Grotesk Medium" pitchFamily="34" charset="-120"/>
              </a:rPr>
              <a:t>PEP 8 Compliant, but Unclear</a:t>
            </a:r>
            <a:endParaRPr lang="en-US" sz="1300" dirty="0"/>
          </a:p>
        </p:txBody>
      </p:sp>
      <p:sp>
        <p:nvSpPr>
          <p:cNvPr id="6" name="Text 4"/>
          <p:cNvSpPr/>
          <p:nvPr/>
        </p:nvSpPr>
        <p:spPr>
          <a:xfrm>
            <a:off x="3720108" y="2273260"/>
            <a:ext cx="3456384" cy="511493"/>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This code follows PEP 8 for naming and spacing, but its logic is nested and hard to follow, making it prone to errors and difficult to maintain.</a:t>
            </a:r>
            <a:endParaRPr lang="en-US" sz="850" dirty="0"/>
          </a:p>
        </p:txBody>
      </p:sp>
      <p:sp>
        <p:nvSpPr>
          <p:cNvPr id="7" name="Shape 5"/>
          <p:cNvSpPr/>
          <p:nvPr/>
        </p:nvSpPr>
        <p:spPr>
          <a:xfrm>
            <a:off x="3720108" y="2912626"/>
            <a:ext cx="3456384" cy="2216468"/>
          </a:xfrm>
          <a:prstGeom prst="roundRect">
            <a:avLst>
              <a:gd name="adj" fmla="val 2154"/>
            </a:avLst>
          </a:prstGeom>
          <a:solidFill>
            <a:srgbClr val="EDECE8"/>
          </a:solidFill>
          <a:ln/>
        </p:spPr>
      </p:sp>
      <p:sp>
        <p:nvSpPr>
          <p:cNvPr id="8" name="Shape 6"/>
          <p:cNvSpPr/>
          <p:nvPr/>
        </p:nvSpPr>
        <p:spPr>
          <a:xfrm>
            <a:off x="3714512" y="2912626"/>
            <a:ext cx="3467576" cy="2216468"/>
          </a:xfrm>
          <a:prstGeom prst="roundRect">
            <a:avLst>
              <a:gd name="adj" fmla="val 769"/>
            </a:avLst>
          </a:prstGeom>
          <a:solidFill>
            <a:srgbClr val="EDECE8"/>
          </a:solidFill>
          <a:ln/>
        </p:spPr>
      </p:sp>
      <p:sp>
        <p:nvSpPr>
          <p:cNvPr id="9" name="Text 7"/>
          <p:cNvSpPr/>
          <p:nvPr/>
        </p:nvSpPr>
        <p:spPr>
          <a:xfrm>
            <a:off x="3828098" y="2997875"/>
            <a:ext cx="3240405" cy="2045970"/>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def process_user_transactions(transactions, min_amount=50):
    """
    Filters transactions and computes total value for valid ones.
    PEP 8 compliant, but complex logic.
    """
    return sum([t.get("amount", 0) for t in transactions
                if t.get("status") == "approved" and
                   t.get("user_id") is not None and
                   t.get("amount", 0) &gt; min_amount])
</a:t>
            </a:r>
            <a:endParaRPr lang="en-US" sz="850" dirty="0"/>
          </a:p>
        </p:txBody>
      </p:sp>
      <p:sp>
        <p:nvSpPr>
          <p:cNvPr id="10" name="Text 8"/>
          <p:cNvSpPr/>
          <p:nvPr/>
        </p:nvSpPr>
        <p:spPr>
          <a:xfrm>
            <a:off x="3720108" y="5256967"/>
            <a:ext cx="3456384" cy="681990"/>
          </a:xfrm>
          <a:prstGeom prst="rect">
            <a:avLst/>
          </a:prstGeom>
          <a:noFill/>
          <a:ln/>
        </p:spPr>
        <p:txBody>
          <a:bodyPr wrap="square" lIns="0" tIns="0" rIns="0" bIns="0" rtlCol="0" anchor="t"/>
          <a:lstStyle/>
          <a:p>
            <a:pPr algn="l" indent="0" marL="0">
              <a:lnSpc>
                <a:spcPts val="1300"/>
              </a:lnSpc>
              <a:buNone/>
            </a:pPr>
            <a:r>
              <a:rPr lang="en-US" sz="850" b="1" dirty="0">
                <a:solidFill>
                  <a:srgbClr val="C3643D"/>
                </a:solidFill>
                <a:latin typeface="Roboto" pitchFamily="34" charset="0"/>
                <a:ea typeface="Roboto" pitchFamily="34" charset="-122"/>
                <a:cs typeface="Roboto" pitchFamily="34" charset="-120"/>
              </a:rPr>
              <a:t>Problem:</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While syntactically correct and PEP 8 compliant, the single-line comprehension makes the filtering conditions difficult to read and understand at a glance. It's also hard to debug or modify individual conditions without breaking the line.</a:t>
            </a:r>
            <a:endParaRPr lang="en-US" sz="850" dirty="0"/>
          </a:p>
        </p:txBody>
      </p:sp>
      <p:sp>
        <p:nvSpPr>
          <p:cNvPr id="11" name="Text 9"/>
          <p:cNvSpPr/>
          <p:nvPr/>
        </p:nvSpPr>
        <p:spPr>
          <a:xfrm>
            <a:off x="7461290" y="1946553"/>
            <a:ext cx="2196346" cy="213122"/>
          </a:xfrm>
          <a:prstGeom prst="rect">
            <a:avLst/>
          </a:prstGeom>
          <a:noFill/>
          <a:ln/>
        </p:spPr>
        <p:txBody>
          <a:bodyPr wrap="none" lIns="0" tIns="0" rIns="0" bIns="0" rtlCol="0" anchor="t"/>
          <a:lstStyle/>
          <a:p>
            <a:pPr algn="l" indent="0" marL="0">
              <a:lnSpc>
                <a:spcPts val="1650"/>
              </a:lnSpc>
              <a:buNone/>
            </a:pPr>
            <a:r>
              <a:rPr lang="en-US" sz="1300" dirty="0">
                <a:solidFill>
                  <a:srgbClr val="2E3C4E"/>
                </a:solidFill>
                <a:latin typeface="Host Grotesk Medium" pitchFamily="34" charset="0"/>
                <a:ea typeface="Host Grotesk Medium" pitchFamily="34" charset="-122"/>
                <a:cs typeface="Host Grotesk Medium" pitchFamily="34" charset="-120"/>
              </a:rPr>
              <a:t>PEP 8 Compliant AND Clean</a:t>
            </a:r>
            <a:endParaRPr lang="en-US" sz="1300" dirty="0"/>
          </a:p>
        </p:txBody>
      </p:sp>
      <p:sp>
        <p:nvSpPr>
          <p:cNvPr id="12" name="Text 10"/>
          <p:cNvSpPr/>
          <p:nvPr/>
        </p:nvSpPr>
        <p:spPr>
          <a:xfrm>
            <a:off x="7461290" y="2273260"/>
            <a:ext cx="3456384" cy="511493"/>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This version also adheres to PEP 8, but prioritizes clarity by breaking down complex operations into more readable steps, making the intent obvious.</a:t>
            </a:r>
            <a:endParaRPr lang="en-US" sz="850" dirty="0"/>
          </a:p>
        </p:txBody>
      </p:sp>
      <p:sp>
        <p:nvSpPr>
          <p:cNvPr id="13" name="Shape 11"/>
          <p:cNvSpPr/>
          <p:nvPr/>
        </p:nvSpPr>
        <p:spPr>
          <a:xfrm>
            <a:off x="7461290" y="2912626"/>
            <a:ext cx="3456384" cy="3750945"/>
          </a:xfrm>
          <a:prstGeom prst="roundRect">
            <a:avLst>
              <a:gd name="adj" fmla="val 1381"/>
            </a:avLst>
          </a:prstGeom>
          <a:solidFill>
            <a:srgbClr val="EDECE8"/>
          </a:solidFill>
          <a:ln/>
        </p:spPr>
      </p:sp>
      <p:sp>
        <p:nvSpPr>
          <p:cNvPr id="14" name="Shape 12"/>
          <p:cNvSpPr/>
          <p:nvPr/>
        </p:nvSpPr>
        <p:spPr>
          <a:xfrm>
            <a:off x="7455694" y="2912626"/>
            <a:ext cx="3467576" cy="3750945"/>
          </a:xfrm>
          <a:prstGeom prst="roundRect">
            <a:avLst>
              <a:gd name="adj" fmla="val 492"/>
            </a:avLst>
          </a:prstGeom>
          <a:solidFill>
            <a:srgbClr val="EDECE8"/>
          </a:solidFill>
          <a:ln/>
        </p:spPr>
      </p:sp>
      <p:sp>
        <p:nvSpPr>
          <p:cNvPr id="15" name="Text 13"/>
          <p:cNvSpPr/>
          <p:nvPr/>
        </p:nvSpPr>
        <p:spPr>
          <a:xfrm>
            <a:off x="7569279" y="2997875"/>
            <a:ext cx="3240405" cy="3580448"/>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def process_user_transactions_clean(transactions, min_amount=50):
    """
    Filters transactions and computes total value for valid ones.
    PEP 8 compliant and clear logic.
    """
    approved_transactions = []
    for transaction in transactions:
        status_ok = transaction.get("status") == "approved"
        user_id_exists = transaction.get("user_id") is not None
        amount_exceeds_min = transaction.get("amount", 0) &gt; min_amount
        if status_ok and user_id_exists and amount_exceeds_min:
            approved_transactions.append(transaction.get("amount", 0))
    return sum(approved_transactions)
</a:t>
            </a:r>
            <a:endParaRPr lang="en-US" sz="850" dirty="0"/>
          </a:p>
        </p:txBody>
      </p:sp>
      <p:sp>
        <p:nvSpPr>
          <p:cNvPr id="16" name="Text 14"/>
          <p:cNvSpPr/>
          <p:nvPr/>
        </p:nvSpPr>
        <p:spPr>
          <a:xfrm>
            <a:off x="7461290" y="6791444"/>
            <a:ext cx="3456384" cy="681990"/>
          </a:xfrm>
          <a:prstGeom prst="rect">
            <a:avLst/>
          </a:prstGeom>
          <a:noFill/>
          <a:ln/>
        </p:spPr>
        <p:txBody>
          <a:bodyPr wrap="square" lIns="0" tIns="0" rIns="0" bIns="0" rtlCol="0" anchor="t"/>
          <a:lstStyle/>
          <a:p>
            <a:pPr algn="l" indent="0" marL="0">
              <a:lnSpc>
                <a:spcPts val="1300"/>
              </a:lnSpc>
              <a:buNone/>
            </a:pPr>
            <a:r>
              <a:rPr lang="en-US" sz="850" b="1" dirty="0">
                <a:solidFill>
                  <a:srgbClr val="95CCDA"/>
                </a:solidFill>
                <a:latin typeface="Roboto" pitchFamily="34" charset="0"/>
                <a:ea typeface="Roboto" pitchFamily="34" charset="-122"/>
                <a:cs typeface="Roboto" pitchFamily="34" charset="-120"/>
              </a:rPr>
              <a:t>Benefit:</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The code is still PEP 8 compliant, but now each filtering condition is explicitly named, making the logic much clearer. It's easier to verify correctness, debug, and extend without introducing new errors.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237536"/>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The Role of Mypy</a:t>
            </a:r>
            <a:endParaRPr lang="en-US" sz="4450" dirty="0"/>
          </a:p>
        </p:txBody>
      </p:sp>
      <p:sp>
        <p:nvSpPr>
          <p:cNvPr id="3" name="Text 1"/>
          <p:cNvSpPr/>
          <p:nvPr/>
        </p:nvSpPr>
        <p:spPr>
          <a:xfrm>
            <a:off x="793790" y="2399943"/>
            <a:ext cx="13042821" cy="340162"/>
          </a:xfrm>
          <a:prstGeom prst="rect">
            <a:avLst/>
          </a:prstGeom>
          <a:noFill/>
          <a:ln/>
        </p:spPr>
        <p:txBody>
          <a:bodyPr wrap="non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What is the function of mypy in a Python project?</a:t>
            </a:r>
            <a:endParaRPr lang="en-US" sz="1750" dirty="0"/>
          </a:p>
        </p:txBody>
      </p:sp>
      <p:sp>
        <p:nvSpPr>
          <p:cNvPr id="4" name="Text 2"/>
          <p:cNvSpPr/>
          <p:nvPr/>
        </p:nvSpPr>
        <p:spPr>
          <a:xfrm>
            <a:off x="793790" y="2995255"/>
            <a:ext cx="13042821"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Mypy is a tool for </a:t>
            </a:r>
            <a:pPr algn="l" indent="0" marL="0">
              <a:lnSpc>
                <a:spcPts val="2650"/>
              </a:lnSpc>
              <a:buNone/>
            </a:pPr>
            <a:r>
              <a:rPr lang="en-US" sz="1750" dirty="0">
                <a:solidFill>
                  <a:srgbClr val="64B8CE"/>
                </a:solidFill>
                <a:latin typeface="Roboto" pitchFamily="34" charset="0"/>
                <a:ea typeface="Roboto" pitchFamily="34" charset="-122"/>
                <a:cs typeface="Roboto" pitchFamily="34" charset="-120"/>
              </a:rPr>
              <a:t>static type checking</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It analyzes type hints to catch potential bugs and type mismatches before the code is executed.</a:t>
            </a:r>
            <a:endParaRPr lang="en-US" sz="1750" dirty="0"/>
          </a:p>
        </p:txBody>
      </p:sp>
      <p:sp>
        <p:nvSpPr>
          <p:cNvPr id="5" name="Shape 3"/>
          <p:cNvSpPr/>
          <p:nvPr/>
        </p:nvSpPr>
        <p:spPr>
          <a:xfrm>
            <a:off x="793790" y="3930729"/>
            <a:ext cx="13042821" cy="3061335"/>
          </a:xfrm>
          <a:prstGeom prst="roundRect">
            <a:avLst>
              <a:gd name="adj" fmla="val 3112"/>
            </a:avLst>
          </a:prstGeom>
          <a:solidFill>
            <a:srgbClr val="EDECE8"/>
          </a:solidFill>
          <a:ln/>
        </p:spPr>
      </p:sp>
      <p:sp>
        <p:nvSpPr>
          <p:cNvPr id="6" name="Shape 4"/>
          <p:cNvSpPr/>
          <p:nvPr/>
        </p:nvSpPr>
        <p:spPr>
          <a:xfrm>
            <a:off x="782479" y="3930729"/>
            <a:ext cx="13065443" cy="3061335"/>
          </a:xfrm>
          <a:prstGeom prst="roundRect">
            <a:avLst>
              <a:gd name="adj" fmla="val 1111"/>
            </a:avLst>
          </a:prstGeom>
          <a:solidFill>
            <a:srgbClr val="EDECE8"/>
          </a:solidFill>
          <a:ln/>
        </p:spPr>
      </p:sp>
      <p:sp>
        <p:nvSpPr>
          <p:cNvPr id="7" name="Text 5"/>
          <p:cNvSpPr/>
          <p:nvPr/>
        </p:nvSpPr>
        <p:spPr>
          <a:xfrm>
            <a:off x="1009293" y="4100751"/>
            <a:ext cx="12611814" cy="272129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def greet(name: str) -&gt; str:</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    return f"Hello, {name}!"</a:t>
            </a:r>
            <a:endParaRPr lang="en-US" sz="1750" dirty="0"/>
          </a:p>
          <a:p>
            <a:pPr algn="l" indent="0" marL="0">
              <a:lnSpc>
                <a:spcPts val="2650"/>
              </a:lnSpc>
              <a:buNone/>
            </a:pP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 Correct usage</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print(greet("Alice"))</a:t>
            </a:r>
            <a:endParaRPr lang="en-US" sz="1750" dirty="0"/>
          </a:p>
          <a:p>
            <a:pPr algn="l" indent="0" marL="0">
              <a:lnSpc>
                <a:spcPts val="2650"/>
              </a:lnSpc>
              <a:buNone/>
            </a:pP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 Incorrect usage: passing an integer instead of a string</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print(greet(123))  # Mypy error: Argument "name" to "greet" has incompatible type "int"; expected "str"</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67395"/>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Pylint: Beyond Style</a:t>
            </a:r>
            <a:endParaRPr lang="en-US" sz="4450" dirty="0"/>
          </a:p>
        </p:txBody>
      </p:sp>
      <p:sp>
        <p:nvSpPr>
          <p:cNvPr id="3" name="Text 1"/>
          <p:cNvSpPr/>
          <p:nvPr/>
        </p:nvSpPr>
        <p:spPr>
          <a:xfrm>
            <a:off x="793790" y="2229803"/>
            <a:ext cx="13042821" cy="340162"/>
          </a:xfrm>
          <a:prstGeom prst="rect">
            <a:avLst/>
          </a:prstGeom>
          <a:noFill/>
          <a:ln/>
        </p:spPr>
        <p:txBody>
          <a:bodyPr wrap="non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What does pylint check for besides style violations?</a:t>
            </a:r>
            <a:endParaRPr lang="en-US" sz="1750" dirty="0"/>
          </a:p>
        </p:txBody>
      </p:sp>
      <p:sp>
        <p:nvSpPr>
          <p:cNvPr id="4" name="Text 2"/>
          <p:cNvSpPr/>
          <p:nvPr/>
        </p:nvSpPr>
        <p:spPr>
          <a:xfrm>
            <a:off x="793790" y="2825115"/>
            <a:ext cx="13042821"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It searches for programming errors, identifies "code smells," and enforces coding standards. </a:t>
            </a:r>
            <a:pPr algn="l" indent="0" marL="0">
              <a:lnSpc>
                <a:spcPts val="2650"/>
              </a:lnSpc>
              <a:buNone/>
            </a:pPr>
            <a:r>
              <a:rPr lang="en-US" sz="1750" dirty="0">
                <a:solidFill>
                  <a:srgbClr val="E9CFC9"/>
                </a:solidFill>
                <a:latin typeface="Roboto" pitchFamily="34" charset="0"/>
                <a:ea typeface="Roboto" pitchFamily="34" charset="-122"/>
                <a:cs typeface="Roboto" pitchFamily="34" charset="-120"/>
              </a:rPr>
              <a:t>It helps detect unused variables and overly complex functions.</a:t>
            </a:r>
            <a:endParaRPr lang="en-US" sz="1750" dirty="0"/>
          </a:p>
        </p:txBody>
      </p:sp>
      <p:sp>
        <p:nvSpPr>
          <p:cNvPr id="5" name="Shape 3"/>
          <p:cNvSpPr/>
          <p:nvPr/>
        </p:nvSpPr>
        <p:spPr>
          <a:xfrm>
            <a:off x="793790" y="3760589"/>
            <a:ext cx="13042821" cy="3401497"/>
          </a:xfrm>
          <a:prstGeom prst="roundRect">
            <a:avLst>
              <a:gd name="adj" fmla="val 2801"/>
            </a:avLst>
          </a:prstGeom>
          <a:solidFill>
            <a:srgbClr val="EDECE8"/>
          </a:solidFill>
          <a:ln/>
        </p:spPr>
      </p:sp>
      <p:sp>
        <p:nvSpPr>
          <p:cNvPr id="6" name="Shape 4"/>
          <p:cNvSpPr/>
          <p:nvPr/>
        </p:nvSpPr>
        <p:spPr>
          <a:xfrm>
            <a:off x="782479" y="3760589"/>
            <a:ext cx="13065443" cy="3401497"/>
          </a:xfrm>
          <a:prstGeom prst="roundRect">
            <a:avLst>
              <a:gd name="adj" fmla="val 1000"/>
            </a:avLst>
          </a:prstGeom>
          <a:solidFill>
            <a:srgbClr val="EDECE8"/>
          </a:solidFill>
          <a:ln/>
        </p:spPr>
      </p:sp>
      <p:sp>
        <p:nvSpPr>
          <p:cNvPr id="7" name="Text 5"/>
          <p:cNvSpPr/>
          <p:nvPr/>
        </p:nvSpPr>
        <p:spPr>
          <a:xfrm>
            <a:off x="1009293" y="3930610"/>
            <a:ext cx="12611814" cy="3061454"/>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def calculate_something(value1, value2):</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    result = value1 + value2</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    # 'intermediate_step' is assigned but never used,</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    # Pylint will flag this as an unused variable.</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    intermediate_step = result * 5</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    return result</a:t>
            </a:r>
            <a:endParaRPr lang="en-US" sz="1750" dirty="0"/>
          </a:p>
          <a:p>
            <a:pPr algn="l" indent="0" marL="0">
              <a:lnSpc>
                <a:spcPts val="2650"/>
              </a:lnSpc>
              <a:buNone/>
            </a:pP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 Pylint warning for the above code:</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 W: 4,4: Unused variable 'intermediate_step' (unused-variable)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673662" y="493157"/>
            <a:ext cx="7825859" cy="557451"/>
          </a:xfrm>
          <a:prstGeom prst="rect">
            <a:avLst/>
          </a:prstGeom>
          <a:noFill/>
          <a:ln/>
        </p:spPr>
        <p:txBody>
          <a:bodyPr wrap="none" lIns="0" tIns="0" rIns="0" bIns="0" rtlCol="0" anchor="t"/>
          <a:lstStyle/>
          <a:p>
            <a:pPr algn="l" indent="0" marL="0">
              <a:lnSpc>
                <a:spcPts val="4350"/>
              </a:lnSpc>
              <a:buNone/>
            </a:pPr>
            <a:r>
              <a:rPr lang="en-US" sz="3500" dirty="0">
                <a:solidFill>
                  <a:srgbClr val="2E3C4E"/>
                </a:solidFill>
                <a:latin typeface="Host Grotesk Medium" pitchFamily="34" charset="0"/>
                <a:ea typeface="Host Grotesk Medium" pitchFamily="34" charset="-122"/>
                <a:cs typeface="Host Grotesk Medium" pitchFamily="34" charset="-120"/>
              </a:rPr>
              <a:t>Black: The Uncompromising Formatter</a:t>
            </a:r>
            <a:endParaRPr lang="en-US" sz="3500" dirty="0"/>
          </a:p>
        </p:txBody>
      </p:sp>
      <p:sp>
        <p:nvSpPr>
          <p:cNvPr id="3" name="Text 1"/>
          <p:cNvSpPr/>
          <p:nvPr/>
        </p:nvSpPr>
        <p:spPr>
          <a:xfrm>
            <a:off x="1673662" y="1407319"/>
            <a:ext cx="11282958" cy="267533"/>
          </a:xfrm>
          <a:prstGeom prst="rect">
            <a:avLst/>
          </a:prstGeom>
          <a:noFill/>
          <a:ln/>
        </p:spPr>
        <p:txBody>
          <a:bodyPr wrap="none" lIns="0" tIns="0" rIns="0" bIns="0" rtlCol="0" anchor="t"/>
          <a:lstStyle/>
          <a:p>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Why is Black referred to as the "uncompromising" formatter?</a:t>
            </a:r>
            <a:endParaRPr lang="en-US" sz="1400" dirty="0"/>
          </a:p>
        </p:txBody>
      </p:sp>
      <p:sp>
        <p:nvSpPr>
          <p:cNvPr id="4" name="Text 2"/>
          <p:cNvSpPr/>
          <p:nvPr/>
        </p:nvSpPr>
        <p:spPr>
          <a:xfrm>
            <a:off x="1673662" y="1875473"/>
            <a:ext cx="11282958" cy="535067"/>
          </a:xfrm>
          <a:prstGeom prst="rect">
            <a:avLst/>
          </a:prstGeom>
          <a:noFill/>
          <a:ln/>
        </p:spPr>
        <p:txBody>
          <a:bodyPr wrap="square" lIns="0" tIns="0" rIns="0" bIns="0" rtlCol="0" anchor="t"/>
          <a:lstStyle/>
          <a:p>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It automatically reformats code to a single, consistent style, </a:t>
            </a:r>
            <a:pPr algn="l" indent="0" marL="0">
              <a:lnSpc>
                <a:spcPts val="2100"/>
              </a:lnSpc>
              <a:buNone/>
            </a:pPr>
            <a:r>
              <a:rPr lang="en-US" sz="1400" dirty="0">
                <a:solidFill>
                  <a:srgbClr val="C7E0E7"/>
                </a:solidFill>
                <a:latin typeface="Roboto" pitchFamily="34" charset="0"/>
                <a:ea typeface="Roboto" pitchFamily="34" charset="-122"/>
                <a:cs typeface="Roboto" pitchFamily="34" charset="-120"/>
              </a:rPr>
              <a:t>removing all human decision-making and debate over formatting choices</a:t>
            </a:r>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 during code reviews.</a:t>
            </a:r>
            <a:endParaRPr lang="en-US" sz="1400" dirty="0"/>
          </a:p>
        </p:txBody>
      </p:sp>
      <p:sp>
        <p:nvSpPr>
          <p:cNvPr id="5" name="Text 3"/>
          <p:cNvSpPr/>
          <p:nvPr/>
        </p:nvSpPr>
        <p:spPr>
          <a:xfrm>
            <a:off x="1673662" y="2611160"/>
            <a:ext cx="11282958" cy="267533"/>
          </a:xfrm>
          <a:prstGeom prst="rect">
            <a:avLst/>
          </a:prstGeom>
          <a:noFill/>
          <a:ln/>
        </p:spPr>
        <p:txBody>
          <a:bodyPr wrap="none" lIns="0" tIns="0" rIns="0" bIns="0" rtlCol="0" anchor="t"/>
          <a:lstStyle/>
          <a:p>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Here's an example of Black's transformation:</a:t>
            </a:r>
            <a:endParaRPr lang="en-US" sz="1400" dirty="0"/>
          </a:p>
        </p:txBody>
      </p:sp>
      <p:sp>
        <p:nvSpPr>
          <p:cNvPr id="6" name="Text 4"/>
          <p:cNvSpPr/>
          <p:nvPr/>
        </p:nvSpPr>
        <p:spPr>
          <a:xfrm>
            <a:off x="1673662" y="3257669"/>
            <a:ext cx="2272189" cy="278725"/>
          </a:xfrm>
          <a:prstGeom prst="rect">
            <a:avLst/>
          </a:prstGeom>
          <a:noFill/>
          <a:ln/>
        </p:spPr>
        <p:txBody>
          <a:bodyPr wrap="none" lIns="0" tIns="0" rIns="0" bIns="0" rtlCol="0" anchor="t"/>
          <a:lstStyle/>
          <a:p>
            <a:pPr algn="l" indent="0" marL="0">
              <a:lnSpc>
                <a:spcPts val="2150"/>
              </a:lnSpc>
              <a:buNone/>
            </a:pPr>
            <a:r>
              <a:rPr lang="en-US" sz="1750" dirty="0">
                <a:solidFill>
                  <a:srgbClr val="2E3C4E"/>
                </a:solidFill>
                <a:latin typeface="Host Grotesk Medium" pitchFamily="34" charset="0"/>
                <a:ea typeface="Host Grotesk Medium" pitchFamily="34" charset="-122"/>
                <a:cs typeface="Host Grotesk Medium" pitchFamily="34" charset="-120"/>
              </a:rPr>
              <a:t>Original (Messy) Code</a:t>
            </a:r>
            <a:endParaRPr lang="en-US" sz="1750" dirty="0"/>
          </a:p>
        </p:txBody>
      </p:sp>
      <p:sp>
        <p:nvSpPr>
          <p:cNvPr id="7" name="Shape 5"/>
          <p:cNvSpPr/>
          <p:nvPr/>
        </p:nvSpPr>
        <p:spPr>
          <a:xfrm>
            <a:off x="1673662" y="3737015"/>
            <a:ext cx="5423892" cy="1605082"/>
          </a:xfrm>
          <a:prstGeom prst="roundRect">
            <a:avLst>
              <a:gd name="adj" fmla="val 4668"/>
            </a:avLst>
          </a:prstGeom>
          <a:solidFill>
            <a:srgbClr val="EDECE8"/>
          </a:solidFill>
          <a:ln/>
        </p:spPr>
      </p:sp>
      <p:sp>
        <p:nvSpPr>
          <p:cNvPr id="8" name="Shape 6"/>
          <p:cNvSpPr/>
          <p:nvPr/>
        </p:nvSpPr>
        <p:spPr>
          <a:xfrm>
            <a:off x="1664851" y="3737015"/>
            <a:ext cx="5441513" cy="1605082"/>
          </a:xfrm>
          <a:prstGeom prst="roundRect">
            <a:avLst>
              <a:gd name="adj" fmla="val 1667"/>
            </a:avLst>
          </a:prstGeom>
          <a:solidFill>
            <a:srgbClr val="EDECE8"/>
          </a:solidFill>
          <a:ln/>
        </p:spPr>
      </p:sp>
      <p:sp>
        <p:nvSpPr>
          <p:cNvPr id="9" name="Text 7"/>
          <p:cNvSpPr/>
          <p:nvPr/>
        </p:nvSpPr>
        <p:spPr>
          <a:xfrm>
            <a:off x="1843207" y="3870722"/>
            <a:ext cx="5084802" cy="1337667"/>
          </a:xfrm>
          <a:prstGeom prst="rect">
            <a:avLst/>
          </a:prstGeom>
          <a:noFill/>
          <a:ln/>
        </p:spPr>
        <p:txBody>
          <a:bodyPr wrap="square" lIns="0" tIns="0" rIns="0" bIns="0" rtlCol="0" anchor="t"/>
          <a:lstStyle/>
          <a:p>
            <a:pPr algn="l" indent="0" marL="0">
              <a:lnSpc>
                <a:spcPts val="2100"/>
              </a:lnSpc>
              <a:buNone/>
            </a:pPr>
            <a:r>
              <a:rPr lang="en-US" sz="1400" dirty="0">
                <a:solidFill>
                  <a:srgbClr val="384653"/>
                </a:solidFill>
                <a:highlight>
                  <a:srgbClr val="EDECE8"/>
                </a:highlight>
                <a:latin typeface="Consolas" pitchFamily="34" charset="0"/>
                <a:ea typeface="Consolas" pitchFamily="34" charset="-122"/>
                <a:cs typeface="Consolas" pitchFamily="34" charset="-120"/>
              </a:rPr>
              <a:t>def   some_function ( argument_one,argument_two, argument_three='default value' ):</a:t>
            </a:r>
            <a:endParaRPr lang="en-US" sz="1400" dirty="0"/>
          </a:p>
          <a:p>
            <a:pPr algn="l" indent="0" marL="0">
              <a:lnSpc>
                <a:spcPts val="2100"/>
              </a:lnSpc>
              <a:buNone/>
            </a:pPr>
            <a:r>
              <a:rPr lang="en-US" sz="1400" dirty="0">
                <a:solidFill>
                  <a:srgbClr val="384653"/>
                </a:solidFill>
                <a:highlight>
                  <a:srgbClr val="EDECE8"/>
                </a:highlight>
                <a:latin typeface="Consolas" pitchFamily="34" charset="0"/>
                <a:ea typeface="Consolas" pitchFamily="34" charset="-122"/>
                <a:cs typeface="Consolas" pitchFamily="34" charset="-120"/>
              </a:rPr>
              <a:t>    if argument_one == True: print('Hello')</a:t>
            </a:r>
            <a:endParaRPr lang="en-US" sz="1400" dirty="0"/>
          </a:p>
          <a:p>
            <a:pPr algn="l" indent="0" marL="0">
              <a:lnSpc>
                <a:spcPts val="2100"/>
              </a:lnSpc>
              <a:buNone/>
            </a:pPr>
            <a:r>
              <a:rPr lang="en-US" sz="1400" dirty="0">
                <a:solidFill>
                  <a:srgbClr val="384653"/>
                </a:solidFill>
                <a:highlight>
                  <a:srgbClr val="EDECE8"/>
                </a:highlight>
                <a:latin typeface="Consolas" pitchFamily="34" charset="0"/>
                <a:ea typeface="Consolas" pitchFamily="34" charset="-122"/>
                <a:cs typeface="Consolas" pitchFamily="34" charset="-120"/>
              </a:rPr>
              <a:t>    else:</a:t>
            </a:r>
            <a:endParaRPr lang="en-US" sz="1400" dirty="0"/>
          </a:p>
          <a:p>
            <a:pPr algn="l" indent="0" marL="0">
              <a:lnSpc>
                <a:spcPts val="2100"/>
              </a:lnSpc>
              <a:buNone/>
            </a:pPr>
            <a:r>
              <a:rPr lang="en-US" sz="1400" dirty="0">
                <a:solidFill>
                  <a:srgbClr val="384653"/>
                </a:solidFill>
                <a:highlight>
                  <a:srgbClr val="EDECE8"/>
                </a:highlight>
                <a:latin typeface="Consolas" pitchFamily="34" charset="0"/>
                <a:ea typeface="Consolas" pitchFamily="34" charset="-122"/>
                <a:cs typeface="Consolas" pitchFamily="34" charset="-120"/>
              </a:rPr>
              <a:t>        return {'key_one':'value_one', 'key_two': 123}</a:t>
            </a:r>
            <a:endParaRPr lang="en-US" sz="1400" dirty="0"/>
          </a:p>
        </p:txBody>
      </p:sp>
      <p:sp>
        <p:nvSpPr>
          <p:cNvPr id="10" name="Text 8"/>
          <p:cNvSpPr/>
          <p:nvPr/>
        </p:nvSpPr>
        <p:spPr>
          <a:xfrm>
            <a:off x="7540228" y="3257669"/>
            <a:ext cx="2312908" cy="278725"/>
          </a:xfrm>
          <a:prstGeom prst="rect">
            <a:avLst/>
          </a:prstGeom>
          <a:noFill/>
          <a:ln/>
        </p:spPr>
        <p:txBody>
          <a:bodyPr wrap="none" lIns="0" tIns="0" rIns="0" bIns="0" rtlCol="0" anchor="t"/>
          <a:lstStyle/>
          <a:p>
            <a:pPr algn="l" indent="0" marL="0">
              <a:lnSpc>
                <a:spcPts val="2150"/>
              </a:lnSpc>
              <a:buNone/>
            </a:pPr>
            <a:r>
              <a:rPr lang="en-US" sz="1750" dirty="0">
                <a:solidFill>
                  <a:srgbClr val="2E3C4E"/>
                </a:solidFill>
                <a:latin typeface="Host Grotesk Medium" pitchFamily="34" charset="0"/>
                <a:ea typeface="Host Grotesk Medium" pitchFamily="34" charset="-122"/>
                <a:cs typeface="Host Grotesk Medium" pitchFamily="34" charset="-120"/>
              </a:rPr>
              <a:t>Black-Formatted Code</a:t>
            </a:r>
            <a:endParaRPr lang="en-US" sz="1750" dirty="0"/>
          </a:p>
        </p:txBody>
      </p:sp>
      <p:sp>
        <p:nvSpPr>
          <p:cNvPr id="11" name="Shape 9"/>
          <p:cNvSpPr/>
          <p:nvPr/>
        </p:nvSpPr>
        <p:spPr>
          <a:xfrm>
            <a:off x="7540228" y="3737015"/>
            <a:ext cx="5423892" cy="1872615"/>
          </a:xfrm>
          <a:prstGeom prst="roundRect">
            <a:avLst>
              <a:gd name="adj" fmla="val 4001"/>
            </a:avLst>
          </a:prstGeom>
          <a:solidFill>
            <a:srgbClr val="EDECE8"/>
          </a:solidFill>
          <a:ln/>
        </p:spPr>
      </p:sp>
      <p:sp>
        <p:nvSpPr>
          <p:cNvPr id="12" name="Shape 10"/>
          <p:cNvSpPr/>
          <p:nvPr/>
        </p:nvSpPr>
        <p:spPr>
          <a:xfrm>
            <a:off x="7531418" y="3737015"/>
            <a:ext cx="5441513" cy="1872615"/>
          </a:xfrm>
          <a:prstGeom prst="roundRect">
            <a:avLst>
              <a:gd name="adj" fmla="val 1429"/>
            </a:avLst>
          </a:prstGeom>
          <a:solidFill>
            <a:srgbClr val="EDECE8"/>
          </a:solidFill>
          <a:ln/>
        </p:spPr>
      </p:sp>
      <p:sp>
        <p:nvSpPr>
          <p:cNvPr id="13" name="Text 11"/>
          <p:cNvSpPr/>
          <p:nvPr/>
        </p:nvSpPr>
        <p:spPr>
          <a:xfrm>
            <a:off x="7709773" y="3870722"/>
            <a:ext cx="5084802" cy="1605201"/>
          </a:xfrm>
          <a:prstGeom prst="rect">
            <a:avLst/>
          </a:prstGeom>
          <a:noFill/>
          <a:ln/>
        </p:spPr>
        <p:txBody>
          <a:bodyPr wrap="square" lIns="0" tIns="0" rIns="0" bIns="0" rtlCol="0" anchor="t"/>
          <a:lstStyle/>
          <a:p>
            <a:pPr algn="l" indent="0" marL="0">
              <a:lnSpc>
                <a:spcPts val="2100"/>
              </a:lnSpc>
              <a:buNone/>
            </a:pPr>
            <a:r>
              <a:rPr lang="en-US" sz="1400" dirty="0">
                <a:solidFill>
                  <a:srgbClr val="384653"/>
                </a:solidFill>
                <a:highlight>
                  <a:srgbClr val="EDECE8"/>
                </a:highlight>
                <a:latin typeface="Consolas" pitchFamily="34" charset="0"/>
                <a:ea typeface="Consolas" pitchFamily="34" charset="-122"/>
                <a:cs typeface="Consolas" pitchFamily="34" charset="-120"/>
              </a:rPr>
              <a:t>def some_function(argument_one, argument_two, argument_three="default value"):</a:t>
            </a:r>
            <a:endParaRPr lang="en-US" sz="1400" dirty="0"/>
          </a:p>
          <a:p>
            <a:pPr algn="l" indent="0" marL="0">
              <a:lnSpc>
                <a:spcPts val="2100"/>
              </a:lnSpc>
              <a:buNone/>
            </a:pPr>
            <a:r>
              <a:rPr lang="en-US" sz="1400" dirty="0">
                <a:solidFill>
                  <a:srgbClr val="384653"/>
                </a:solidFill>
                <a:highlight>
                  <a:srgbClr val="EDECE8"/>
                </a:highlight>
                <a:latin typeface="Consolas" pitchFamily="34" charset="0"/>
                <a:ea typeface="Consolas" pitchFamily="34" charset="-122"/>
                <a:cs typeface="Consolas" pitchFamily="34" charset="-120"/>
              </a:rPr>
              <a:t>    if argument_one is True:</a:t>
            </a:r>
            <a:endParaRPr lang="en-US" sz="1400" dirty="0"/>
          </a:p>
          <a:p>
            <a:pPr algn="l" indent="0" marL="0">
              <a:lnSpc>
                <a:spcPts val="2100"/>
              </a:lnSpc>
              <a:buNone/>
            </a:pPr>
            <a:r>
              <a:rPr lang="en-US" sz="1400" dirty="0">
                <a:solidFill>
                  <a:srgbClr val="384653"/>
                </a:solidFill>
                <a:highlight>
                  <a:srgbClr val="EDECE8"/>
                </a:highlight>
                <a:latin typeface="Consolas" pitchFamily="34" charset="0"/>
                <a:ea typeface="Consolas" pitchFamily="34" charset="-122"/>
                <a:cs typeface="Consolas" pitchFamily="34" charset="-120"/>
              </a:rPr>
              <a:t>        print("Hello")</a:t>
            </a:r>
            <a:endParaRPr lang="en-US" sz="1400" dirty="0"/>
          </a:p>
          <a:p>
            <a:pPr algn="l" indent="0" marL="0">
              <a:lnSpc>
                <a:spcPts val="2100"/>
              </a:lnSpc>
              <a:buNone/>
            </a:pPr>
            <a:r>
              <a:rPr lang="en-US" sz="1400" dirty="0">
                <a:solidFill>
                  <a:srgbClr val="384653"/>
                </a:solidFill>
                <a:highlight>
                  <a:srgbClr val="EDECE8"/>
                </a:highlight>
                <a:latin typeface="Consolas" pitchFamily="34" charset="0"/>
                <a:ea typeface="Consolas" pitchFamily="34" charset="-122"/>
                <a:cs typeface="Consolas" pitchFamily="34" charset="-120"/>
              </a:rPr>
              <a:t>    else:</a:t>
            </a:r>
            <a:endParaRPr lang="en-US" sz="1400" dirty="0"/>
          </a:p>
          <a:p>
            <a:pPr algn="l" indent="0" marL="0">
              <a:lnSpc>
                <a:spcPts val="2100"/>
              </a:lnSpc>
              <a:buNone/>
            </a:pPr>
            <a:r>
              <a:rPr lang="en-US" sz="1400" dirty="0">
                <a:solidFill>
                  <a:srgbClr val="384653"/>
                </a:solidFill>
                <a:highlight>
                  <a:srgbClr val="EDECE8"/>
                </a:highlight>
                <a:latin typeface="Consolas" pitchFamily="34" charset="0"/>
                <a:ea typeface="Consolas" pitchFamily="34" charset="-122"/>
                <a:cs typeface="Consolas" pitchFamily="34" charset="-120"/>
              </a:rPr>
              <a:t>        return {"key_one": "value_one", "key_two": 123}</a:t>
            </a:r>
            <a:endParaRPr lang="en-US" sz="1400" dirty="0"/>
          </a:p>
        </p:txBody>
      </p:sp>
      <p:sp>
        <p:nvSpPr>
          <p:cNvPr id="14" name="Text 12"/>
          <p:cNvSpPr/>
          <p:nvPr/>
        </p:nvSpPr>
        <p:spPr>
          <a:xfrm>
            <a:off x="1673662" y="6010870"/>
            <a:ext cx="11282958" cy="267533"/>
          </a:xfrm>
          <a:prstGeom prst="rect">
            <a:avLst/>
          </a:prstGeom>
          <a:noFill/>
          <a:ln/>
        </p:spPr>
        <p:txBody>
          <a:bodyPr wrap="none" lIns="0" tIns="0" rIns="0" bIns="0" rtlCol="0" anchor="t"/>
          <a:lstStyle/>
          <a:p>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Notice how Black automatically:</a:t>
            </a:r>
            <a:endParaRPr lang="en-US" sz="1400" dirty="0"/>
          </a:p>
        </p:txBody>
      </p:sp>
      <p:sp>
        <p:nvSpPr>
          <p:cNvPr id="15" name="Text 13"/>
          <p:cNvSpPr/>
          <p:nvPr/>
        </p:nvSpPr>
        <p:spPr>
          <a:xfrm>
            <a:off x="1673662" y="6479024"/>
            <a:ext cx="11282958" cy="267533"/>
          </a:xfrm>
          <a:prstGeom prst="rect">
            <a:avLst/>
          </a:prstGeom>
          <a:noFill/>
          <a:ln/>
        </p:spPr>
        <p:txBody>
          <a:bodyPr wrap="none" lIns="0" tIns="0" rIns="0" bIns="0" rtlCol="0" anchor="t"/>
          <a:lstStyle/>
          <a:p>
            <a:pPr algn="l" marL="342900" indent="-342900">
              <a:lnSpc>
                <a:spcPts val="2100"/>
              </a:lnSpc>
              <a:buSzPct val="100000"/>
              <a:buChar char="•"/>
            </a:pPr>
            <a:r>
              <a:rPr lang="en-US" sz="1400" dirty="0">
                <a:solidFill>
                  <a:srgbClr val="384653"/>
                </a:solidFill>
                <a:latin typeface="Roboto" pitchFamily="34" charset="0"/>
                <a:ea typeface="Roboto" pitchFamily="34" charset="-122"/>
                <a:cs typeface="Roboto" pitchFamily="34" charset="-120"/>
              </a:rPr>
              <a:t>Adjusts inconsistent spacing around function definitions and arguments.</a:t>
            </a:r>
            <a:endParaRPr lang="en-US" sz="1400" dirty="0"/>
          </a:p>
        </p:txBody>
      </p:sp>
      <p:sp>
        <p:nvSpPr>
          <p:cNvPr id="16" name="Text 14"/>
          <p:cNvSpPr/>
          <p:nvPr/>
        </p:nvSpPr>
        <p:spPr>
          <a:xfrm>
            <a:off x="1673662" y="6808946"/>
            <a:ext cx="11282958" cy="267533"/>
          </a:xfrm>
          <a:prstGeom prst="rect">
            <a:avLst/>
          </a:prstGeom>
          <a:noFill/>
          <a:ln/>
        </p:spPr>
        <p:txBody>
          <a:bodyPr wrap="none" lIns="0" tIns="0" rIns="0" bIns="0" rtlCol="0" anchor="t"/>
          <a:lstStyle/>
          <a:p>
            <a:pPr algn="l" marL="342900" indent="-342900">
              <a:lnSpc>
                <a:spcPts val="2100"/>
              </a:lnSpc>
              <a:buSzPct val="100000"/>
              <a:buChar char="•"/>
            </a:pPr>
            <a:r>
              <a:rPr lang="en-US" sz="1400" dirty="0">
                <a:solidFill>
                  <a:srgbClr val="384653"/>
                </a:solidFill>
                <a:latin typeface="Roboto" pitchFamily="34" charset="0"/>
                <a:ea typeface="Roboto" pitchFamily="34" charset="-122"/>
                <a:cs typeface="Roboto" pitchFamily="34" charset="-120"/>
              </a:rPr>
              <a:t>Ensures proper line breaks for better readability (e.g., after `if` and `else`).</a:t>
            </a:r>
            <a:endParaRPr lang="en-US" sz="1400" dirty="0"/>
          </a:p>
        </p:txBody>
      </p:sp>
      <p:sp>
        <p:nvSpPr>
          <p:cNvPr id="17" name="Text 15"/>
          <p:cNvSpPr/>
          <p:nvPr/>
        </p:nvSpPr>
        <p:spPr>
          <a:xfrm>
            <a:off x="1673662" y="7138868"/>
            <a:ext cx="11282958" cy="267533"/>
          </a:xfrm>
          <a:prstGeom prst="rect">
            <a:avLst/>
          </a:prstGeom>
          <a:noFill/>
          <a:ln/>
        </p:spPr>
        <p:txBody>
          <a:bodyPr wrap="none" lIns="0" tIns="0" rIns="0" bIns="0" rtlCol="0" anchor="t"/>
          <a:lstStyle/>
          <a:p>
            <a:pPr algn="l" marL="342900" indent="-342900">
              <a:lnSpc>
                <a:spcPts val="2100"/>
              </a:lnSpc>
              <a:buSzPct val="100000"/>
              <a:buChar char="•"/>
            </a:pPr>
            <a:r>
              <a:rPr lang="en-US" sz="1400" dirty="0">
                <a:solidFill>
                  <a:srgbClr val="384653"/>
                </a:solidFill>
                <a:latin typeface="Roboto" pitchFamily="34" charset="0"/>
                <a:ea typeface="Roboto" pitchFamily="34" charset="-122"/>
                <a:cs typeface="Roboto" pitchFamily="34" charset="-120"/>
              </a:rPr>
              <a:t>Standardizes quote types (e.g., single quotes to double quotes by default).</a:t>
            </a:r>
            <a:endParaRPr lang="en-US" sz="1400" dirty="0"/>
          </a:p>
        </p:txBody>
      </p:sp>
      <p:sp>
        <p:nvSpPr>
          <p:cNvPr id="18" name="Text 16"/>
          <p:cNvSpPr/>
          <p:nvPr/>
        </p:nvSpPr>
        <p:spPr>
          <a:xfrm>
            <a:off x="1673662" y="7468791"/>
            <a:ext cx="11282958" cy="267533"/>
          </a:xfrm>
          <a:prstGeom prst="rect">
            <a:avLst/>
          </a:prstGeom>
          <a:noFill/>
          <a:ln/>
        </p:spPr>
        <p:txBody>
          <a:bodyPr wrap="none" lIns="0" tIns="0" rIns="0" bIns="0" rtlCol="0" anchor="t"/>
          <a:lstStyle/>
          <a:p>
            <a:pPr algn="l" marL="342900" indent="-342900">
              <a:lnSpc>
                <a:spcPts val="2100"/>
              </a:lnSpc>
              <a:buSzPct val="100000"/>
              <a:buChar char="•"/>
            </a:pPr>
            <a:r>
              <a:rPr lang="en-US" sz="1400" dirty="0">
                <a:solidFill>
                  <a:srgbClr val="384653"/>
                </a:solidFill>
                <a:latin typeface="Roboto" pitchFamily="34" charset="0"/>
                <a:ea typeface="Roboto" pitchFamily="34" charset="-122"/>
                <a:cs typeface="Roboto" pitchFamily="34" charset="-120"/>
              </a:rPr>
              <a:t>Changes `== True` to `is True` for Pythonic consistency.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472565" y="782955"/>
            <a:ext cx="6051590" cy="577215"/>
          </a:xfrm>
          <a:prstGeom prst="rect">
            <a:avLst/>
          </a:prstGeom>
          <a:noFill/>
          <a:ln/>
        </p:spPr>
        <p:txBody>
          <a:bodyPr wrap="none" lIns="0" tIns="0" rIns="0" bIns="0" rtlCol="0" anchor="t"/>
          <a:lstStyle/>
          <a:p>
            <a:pPr algn="l" indent="0" marL="0">
              <a:lnSpc>
                <a:spcPts val="4500"/>
              </a:lnSpc>
              <a:buNone/>
            </a:pPr>
            <a:r>
              <a:rPr lang="en-US" sz="3600" dirty="0">
                <a:solidFill>
                  <a:srgbClr val="2E3C4E"/>
                </a:solidFill>
                <a:latin typeface="Host Grotesk Medium" pitchFamily="34" charset="0"/>
                <a:ea typeface="Host Grotesk Medium" pitchFamily="34" charset="-122"/>
                <a:cs typeface="Host Grotesk Medium" pitchFamily="34" charset="-120"/>
              </a:rPr>
              <a:t>The Criticality of Automation</a:t>
            </a:r>
            <a:endParaRPr lang="en-US" sz="3600" dirty="0"/>
          </a:p>
        </p:txBody>
      </p:sp>
      <p:sp>
        <p:nvSpPr>
          <p:cNvPr id="3" name="Text 1"/>
          <p:cNvSpPr/>
          <p:nvPr/>
        </p:nvSpPr>
        <p:spPr>
          <a:xfrm>
            <a:off x="1472565" y="1729621"/>
            <a:ext cx="11685151" cy="277178"/>
          </a:xfrm>
          <a:prstGeom prst="rect">
            <a:avLst/>
          </a:prstGeom>
          <a:noFill/>
          <a:ln/>
        </p:spPr>
        <p:txBody>
          <a:bodyPr wrap="none" lIns="0" tIns="0" rIns="0" bIns="0" rtlCol="0" anchor="t"/>
          <a:lstStyle/>
          <a:p>
            <a:pPr algn="l" indent="0" marL="0">
              <a:lnSpc>
                <a:spcPts val="2150"/>
              </a:lnSpc>
              <a:buNone/>
            </a:pPr>
            <a:r>
              <a:rPr lang="en-US" sz="1450" dirty="0">
                <a:solidFill>
                  <a:srgbClr val="384653"/>
                </a:solidFill>
                <a:latin typeface="Roboto" pitchFamily="34" charset="0"/>
                <a:ea typeface="Roboto" pitchFamily="34" charset="-122"/>
                <a:cs typeface="Roboto" pitchFamily="34" charset="-120"/>
              </a:rPr>
              <a:t>Why is automating code quality checks critical?</a:t>
            </a:r>
            <a:endParaRPr lang="en-US" sz="1450" dirty="0"/>
          </a:p>
        </p:txBody>
      </p:sp>
      <p:sp>
        <p:nvSpPr>
          <p:cNvPr id="4" name="Text 2"/>
          <p:cNvSpPr/>
          <p:nvPr/>
        </p:nvSpPr>
        <p:spPr>
          <a:xfrm>
            <a:off x="1472565" y="2214563"/>
            <a:ext cx="11685151" cy="554355"/>
          </a:xfrm>
          <a:prstGeom prst="rect">
            <a:avLst/>
          </a:prstGeom>
          <a:noFill/>
          <a:ln/>
        </p:spPr>
        <p:txBody>
          <a:bodyPr wrap="square" lIns="0" tIns="0" rIns="0" bIns="0" rtlCol="0" anchor="t"/>
          <a:lstStyle/>
          <a:p>
            <a:pPr algn="l" indent="0" marL="0">
              <a:lnSpc>
                <a:spcPts val="2150"/>
              </a:lnSpc>
              <a:buNone/>
            </a:pPr>
            <a:r>
              <a:rPr lang="en-US" sz="1450" dirty="0">
                <a:solidFill>
                  <a:srgbClr val="384653"/>
                </a:solidFill>
                <a:latin typeface="Roboto" pitchFamily="34" charset="0"/>
                <a:ea typeface="Roboto" pitchFamily="34" charset="-122"/>
                <a:cs typeface="Roboto" pitchFamily="34" charset="-120"/>
              </a:rPr>
              <a:t>To ensure every project complies with minimal requirements without wasting human time, allowing developers to focus on </a:t>
            </a:r>
            <a:pPr algn="l" indent="0" marL="0">
              <a:lnSpc>
                <a:spcPts val="2150"/>
              </a:lnSpc>
              <a:buNone/>
            </a:pPr>
            <a:r>
              <a:rPr lang="en-US" sz="1450" dirty="0">
                <a:solidFill>
                  <a:srgbClr val="95CCDA"/>
                </a:solidFill>
                <a:latin typeface="Roboto" pitchFamily="34" charset="0"/>
                <a:ea typeface="Roboto" pitchFamily="34" charset="-122"/>
                <a:cs typeface="Roboto" pitchFamily="34" charset="-120"/>
              </a:rPr>
              <a:t>high-level logic and communication.</a:t>
            </a:r>
            <a:endParaRPr lang="en-US" sz="1450" dirty="0"/>
          </a:p>
        </p:txBody>
      </p:sp>
      <p:sp>
        <p:nvSpPr>
          <p:cNvPr id="5" name="Text 3"/>
          <p:cNvSpPr/>
          <p:nvPr/>
        </p:nvSpPr>
        <p:spPr>
          <a:xfrm>
            <a:off x="1472565" y="3045976"/>
            <a:ext cx="5392698" cy="461724"/>
          </a:xfrm>
          <a:prstGeom prst="rect">
            <a:avLst/>
          </a:prstGeom>
          <a:noFill/>
          <a:ln/>
        </p:spPr>
        <p:txBody>
          <a:bodyPr wrap="none" lIns="0" tIns="0" rIns="0" bIns="0" rtlCol="0" anchor="t"/>
          <a:lstStyle/>
          <a:p>
            <a:pPr algn="l" indent="0" marL="0">
              <a:lnSpc>
                <a:spcPts val="3600"/>
              </a:lnSpc>
              <a:buNone/>
            </a:pPr>
            <a:r>
              <a:rPr lang="en-US" sz="2900" dirty="0">
                <a:solidFill>
                  <a:srgbClr val="2E3C4E"/>
                </a:solidFill>
                <a:latin typeface="Host Grotesk Medium" pitchFamily="34" charset="0"/>
                <a:ea typeface="Host Grotesk Medium" pitchFamily="34" charset="-122"/>
                <a:cs typeface="Host Grotesk Medium" pitchFamily="34" charset="-120"/>
              </a:rPr>
              <a:t>A Modern Code Quality Pipeline</a:t>
            </a:r>
            <a:endParaRPr lang="en-US" sz="2900" dirty="0"/>
          </a:p>
        </p:txBody>
      </p:sp>
      <p:sp>
        <p:nvSpPr>
          <p:cNvPr id="6" name="Text 4"/>
          <p:cNvSpPr/>
          <p:nvPr/>
        </p:nvSpPr>
        <p:spPr>
          <a:xfrm>
            <a:off x="1472565" y="3784759"/>
            <a:ext cx="11685151" cy="277178"/>
          </a:xfrm>
          <a:prstGeom prst="rect">
            <a:avLst/>
          </a:prstGeom>
          <a:noFill/>
          <a:ln/>
        </p:spPr>
        <p:txBody>
          <a:bodyPr wrap="none" lIns="0" tIns="0" rIns="0" bIns="0" rtlCol="0" anchor="t"/>
          <a:lstStyle/>
          <a:p>
            <a:pPr algn="l" indent="0" marL="0">
              <a:lnSpc>
                <a:spcPts val="2150"/>
              </a:lnSpc>
              <a:buNone/>
            </a:pPr>
            <a:r>
              <a:rPr lang="en-US" sz="1450" dirty="0">
                <a:solidFill>
                  <a:srgbClr val="384653"/>
                </a:solidFill>
                <a:latin typeface="Roboto" pitchFamily="34" charset="0"/>
                <a:ea typeface="Roboto" pitchFamily="34" charset="-122"/>
                <a:cs typeface="Roboto" pitchFamily="34" charset="-120"/>
              </a:rPr>
              <a:t>An effective automated pipeline integrates several tools, each playing a vital role in maintaining code quality:</a:t>
            </a:r>
            <a:endParaRPr lang="en-US" sz="1450" dirty="0"/>
          </a:p>
        </p:txBody>
      </p:sp>
      <p:sp>
        <p:nvSpPr>
          <p:cNvPr id="7" name="Shape 5"/>
          <p:cNvSpPr/>
          <p:nvPr/>
        </p:nvSpPr>
        <p:spPr>
          <a:xfrm>
            <a:off x="1472565" y="4269700"/>
            <a:ext cx="415647" cy="415647"/>
          </a:xfrm>
          <a:prstGeom prst="roundRect">
            <a:avLst>
              <a:gd name="adj" fmla="val 18668"/>
            </a:avLst>
          </a:prstGeom>
          <a:solidFill>
            <a:srgbClr val="D9EDF2"/>
          </a:solidFill>
          <a:ln w="7620">
            <a:solidFill>
              <a:srgbClr val="BFD3D8"/>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41800" y="4338935"/>
            <a:ext cx="277058" cy="277058"/>
          </a:xfrm>
          <a:prstGeom prst="rect">
            <a:avLst/>
          </a:prstGeom>
        </p:spPr>
      </p:pic>
      <p:sp>
        <p:nvSpPr>
          <p:cNvPr id="9" name="Text 6"/>
          <p:cNvSpPr/>
          <p:nvPr/>
        </p:nvSpPr>
        <p:spPr>
          <a:xfrm>
            <a:off x="2072878" y="4333161"/>
            <a:ext cx="3140750" cy="577453"/>
          </a:xfrm>
          <a:prstGeom prst="rect">
            <a:avLst/>
          </a:prstGeom>
          <a:noFill/>
          <a:ln/>
        </p:spPr>
        <p:txBody>
          <a:bodyPr wrap="square" lIns="0" tIns="0" rIns="0" bIns="0" rtlCol="0" anchor="t"/>
          <a:lstStyle/>
          <a:p>
            <a:pPr algn="l" indent="0" marL="0">
              <a:lnSpc>
                <a:spcPts val="2250"/>
              </a:lnSpc>
              <a:buNone/>
            </a:pPr>
            <a:r>
              <a:rPr lang="en-US" sz="1800" dirty="0">
                <a:solidFill>
                  <a:srgbClr val="384653"/>
                </a:solidFill>
                <a:latin typeface="Host Grotesk Medium" pitchFamily="34" charset="0"/>
                <a:ea typeface="Host Grotesk Medium" pitchFamily="34" charset="-122"/>
                <a:cs typeface="Host Grotesk Medium" pitchFamily="34" charset="-120"/>
              </a:rPr>
              <a:t>Black: Uncompromising Formatter</a:t>
            </a:r>
            <a:endParaRPr lang="en-US" sz="1800" dirty="0"/>
          </a:p>
        </p:txBody>
      </p:sp>
      <p:sp>
        <p:nvSpPr>
          <p:cNvPr id="10" name="Text 7"/>
          <p:cNvSpPr/>
          <p:nvPr/>
        </p:nvSpPr>
        <p:spPr>
          <a:xfrm>
            <a:off x="2072878" y="5021461"/>
            <a:ext cx="3140750" cy="1108710"/>
          </a:xfrm>
          <a:prstGeom prst="rect">
            <a:avLst/>
          </a:prstGeom>
          <a:noFill/>
          <a:ln/>
        </p:spPr>
        <p:txBody>
          <a:bodyPr wrap="square" lIns="0" tIns="0" rIns="0" bIns="0" rtlCol="0" anchor="t"/>
          <a:lstStyle/>
          <a:p>
            <a:pPr algn="l" indent="0" marL="0">
              <a:lnSpc>
                <a:spcPts val="2150"/>
              </a:lnSpc>
              <a:buNone/>
            </a:pPr>
            <a:r>
              <a:rPr lang="en-US" sz="1450" dirty="0">
                <a:solidFill>
                  <a:srgbClr val="384653"/>
                </a:solidFill>
                <a:latin typeface="Roboto" pitchFamily="34" charset="0"/>
                <a:ea typeface="Roboto" pitchFamily="34" charset="-122"/>
                <a:cs typeface="Roboto" pitchFamily="34" charset="-120"/>
              </a:rPr>
              <a:t>Enforces a consistent code style across the entire codebase, eliminating bikeshedding during code reviews and ensuring readability.</a:t>
            </a:r>
            <a:endParaRPr lang="en-US" sz="1450" dirty="0"/>
          </a:p>
        </p:txBody>
      </p:sp>
      <p:sp>
        <p:nvSpPr>
          <p:cNvPr id="11" name="Shape 8"/>
          <p:cNvSpPr/>
          <p:nvPr/>
        </p:nvSpPr>
        <p:spPr>
          <a:xfrm>
            <a:off x="5444490" y="4269700"/>
            <a:ext cx="415647" cy="415647"/>
          </a:xfrm>
          <a:prstGeom prst="roundRect">
            <a:avLst>
              <a:gd name="adj" fmla="val 18668"/>
            </a:avLst>
          </a:prstGeom>
          <a:solidFill>
            <a:srgbClr val="D9EDF2"/>
          </a:solidFill>
          <a:ln w="7620">
            <a:solidFill>
              <a:srgbClr val="BFD3D8"/>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13725" y="4338935"/>
            <a:ext cx="277058" cy="277058"/>
          </a:xfrm>
          <a:prstGeom prst="rect">
            <a:avLst/>
          </a:prstGeom>
        </p:spPr>
      </p:pic>
      <p:sp>
        <p:nvSpPr>
          <p:cNvPr id="13" name="Text 9"/>
          <p:cNvSpPr/>
          <p:nvPr/>
        </p:nvSpPr>
        <p:spPr>
          <a:xfrm>
            <a:off x="6044803" y="4333161"/>
            <a:ext cx="2845832" cy="288727"/>
          </a:xfrm>
          <a:prstGeom prst="rect">
            <a:avLst/>
          </a:prstGeom>
          <a:noFill/>
          <a:ln/>
        </p:spPr>
        <p:txBody>
          <a:bodyPr wrap="none" lIns="0" tIns="0" rIns="0" bIns="0" rtlCol="0" anchor="t"/>
          <a:lstStyle/>
          <a:p>
            <a:pPr algn="l" indent="0" marL="0">
              <a:lnSpc>
                <a:spcPts val="2250"/>
              </a:lnSpc>
              <a:buNone/>
            </a:pPr>
            <a:r>
              <a:rPr lang="en-US" sz="1800" dirty="0">
                <a:solidFill>
                  <a:srgbClr val="384653"/>
                </a:solidFill>
                <a:latin typeface="Host Grotesk Medium" pitchFamily="34" charset="0"/>
                <a:ea typeface="Host Grotesk Medium" pitchFamily="34" charset="-122"/>
                <a:cs typeface="Host Grotesk Medium" pitchFamily="34" charset="-120"/>
              </a:rPr>
              <a:t>MyPy: Static Type Checker</a:t>
            </a:r>
            <a:endParaRPr lang="en-US" sz="1800" dirty="0"/>
          </a:p>
        </p:txBody>
      </p:sp>
      <p:sp>
        <p:nvSpPr>
          <p:cNvPr id="14" name="Text 10"/>
          <p:cNvSpPr/>
          <p:nvPr/>
        </p:nvSpPr>
        <p:spPr>
          <a:xfrm>
            <a:off x="6044803" y="4732734"/>
            <a:ext cx="3140869" cy="1108710"/>
          </a:xfrm>
          <a:prstGeom prst="rect">
            <a:avLst/>
          </a:prstGeom>
          <a:noFill/>
          <a:ln/>
        </p:spPr>
        <p:txBody>
          <a:bodyPr wrap="square" lIns="0" tIns="0" rIns="0" bIns="0" rtlCol="0" anchor="t"/>
          <a:lstStyle/>
          <a:p>
            <a:pPr algn="l" indent="0" marL="0">
              <a:lnSpc>
                <a:spcPts val="2150"/>
              </a:lnSpc>
              <a:buNone/>
            </a:pPr>
            <a:r>
              <a:rPr lang="en-US" sz="1450" dirty="0">
                <a:solidFill>
                  <a:srgbClr val="384653"/>
                </a:solidFill>
                <a:latin typeface="Roboto" pitchFamily="34" charset="0"/>
                <a:ea typeface="Roboto" pitchFamily="34" charset="-122"/>
                <a:cs typeface="Roboto" pitchFamily="34" charset="-120"/>
              </a:rPr>
              <a:t>Analyzes code for type consistency, catching potential bugs related to incorrect data types before the code even runs.</a:t>
            </a:r>
            <a:endParaRPr lang="en-US" sz="1450" dirty="0"/>
          </a:p>
        </p:txBody>
      </p:sp>
      <p:sp>
        <p:nvSpPr>
          <p:cNvPr id="15" name="Shape 11"/>
          <p:cNvSpPr/>
          <p:nvPr/>
        </p:nvSpPr>
        <p:spPr>
          <a:xfrm>
            <a:off x="9416534" y="4269700"/>
            <a:ext cx="415647" cy="415647"/>
          </a:xfrm>
          <a:prstGeom prst="roundRect">
            <a:avLst>
              <a:gd name="adj" fmla="val 18668"/>
            </a:avLst>
          </a:prstGeom>
          <a:solidFill>
            <a:srgbClr val="D9EDF2"/>
          </a:solidFill>
          <a:ln w="7620">
            <a:solidFill>
              <a:srgbClr val="BFD3D8"/>
            </a:solidFill>
            <a:prstDash val="solid"/>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85769" y="4338935"/>
            <a:ext cx="277058" cy="277058"/>
          </a:xfrm>
          <a:prstGeom prst="rect">
            <a:avLst/>
          </a:prstGeom>
        </p:spPr>
      </p:pic>
      <p:sp>
        <p:nvSpPr>
          <p:cNvPr id="17" name="Text 12"/>
          <p:cNvSpPr/>
          <p:nvPr/>
        </p:nvSpPr>
        <p:spPr>
          <a:xfrm>
            <a:off x="10016847" y="4333161"/>
            <a:ext cx="2913936" cy="288727"/>
          </a:xfrm>
          <a:prstGeom prst="rect">
            <a:avLst/>
          </a:prstGeom>
          <a:noFill/>
          <a:ln/>
        </p:spPr>
        <p:txBody>
          <a:bodyPr wrap="none" lIns="0" tIns="0" rIns="0" bIns="0" rtlCol="0" anchor="t"/>
          <a:lstStyle/>
          <a:p>
            <a:pPr algn="l" indent="0" marL="0">
              <a:lnSpc>
                <a:spcPts val="2250"/>
              </a:lnSpc>
              <a:buNone/>
            </a:pPr>
            <a:r>
              <a:rPr lang="en-US" sz="1800" dirty="0">
                <a:solidFill>
                  <a:srgbClr val="384653"/>
                </a:solidFill>
                <a:latin typeface="Host Grotesk Medium" pitchFamily="34" charset="0"/>
                <a:ea typeface="Host Grotesk Medium" pitchFamily="34" charset="-122"/>
                <a:cs typeface="Host Grotesk Medium" pitchFamily="34" charset="-120"/>
              </a:rPr>
              <a:t>Pylint: Static Code Analyzer</a:t>
            </a:r>
            <a:endParaRPr lang="en-US" sz="1800" dirty="0"/>
          </a:p>
        </p:txBody>
      </p:sp>
      <p:sp>
        <p:nvSpPr>
          <p:cNvPr id="18" name="Text 13"/>
          <p:cNvSpPr/>
          <p:nvPr/>
        </p:nvSpPr>
        <p:spPr>
          <a:xfrm>
            <a:off x="10016847" y="4732734"/>
            <a:ext cx="3140750" cy="1108710"/>
          </a:xfrm>
          <a:prstGeom prst="rect">
            <a:avLst/>
          </a:prstGeom>
          <a:noFill/>
          <a:ln/>
        </p:spPr>
        <p:txBody>
          <a:bodyPr wrap="square" lIns="0" tIns="0" rIns="0" bIns="0" rtlCol="0" anchor="t"/>
          <a:lstStyle/>
          <a:p>
            <a:pPr algn="l" indent="0" marL="0">
              <a:lnSpc>
                <a:spcPts val="2150"/>
              </a:lnSpc>
              <a:buNone/>
            </a:pPr>
            <a:r>
              <a:rPr lang="en-US" sz="1450" dirty="0">
                <a:solidFill>
                  <a:srgbClr val="384653"/>
                </a:solidFill>
                <a:latin typeface="Roboto" pitchFamily="34" charset="0"/>
                <a:ea typeface="Roboto" pitchFamily="34" charset="-122"/>
                <a:cs typeface="Roboto" pitchFamily="34" charset="-120"/>
              </a:rPr>
              <a:t>Identifies errors, enforces coding standards, and detects code smells, helping to prevent subtle bugs and improve code maintainability.</a:t>
            </a:r>
            <a:endParaRPr lang="en-US" sz="1450" dirty="0"/>
          </a:p>
        </p:txBody>
      </p:sp>
      <p:sp>
        <p:nvSpPr>
          <p:cNvPr id="19" name="Text 14"/>
          <p:cNvSpPr/>
          <p:nvPr/>
        </p:nvSpPr>
        <p:spPr>
          <a:xfrm>
            <a:off x="1472565" y="6337935"/>
            <a:ext cx="11685151" cy="1108710"/>
          </a:xfrm>
          <a:prstGeom prst="rect">
            <a:avLst/>
          </a:prstGeom>
          <a:noFill/>
          <a:ln/>
        </p:spPr>
        <p:txBody>
          <a:bodyPr wrap="square" lIns="0" tIns="0" rIns="0" bIns="0" rtlCol="0" anchor="t"/>
          <a:lstStyle/>
          <a:p>
            <a:pPr algn="l" indent="0" marL="0">
              <a:lnSpc>
                <a:spcPts val="2150"/>
              </a:lnSpc>
              <a:buNone/>
            </a:pPr>
            <a:r>
              <a:rPr lang="en-US" sz="1450" dirty="0">
                <a:solidFill>
                  <a:srgbClr val="384653"/>
                </a:solidFill>
                <a:latin typeface="Roboto" pitchFamily="34" charset="0"/>
                <a:ea typeface="Roboto" pitchFamily="34" charset="-122"/>
                <a:cs typeface="Roboto" pitchFamily="34" charset="-120"/>
              </a:rPr>
              <a:t>By running these tools automatically in a Continuous Integration (CI) pipeline, potential issues—from formatting inconsistencies to type errors and logical flaws—are caught immediately upon code submission. This drastically reduces the time spent in manual code review on trivial issues, freeing up developers to focus on more complex architectural decisions and innovative features. It acts as an early warning system, preventing bugs from reaching production and ensuring a higher quality codebase from the outset.</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042035" y="545425"/>
            <a:ext cx="7148632" cy="619839"/>
          </a:xfrm>
          <a:prstGeom prst="rect">
            <a:avLst/>
          </a:prstGeom>
          <a:noFill/>
          <a:ln/>
        </p:spPr>
        <p:txBody>
          <a:bodyPr wrap="non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The Benefit of Idiomatic Python</a:t>
            </a:r>
            <a:endParaRPr lang="en-US" sz="3900" dirty="0"/>
          </a:p>
        </p:txBody>
      </p:sp>
      <p:sp>
        <p:nvSpPr>
          <p:cNvPr id="3" name="Text 1"/>
          <p:cNvSpPr/>
          <p:nvPr/>
        </p:nvSpPr>
        <p:spPr>
          <a:xfrm>
            <a:off x="1042035" y="1561981"/>
            <a:ext cx="12546211" cy="297537"/>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What is the benefit of writing "Idiomatic Python"?</a:t>
            </a:r>
            <a:endParaRPr lang="en-US" sz="1550" dirty="0"/>
          </a:p>
        </p:txBody>
      </p:sp>
      <p:sp>
        <p:nvSpPr>
          <p:cNvPr id="4" name="Text 2"/>
          <p:cNvSpPr/>
          <p:nvPr/>
        </p:nvSpPr>
        <p:spPr>
          <a:xfrm>
            <a:off x="1042035" y="2082641"/>
            <a:ext cx="12546211" cy="297537"/>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It results in code that is more </a:t>
            </a:r>
            <a:pPr algn="l" indent="0" marL="0">
              <a:lnSpc>
                <a:spcPts val="2300"/>
              </a:lnSpc>
              <a:buNone/>
            </a:pPr>
            <a:r>
              <a:rPr lang="en-US" sz="1550" dirty="0">
                <a:solidFill>
                  <a:srgbClr val="C3643D"/>
                </a:solidFill>
                <a:latin typeface="Roboto" pitchFamily="34" charset="0"/>
                <a:ea typeface="Roboto" pitchFamily="34" charset="-122"/>
                <a:cs typeface="Roboto" pitchFamily="34" charset="-120"/>
              </a:rPr>
              <a:t>compact, efficient, and easier for other Python developers to understand</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a:t>
            </a:r>
            <a:endParaRPr lang="en-US" sz="1550" dirty="0"/>
          </a:p>
        </p:txBody>
      </p:sp>
      <p:sp>
        <p:nvSpPr>
          <p:cNvPr id="5" name="Text 3"/>
          <p:cNvSpPr/>
          <p:nvPr/>
        </p:nvSpPr>
        <p:spPr>
          <a:xfrm>
            <a:off x="1042035" y="2603302"/>
            <a:ext cx="12546211" cy="297537"/>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Consider the following example of squaring numbers in a list:</a:t>
            </a:r>
            <a:endParaRPr lang="en-US" sz="1550" dirty="0"/>
          </a:p>
        </p:txBody>
      </p:sp>
      <p:sp>
        <p:nvSpPr>
          <p:cNvPr id="6" name="Text 4"/>
          <p:cNvSpPr/>
          <p:nvPr/>
        </p:nvSpPr>
        <p:spPr>
          <a:xfrm>
            <a:off x="1042035" y="3198376"/>
            <a:ext cx="3675221" cy="309920"/>
          </a:xfrm>
          <a:prstGeom prst="rect">
            <a:avLst/>
          </a:prstGeom>
          <a:noFill/>
          <a:ln/>
        </p:spPr>
        <p:txBody>
          <a:bodyPr wrap="none" lIns="0" tIns="0" rIns="0" bIns="0" rtlCol="0" anchor="t"/>
          <a:lstStyle/>
          <a:p>
            <a:pPr algn="l" indent="0" marL="0">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Non-Idiomatic Python (Verbose)</a:t>
            </a:r>
            <a:endParaRPr lang="en-US" sz="1950" dirty="0"/>
          </a:p>
        </p:txBody>
      </p:sp>
      <p:sp>
        <p:nvSpPr>
          <p:cNvPr id="7" name="Shape 5"/>
          <p:cNvSpPr/>
          <p:nvPr/>
        </p:nvSpPr>
        <p:spPr>
          <a:xfrm>
            <a:off x="1042035" y="3805833"/>
            <a:ext cx="12546211" cy="1785104"/>
          </a:xfrm>
          <a:prstGeom prst="roundRect">
            <a:avLst>
              <a:gd name="adj" fmla="val 4667"/>
            </a:avLst>
          </a:prstGeom>
          <a:solidFill>
            <a:srgbClr val="EDECE8"/>
          </a:solidFill>
          <a:ln/>
        </p:spPr>
      </p:sp>
      <p:sp>
        <p:nvSpPr>
          <p:cNvPr id="8" name="Shape 6"/>
          <p:cNvSpPr/>
          <p:nvPr/>
        </p:nvSpPr>
        <p:spPr>
          <a:xfrm>
            <a:off x="1032153" y="3805833"/>
            <a:ext cx="12565975" cy="1785104"/>
          </a:xfrm>
          <a:prstGeom prst="roundRect">
            <a:avLst>
              <a:gd name="adj" fmla="val 1667"/>
            </a:avLst>
          </a:prstGeom>
          <a:solidFill>
            <a:srgbClr val="EDECE8"/>
          </a:solidFill>
          <a:ln/>
        </p:spPr>
      </p:sp>
      <p:sp>
        <p:nvSpPr>
          <p:cNvPr id="9" name="Text 7"/>
          <p:cNvSpPr/>
          <p:nvPr/>
        </p:nvSpPr>
        <p:spPr>
          <a:xfrm>
            <a:off x="1230511" y="3954542"/>
            <a:ext cx="12169259" cy="1487686"/>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highlight>
                  <a:srgbClr val="EDECE8"/>
                </a:highlight>
                <a:latin typeface="Consolas" pitchFamily="34" charset="0"/>
                <a:ea typeface="Consolas" pitchFamily="34" charset="-122"/>
                <a:cs typeface="Consolas" pitchFamily="34" charset="-120"/>
              </a:rPr>
              <a:t>numbers = [1, 2, 3, 4, 5]
squared_numbers = []
for i in range(len(numbers)):
    squared_numbers.append(numbers[i] * numbers[i])
</a:t>
            </a:r>
            <a:endParaRPr lang="en-US" sz="1550" dirty="0"/>
          </a:p>
        </p:txBody>
      </p:sp>
      <p:sp>
        <p:nvSpPr>
          <p:cNvPr id="10" name="Text 8"/>
          <p:cNvSpPr/>
          <p:nvPr/>
        </p:nvSpPr>
        <p:spPr>
          <a:xfrm>
            <a:off x="1042035" y="5888474"/>
            <a:ext cx="3068717" cy="309920"/>
          </a:xfrm>
          <a:prstGeom prst="rect">
            <a:avLst/>
          </a:prstGeom>
          <a:noFill/>
          <a:ln/>
        </p:spPr>
        <p:txBody>
          <a:bodyPr wrap="none" lIns="0" tIns="0" rIns="0" bIns="0" rtlCol="0" anchor="t"/>
          <a:lstStyle/>
          <a:p>
            <a:pPr algn="l" indent="0" marL="0">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Idiomatic Python (Concise)</a:t>
            </a:r>
            <a:endParaRPr lang="en-US" sz="1950" dirty="0"/>
          </a:p>
        </p:txBody>
      </p:sp>
      <p:sp>
        <p:nvSpPr>
          <p:cNvPr id="11" name="Shape 9"/>
          <p:cNvSpPr/>
          <p:nvPr/>
        </p:nvSpPr>
        <p:spPr>
          <a:xfrm>
            <a:off x="1042035" y="6495931"/>
            <a:ext cx="12546211" cy="1190030"/>
          </a:xfrm>
          <a:prstGeom prst="roundRect">
            <a:avLst>
              <a:gd name="adj" fmla="val 7001"/>
            </a:avLst>
          </a:prstGeom>
          <a:solidFill>
            <a:srgbClr val="EDECE8"/>
          </a:solidFill>
          <a:ln/>
        </p:spPr>
      </p:sp>
      <p:sp>
        <p:nvSpPr>
          <p:cNvPr id="12" name="Shape 10"/>
          <p:cNvSpPr/>
          <p:nvPr/>
        </p:nvSpPr>
        <p:spPr>
          <a:xfrm>
            <a:off x="1032153" y="6495931"/>
            <a:ext cx="12565975" cy="1190030"/>
          </a:xfrm>
          <a:prstGeom prst="roundRect">
            <a:avLst>
              <a:gd name="adj" fmla="val 2500"/>
            </a:avLst>
          </a:prstGeom>
          <a:solidFill>
            <a:srgbClr val="EDECE8"/>
          </a:solidFill>
          <a:ln/>
        </p:spPr>
      </p:sp>
      <p:sp>
        <p:nvSpPr>
          <p:cNvPr id="13" name="Text 11"/>
          <p:cNvSpPr/>
          <p:nvPr/>
        </p:nvSpPr>
        <p:spPr>
          <a:xfrm>
            <a:off x="1230511" y="6644640"/>
            <a:ext cx="12169259" cy="892612"/>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highlight>
                  <a:srgbClr val="EDECE8"/>
                </a:highlight>
                <a:latin typeface="Consolas" pitchFamily="34" charset="0"/>
                <a:ea typeface="Consolas" pitchFamily="34" charset="-122"/>
                <a:cs typeface="Consolas" pitchFamily="34" charset="-120"/>
              </a:rPr>
              <a:t>numbers = [1, 2, 3, 4, 5]
squared_numbers = [num * num for num in numbers]
</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2026-01-15T11:41:16Z</dcterms:created>
  <dcterms:modified xsi:type="dcterms:W3CDTF">2026-01-15T11:41:16Z</dcterms:modified>
</cp:coreProperties>
</file>