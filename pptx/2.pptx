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Host Grotesk Medium"/>
      <p:regular r:id="rId15"/>
    </p:embeddedFont>
    <p:embeddedFont>
      <p:font typeface="Host Grotesk Medium"/>
      <p:regular r:id="rId16"/>
    </p:embeddedFont>
    <p:embeddedFont>
      <p:font typeface="Host Grotesk Medium"/>
      <p:regular r:id="rId17"/>
    </p:embeddedFont>
    <p:embeddedFont>
      <p:font typeface="Host Grotesk Medium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93375"/>
            <a:ext cx="66938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Unlocking Python's Power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55783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 how to leverage Python's modularity, understand its core components, and debug effectively. This guide is tailored for beginner Python learners and self-taught programmers, making complex concepts approachable and easy to grasp.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6518"/>
            <a:ext cx="11488103" cy="60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Statement: Expanding Python's Capabilities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725222"/>
            <a:ext cx="13042821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Python's strength lies in its extensive libraries. The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statement is your key to accessing these powerful features. Think of it as bringing specialized tools into your workshop.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68316"/>
            <a:ext cx="6407944" cy="2894648"/>
          </a:xfrm>
          <a:prstGeom prst="roundRect">
            <a:avLst>
              <a:gd name="adj" fmla="val 329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224" y="3902750"/>
            <a:ext cx="680442" cy="68044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4089797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224" y="4810006"/>
            <a:ext cx="37348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Modules: Collections of Tools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8224" y="5300424"/>
            <a:ext cx="5939076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module is a file containing Python code, including variables and functions. For example, the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module provides mathematical constants and operations.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428548" y="3668316"/>
            <a:ext cx="6408063" cy="2894648"/>
          </a:xfrm>
          <a:prstGeom prst="roundRect">
            <a:avLst>
              <a:gd name="adj" fmla="val 329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982" y="3902750"/>
            <a:ext cx="680442" cy="680442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4089797"/>
            <a:ext cx="306110" cy="30611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62982" y="48100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Dot Operator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662982" y="5300424"/>
            <a:ext cx="5939195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use elements within an imported module, you use the dot operator (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). This specifies which tool from which module you want to use.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1470" y="524589"/>
            <a:ext cx="4760476" cy="507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Exploring the </a:t>
            </a:r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Module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281470" y="1413510"/>
            <a:ext cx="12067342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dive into the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module to see some practical examples. From fundamental constants to complex calculations, it's a versatile resource.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281470" y="2398633"/>
            <a:ext cx="2642354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Mathematical Constants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281470" y="2887385"/>
            <a:ext cx="580096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Accessing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geometric calculations: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81470" y="3395663"/>
            <a:ext cx="5800963" cy="858203"/>
          </a:xfrm>
          <a:prstGeom prst="roundRect">
            <a:avLst>
              <a:gd name="adj" fmla="val 9337"/>
            </a:avLst>
          </a:prstGeom>
          <a:solidFill>
            <a:srgbClr val="EDECE8"/>
          </a:solidFill>
          <a:ln/>
        </p:spPr>
      </p:sp>
      <p:sp>
        <p:nvSpPr>
          <p:cNvPr id="7" name="Shape 5"/>
          <p:cNvSpPr/>
          <p:nvPr/>
        </p:nvSpPr>
        <p:spPr>
          <a:xfrm>
            <a:off x="1271945" y="3395663"/>
            <a:ext cx="5820013" cy="858203"/>
          </a:xfrm>
          <a:prstGeom prst="roundRect">
            <a:avLst>
              <a:gd name="adj" fmla="val 3335"/>
            </a:avLst>
          </a:prstGeom>
          <a:solidFill>
            <a:srgbClr val="EDECE8"/>
          </a:solidFill>
          <a:ln/>
        </p:spPr>
      </p:sp>
      <p:sp>
        <p:nvSpPr>
          <p:cNvPr id="8" name="Text 6"/>
          <p:cNvSpPr/>
          <p:nvPr/>
        </p:nvSpPr>
        <p:spPr>
          <a:xfrm>
            <a:off x="1462683" y="3538657"/>
            <a:ext cx="5438537" cy="572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print(math.pi)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1470" y="4468416"/>
            <a:ext cx="580096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3.141592653589793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55349" y="2398633"/>
            <a:ext cx="2384822" cy="298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Powerful Functions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555349" y="2887385"/>
            <a:ext cx="580096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Calculate square roots with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math.sqrt()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55349" y="3395663"/>
            <a:ext cx="5800963" cy="572095"/>
          </a:xfrm>
          <a:prstGeom prst="roundRect">
            <a:avLst>
              <a:gd name="adj" fmla="val 14007"/>
            </a:avLst>
          </a:prstGeom>
          <a:solidFill>
            <a:srgbClr val="EDECE8"/>
          </a:solidFill>
          <a:ln/>
        </p:spPr>
      </p:sp>
      <p:sp>
        <p:nvSpPr>
          <p:cNvPr id="13" name="Shape 11"/>
          <p:cNvSpPr/>
          <p:nvPr/>
        </p:nvSpPr>
        <p:spPr>
          <a:xfrm>
            <a:off x="7545824" y="3395663"/>
            <a:ext cx="5820013" cy="572095"/>
          </a:xfrm>
          <a:prstGeom prst="roundRect">
            <a:avLst>
              <a:gd name="adj" fmla="val 5002"/>
            </a:avLst>
          </a:prstGeom>
          <a:solidFill>
            <a:srgbClr val="EDECE8"/>
          </a:solidFill>
          <a:ln/>
        </p:spPr>
      </p:sp>
      <p:sp>
        <p:nvSpPr>
          <p:cNvPr id="14" name="Text 12"/>
          <p:cNvSpPr/>
          <p:nvPr/>
        </p:nvSpPr>
        <p:spPr>
          <a:xfrm>
            <a:off x="7736562" y="3538657"/>
            <a:ext cx="5438537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print(math.sqrt(25))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55349" y="4182308"/>
            <a:ext cx="580096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55349" y="4647724"/>
            <a:ext cx="580096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Raise numbers to a power with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math.pow()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555349" y="5156002"/>
            <a:ext cx="5800963" cy="572095"/>
          </a:xfrm>
          <a:prstGeom prst="roundRect">
            <a:avLst>
              <a:gd name="adj" fmla="val 14007"/>
            </a:avLst>
          </a:prstGeom>
          <a:solidFill>
            <a:srgbClr val="EDECE8"/>
          </a:solidFill>
          <a:ln/>
        </p:spPr>
      </p:sp>
      <p:sp>
        <p:nvSpPr>
          <p:cNvPr id="18" name="Shape 16"/>
          <p:cNvSpPr/>
          <p:nvPr/>
        </p:nvSpPr>
        <p:spPr>
          <a:xfrm>
            <a:off x="7545824" y="5156002"/>
            <a:ext cx="5820013" cy="572095"/>
          </a:xfrm>
          <a:prstGeom prst="roundRect">
            <a:avLst>
              <a:gd name="adj" fmla="val 5002"/>
            </a:avLst>
          </a:prstGeom>
          <a:solidFill>
            <a:srgbClr val="EDECE8"/>
          </a:solidFill>
          <a:ln/>
        </p:spPr>
      </p:sp>
      <p:sp>
        <p:nvSpPr>
          <p:cNvPr id="19" name="Text 17"/>
          <p:cNvSpPr/>
          <p:nvPr/>
        </p:nvSpPr>
        <p:spPr>
          <a:xfrm>
            <a:off x="7736562" y="5298996"/>
            <a:ext cx="5438537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print(math.pow(5, 2))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55349" y="5942648"/>
            <a:ext cx="5800963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25.0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81470" y="6622613"/>
            <a:ext cx="12067342" cy="1085255"/>
          </a:xfrm>
          <a:prstGeom prst="roundRect">
            <a:avLst>
              <a:gd name="adj" fmla="val 7384"/>
            </a:avLst>
          </a:prstGeom>
          <a:solidFill>
            <a:srgbClr val="C6E4EB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2208" y="6899791"/>
            <a:ext cx="238482" cy="19073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901428" y="6860977"/>
            <a:ext cx="1125664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math.pow()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available, the exponentiation operator (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is more commonly used in Python for raising numbers to a power. Both achieve the same result.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3701"/>
            <a:ext cx="1188970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Expressions and Statements: The Building Blocks of Code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054304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difference between expressions and statements is fundamental to writing effective Python programs.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89778"/>
            <a:ext cx="6407944" cy="3610689"/>
          </a:xfrm>
          <a:prstGeom prst="roundRect">
            <a:avLst>
              <a:gd name="adj" fmla="val 4052"/>
            </a:avLst>
          </a:prstGeom>
          <a:solidFill>
            <a:srgbClr val="FAF9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59298"/>
            <a:ext cx="6407944" cy="1219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40" y="2649617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61614" y="281975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051084" y="3556754"/>
            <a:ext cx="45897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Expressions: Values and Operations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51084" y="4047173"/>
            <a:ext cx="589335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expression is a combination of values, variables, and operators that Python evaluates to produce a result. They have a value.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1051084" y="5322808"/>
            <a:ext cx="5893356" cy="680204"/>
          </a:xfrm>
          <a:prstGeom prst="roundRect">
            <a:avLst>
              <a:gd name="adj" fmla="val 14006"/>
            </a:avLst>
          </a:prstGeom>
          <a:solidFill>
            <a:srgbClr val="EDECE8"/>
          </a:solidFill>
          <a:ln/>
        </p:spPr>
      </p:sp>
      <p:sp>
        <p:nvSpPr>
          <p:cNvPr id="11" name="Shape 7"/>
          <p:cNvSpPr/>
          <p:nvPr/>
        </p:nvSpPr>
        <p:spPr>
          <a:xfrm>
            <a:off x="1039773" y="5322808"/>
            <a:ext cx="5915978" cy="680204"/>
          </a:xfrm>
          <a:prstGeom prst="roundRect">
            <a:avLst>
              <a:gd name="adj" fmla="val 5002"/>
            </a:avLst>
          </a:prstGeom>
          <a:solidFill>
            <a:srgbClr val="EDECE8"/>
          </a:solidFill>
          <a:ln/>
        </p:spPr>
      </p:sp>
      <p:sp>
        <p:nvSpPr>
          <p:cNvPr id="12" name="Text 8"/>
          <p:cNvSpPr/>
          <p:nvPr/>
        </p:nvSpPr>
        <p:spPr>
          <a:xfrm>
            <a:off x="1266587" y="5492829"/>
            <a:ext cx="5462349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19 + n + round(math.pi) * 2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428548" y="2989778"/>
            <a:ext cx="6408063" cy="3610689"/>
          </a:xfrm>
          <a:prstGeom prst="roundRect">
            <a:avLst>
              <a:gd name="adj" fmla="val 4052"/>
            </a:avLst>
          </a:prstGeom>
          <a:solidFill>
            <a:srgbClr val="FAF9F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2959298"/>
            <a:ext cx="6408063" cy="12192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2649617"/>
            <a:ext cx="680442" cy="68044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496371" y="281975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Text 11"/>
          <p:cNvSpPr/>
          <p:nvPr/>
        </p:nvSpPr>
        <p:spPr>
          <a:xfrm>
            <a:off x="7685842" y="3556754"/>
            <a:ext cx="41381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Statements: Actions and Effects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685842" y="4047173"/>
            <a:ext cx="589347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statement is a unit of code that performs an action or has an effect, but doesn't necessarily produce a value itself.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7685842" y="5322808"/>
            <a:ext cx="5893475" cy="1020366"/>
          </a:xfrm>
          <a:prstGeom prst="roundRect">
            <a:avLst>
              <a:gd name="adj" fmla="val 9337"/>
            </a:avLst>
          </a:prstGeom>
          <a:solidFill>
            <a:srgbClr val="EDECE8"/>
          </a:solidFill>
          <a:ln/>
        </p:spPr>
      </p:sp>
      <p:sp>
        <p:nvSpPr>
          <p:cNvPr id="20" name="Shape 14"/>
          <p:cNvSpPr/>
          <p:nvPr/>
        </p:nvSpPr>
        <p:spPr>
          <a:xfrm>
            <a:off x="7674531" y="5322808"/>
            <a:ext cx="5916097" cy="1020366"/>
          </a:xfrm>
          <a:prstGeom prst="roundRect">
            <a:avLst>
              <a:gd name="adj" fmla="val 3335"/>
            </a:avLst>
          </a:prstGeom>
          <a:solidFill>
            <a:srgbClr val="EDECE8"/>
          </a:solidFill>
          <a:ln/>
        </p:spPr>
      </p:sp>
      <p:sp>
        <p:nvSpPr>
          <p:cNvPr id="21" name="Text 15"/>
          <p:cNvSpPr/>
          <p:nvPr/>
        </p:nvSpPr>
        <p:spPr>
          <a:xfrm>
            <a:off x="7901345" y="5492829"/>
            <a:ext cx="5462468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 = 17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750" dirty="0"/>
          </a:p>
        </p:txBody>
      </p:sp>
      <p:sp>
        <p:nvSpPr>
          <p:cNvPr id="22" name="Text 16"/>
          <p:cNvSpPr/>
          <p:nvPr/>
        </p:nvSpPr>
        <p:spPr>
          <a:xfrm>
            <a:off x="793790" y="6855619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Computing the value of an expression is called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evaluation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while running a statement is called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execution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8808" y="565904"/>
            <a:ext cx="7978378" cy="534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</a:t>
            </a:r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Function: Displaying Information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938808" y="1503521"/>
            <a:ext cx="12752665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is essential for viewing the output of your code and debugging. It allows you to display values and messages to the console.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303651" y="2334935"/>
            <a:ext cx="22860" cy="4799528"/>
          </a:xfrm>
          <a:prstGeom prst="roundRect">
            <a:avLst>
              <a:gd name="adj" fmla="val 370439"/>
            </a:avLst>
          </a:prstGeom>
          <a:solidFill>
            <a:srgbClr val="BFD3D8"/>
          </a:solidFill>
          <a:ln/>
        </p:spPr>
      </p:sp>
      <p:sp>
        <p:nvSpPr>
          <p:cNvPr id="5" name="Shape 3"/>
          <p:cNvSpPr/>
          <p:nvPr/>
        </p:nvSpPr>
        <p:spPr>
          <a:xfrm>
            <a:off x="6934795" y="2550319"/>
            <a:ext cx="403146" cy="22860"/>
          </a:xfrm>
          <a:prstGeom prst="roundRect">
            <a:avLst>
              <a:gd name="adj" fmla="val 370439"/>
            </a:avLst>
          </a:prstGeom>
          <a:solidFill>
            <a:srgbClr val="BFD3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476" y="2486144"/>
            <a:ext cx="151209" cy="1512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71242" y="2404229"/>
            <a:ext cx="3237428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Single Expression Evaluation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38808" y="2840236"/>
            <a:ext cx="5569863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evaluate a single expression in an interactive environment, its value is automatically displayed.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938808" y="3671649"/>
            <a:ext cx="5569863" cy="604718"/>
          </a:xfrm>
          <a:prstGeom prst="roundRect">
            <a:avLst>
              <a:gd name="adj" fmla="val 14004"/>
            </a:avLst>
          </a:prstGeom>
          <a:solidFill>
            <a:srgbClr val="EDECE8"/>
          </a:solidFill>
          <a:ln/>
        </p:spPr>
      </p:sp>
      <p:sp>
        <p:nvSpPr>
          <p:cNvPr id="10" name="Shape 7"/>
          <p:cNvSpPr/>
          <p:nvPr/>
        </p:nvSpPr>
        <p:spPr>
          <a:xfrm>
            <a:off x="928807" y="3671649"/>
            <a:ext cx="5589865" cy="604718"/>
          </a:xfrm>
          <a:prstGeom prst="roundRect">
            <a:avLst>
              <a:gd name="adj" fmla="val 5001"/>
            </a:avLst>
          </a:prstGeom>
          <a:solidFill>
            <a:srgbClr val="EDECE8"/>
          </a:solidFill>
          <a:ln/>
        </p:spPr>
      </p:sp>
      <p:sp>
        <p:nvSpPr>
          <p:cNvPr id="11" name="Text 8"/>
          <p:cNvSpPr/>
          <p:nvPr/>
        </p:nvSpPr>
        <p:spPr>
          <a:xfrm>
            <a:off x="1130379" y="3822859"/>
            <a:ext cx="5186720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 + 1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7292221" y="3759875"/>
            <a:ext cx="403146" cy="22860"/>
          </a:xfrm>
          <a:prstGeom prst="roundRect">
            <a:avLst>
              <a:gd name="adj" fmla="val 370439"/>
            </a:avLst>
          </a:prstGeom>
          <a:solidFill>
            <a:srgbClr val="BFD3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476" y="3695700"/>
            <a:ext cx="151209" cy="15120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21491" y="3613785"/>
            <a:ext cx="2520196" cy="315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Multiple Expressions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8121491" y="4049792"/>
            <a:ext cx="5569982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the last expression's value is displayed if multiple are evaluated sequentially without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8121491" y="4881205"/>
            <a:ext cx="5569982" cy="907018"/>
          </a:xfrm>
          <a:prstGeom prst="roundRect">
            <a:avLst>
              <a:gd name="adj" fmla="val 9336"/>
            </a:avLst>
          </a:prstGeom>
          <a:solidFill>
            <a:srgbClr val="EDECE8"/>
          </a:solidFill>
          <a:ln/>
        </p:spPr>
      </p:sp>
      <p:sp>
        <p:nvSpPr>
          <p:cNvPr id="17" name="Shape 13"/>
          <p:cNvSpPr/>
          <p:nvPr/>
        </p:nvSpPr>
        <p:spPr>
          <a:xfrm>
            <a:off x="8111490" y="4881205"/>
            <a:ext cx="5589984" cy="907018"/>
          </a:xfrm>
          <a:prstGeom prst="roundRect">
            <a:avLst>
              <a:gd name="adj" fmla="val 3334"/>
            </a:avLst>
          </a:prstGeom>
          <a:solidFill>
            <a:srgbClr val="EDECE8"/>
          </a:solidFill>
          <a:ln/>
        </p:spPr>
      </p:sp>
      <p:sp>
        <p:nvSpPr>
          <p:cNvPr id="18" name="Text 14"/>
          <p:cNvSpPr/>
          <p:nvPr/>
        </p:nvSpPr>
        <p:spPr>
          <a:xfrm>
            <a:off x="8313063" y="5032415"/>
            <a:ext cx="5186839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 + 2</a:t>
            </a:r>
            <a:endParaRPr lang="en-US" sz="15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 + 3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6934795" y="5083254"/>
            <a:ext cx="403146" cy="22860"/>
          </a:xfrm>
          <a:prstGeom prst="roundRect">
            <a:avLst>
              <a:gd name="adj" fmla="val 370439"/>
            </a:avLst>
          </a:prstGeom>
          <a:solidFill>
            <a:srgbClr val="BFD3D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476" y="5019080"/>
            <a:ext cx="151209" cy="15120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45481" y="4937165"/>
            <a:ext cx="2663190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Using </a:t>
            </a:r>
            <a:pPr algn="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for Clarity</a:t>
            </a:r>
            <a:endParaRPr lang="en-US" sz="1950" dirty="0"/>
          </a:p>
        </p:txBody>
      </p:sp>
      <p:sp>
        <p:nvSpPr>
          <p:cNvPr id="22" name="Text 17"/>
          <p:cNvSpPr/>
          <p:nvPr/>
        </p:nvSpPr>
        <p:spPr>
          <a:xfrm>
            <a:off x="938808" y="5396032"/>
            <a:ext cx="5569863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pPr algn="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explicitly display multiple values or combine text with variable values.</a:t>
            </a:r>
            <a:endParaRPr lang="en-US" sz="1550" dirty="0"/>
          </a:p>
        </p:txBody>
      </p:sp>
      <p:sp>
        <p:nvSpPr>
          <p:cNvPr id="23" name="Shape 18"/>
          <p:cNvSpPr/>
          <p:nvPr/>
        </p:nvSpPr>
        <p:spPr>
          <a:xfrm>
            <a:off x="938808" y="6227445"/>
            <a:ext cx="5569863" cy="907018"/>
          </a:xfrm>
          <a:prstGeom prst="roundRect">
            <a:avLst>
              <a:gd name="adj" fmla="val 9336"/>
            </a:avLst>
          </a:prstGeom>
          <a:solidFill>
            <a:srgbClr val="EDECE8"/>
          </a:solidFill>
          <a:ln/>
        </p:spPr>
      </p:sp>
      <p:sp>
        <p:nvSpPr>
          <p:cNvPr id="24" name="Shape 19"/>
          <p:cNvSpPr/>
          <p:nvPr/>
        </p:nvSpPr>
        <p:spPr>
          <a:xfrm>
            <a:off x="928807" y="6227445"/>
            <a:ext cx="5589865" cy="907018"/>
          </a:xfrm>
          <a:prstGeom prst="roundRect">
            <a:avLst>
              <a:gd name="adj" fmla="val 3334"/>
            </a:avLst>
          </a:prstGeom>
          <a:solidFill>
            <a:srgbClr val="EDECE8"/>
          </a:solidFill>
          <a:ln/>
        </p:spPr>
      </p:sp>
      <p:sp>
        <p:nvSpPr>
          <p:cNvPr id="25" name="Text 20"/>
          <p:cNvSpPr/>
          <p:nvPr/>
        </p:nvSpPr>
        <p:spPr>
          <a:xfrm>
            <a:off x="1130379" y="6378654"/>
            <a:ext cx="5186720" cy="604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print(n + 2)</a:t>
            </a:r>
            <a:endParaRPr lang="en-US" sz="1550" dirty="0"/>
          </a:p>
          <a:p>
            <a:pPr algn="r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print('Value of pi:', math.pi)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938808" y="7361277"/>
            <a:ext cx="12752665" cy="30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conveniently adds spaces between comma-separated values.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8380"/>
            <a:ext cx="750022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Function Arguments: Providing Input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348984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you call a function, the values you pass inside the parentheses are called </a:t>
            </a:r>
            <a:pPr algn="l" indent="0" marL="0">
              <a:lnSpc>
                <a:spcPts val="2650"/>
              </a:lnSpc>
              <a:buNone/>
            </a:pPr>
            <a:r>
              <a:rPr lang="en-US" sz="17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arguments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Arguments provide the necessary input for a function to perform its task.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284458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419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Single Argument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3909536"/>
            <a:ext cx="3308152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Some functions, like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type conversion, take one argument.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644253" y="5192792"/>
            <a:ext cx="3308152" cy="680204"/>
          </a:xfrm>
          <a:prstGeom prst="roundRect">
            <a:avLst>
              <a:gd name="adj" fmla="val 14006"/>
            </a:avLst>
          </a:prstGeom>
          <a:solidFill>
            <a:srgbClr val="EDECE8"/>
          </a:solidFill>
          <a:ln/>
        </p:spPr>
      </p:sp>
      <p:sp>
        <p:nvSpPr>
          <p:cNvPr id="8" name="Shape 5"/>
          <p:cNvSpPr/>
          <p:nvPr/>
        </p:nvSpPr>
        <p:spPr>
          <a:xfrm>
            <a:off x="1632942" y="5192792"/>
            <a:ext cx="3330773" cy="680204"/>
          </a:xfrm>
          <a:prstGeom prst="roundRect">
            <a:avLst>
              <a:gd name="adj" fmla="val 5002"/>
            </a:avLst>
          </a:prstGeom>
          <a:solidFill>
            <a:srgbClr val="EDECE8"/>
          </a:solidFill>
          <a:ln/>
        </p:spPr>
      </p:sp>
      <p:sp>
        <p:nvSpPr>
          <p:cNvPr id="9" name="Text 6"/>
          <p:cNvSpPr/>
          <p:nvPr/>
        </p:nvSpPr>
        <p:spPr>
          <a:xfrm>
            <a:off x="1859756" y="5362813"/>
            <a:ext cx="287714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int('101')</a:t>
            </a:r>
            <a:endParaRPr lang="en-US" sz="17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284458"/>
            <a:ext cx="566976" cy="5669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86356" y="3419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Multiple Arguments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086356" y="3909536"/>
            <a:ext cx="3308152" cy="687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Functions like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math.pow()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require two or more arguments.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6086356" y="4852630"/>
            <a:ext cx="3308152" cy="680204"/>
          </a:xfrm>
          <a:prstGeom prst="roundRect">
            <a:avLst>
              <a:gd name="adj" fmla="val 14006"/>
            </a:avLst>
          </a:prstGeom>
          <a:solidFill>
            <a:srgbClr val="EDECE8"/>
          </a:solidFill>
          <a:ln/>
        </p:spPr>
      </p:sp>
      <p:sp>
        <p:nvSpPr>
          <p:cNvPr id="14" name="Shape 10"/>
          <p:cNvSpPr/>
          <p:nvPr/>
        </p:nvSpPr>
        <p:spPr>
          <a:xfrm>
            <a:off x="6075045" y="4852630"/>
            <a:ext cx="3330773" cy="680204"/>
          </a:xfrm>
          <a:prstGeom prst="roundRect">
            <a:avLst>
              <a:gd name="adj" fmla="val 5002"/>
            </a:avLst>
          </a:prstGeom>
          <a:solidFill>
            <a:srgbClr val="EDECE8"/>
          </a:solidFill>
          <a:ln/>
        </p:spPr>
      </p:sp>
      <p:sp>
        <p:nvSpPr>
          <p:cNvPr id="15" name="Text 11"/>
          <p:cNvSpPr/>
          <p:nvPr/>
        </p:nvSpPr>
        <p:spPr>
          <a:xfrm>
            <a:off x="6301859" y="5022652"/>
            <a:ext cx="287714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math.pow(5, 2)</a:t>
            </a:r>
            <a:endParaRPr lang="en-US" sz="17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284458"/>
            <a:ext cx="566976" cy="5669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28459" y="34191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Optional Arguments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10528459" y="3909536"/>
            <a:ext cx="3308152" cy="171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functions offer optional arguments to modify their behavior, such as specifying the base in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decimal places in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round()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sp>
        <p:nvSpPr>
          <p:cNvPr id="19" name="Shape 14"/>
          <p:cNvSpPr/>
          <p:nvPr/>
        </p:nvSpPr>
        <p:spPr>
          <a:xfrm>
            <a:off x="10528459" y="5880735"/>
            <a:ext cx="3308152" cy="1020366"/>
          </a:xfrm>
          <a:prstGeom prst="roundRect">
            <a:avLst>
              <a:gd name="adj" fmla="val 9337"/>
            </a:avLst>
          </a:prstGeom>
          <a:solidFill>
            <a:srgbClr val="EDECE8"/>
          </a:solidFill>
          <a:ln/>
        </p:spPr>
      </p:sp>
      <p:sp>
        <p:nvSpPr>
          <p:cNvPr id="20" name="Shape 15"/>
          <p:cNvSpPr/>
          <p:nvPr/>
        </p:nvSpPr>
        <p:spPr>
          <a:xfrm>
            <a:off x="10517148" y="5880735"/>
            <a:ext cx="3330773" cy="1020366"/>
          </a:xfrm>
          <a:prstGeom prst="roundRect">
            <a:avLst>
              <a:gd name="adj" fmla="val 3335"/>
            </a:avLst>
          </a:prstGeom>
          <a:solidFill>
            <a:srgbClr val="EDECE8"/>
          </a:solidFill>
          <a:ln/>
        </p:spPr>
      </p:sp>
      <p:sp>
        <p:nvSpPr>
          <p:cNvPr id="21" name="Text 16"/>
          <p:cNvSpPr/>
          <p:nvPr/>
        </p:nvSpPr>
        <p:spPr>
          <a:xfrm>
            <a:off x="10743962" y="6050756"/>
            <a:ext cx="287714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int('101', 2)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round(math.pi, 3)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426" y="736997"/>
            <a:ext cx="6436162" cy="527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Comments: Explaining Your Code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38426" y="1686401"/>
            <a:ext cx="13153549" cy="632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 programs grow in complexity, comments become invaluable. They are notes in natural language that explain what your code does and, more importantly, why.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054894" y="2793921"/>
            <a:ext cx="12837081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Comments start with the 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symbol.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Everything from 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the end of the line is ignored by Python.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38426" y="2556629"/>
            <a:ext cx="22860" cy="798671"/>
          </a:xfrm>
          <a:prstGeom prst="rect">
            <a:avLst/>
          </a:prstGeom>
          <a:solidFill>
            <a:srgbClr val="95CCDA"/>
          </a:solidFill>
          <a:ln/>
        </p:spPr>
      </p:sp>
      <p:sp>
        <p:nvSpPr>
          <p:cNvPr id="6" name="Text 4"/>
          <p:cNvSpPr/>
          <p:nvPr/>
        </p:nvSpPr>
        <p:spPr>
          <a:xfrm>
            <a:off x="738426" y="3803571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Inline Comments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738426" y="4370427"/>
            <a:ext cx="6319361" cy="632936"/>
          </a:xfrm>
          <a:prstGeom prst="roundRect">
            <a:avLst>
              <a:gd name="adj" fmla="val 14002"/>
            </a:avLst>
          </a:prstGeom>
          <a:solidFill>
            <a:srgbClr val="EDECE8"/>
          </a:solidFill>
          <a:ln/>
        </p:spPr>
      </p:sp>
      <p:sp>
        <p:nvSpPr>
          <p:cNvPr id="8" name="Shape 6"/>
          <p:cNvSpPr/>
          <p:nvPr/>
        </p:nvSpPr>
        <p:spPr>
          <a:xfrm>
            <a:off x="727948" y="4370427"/>
            <a:ext cx="6340316" cy="632936"/>
          </a:xfrm>
          <a:prstGeom prst="roundRect">
            <a:avLst>
              <a:gd name="adj" fmla="val 5001"/>
            </a:avLst>
          </a:prstGeom>
          <a:solidFill>
            <a:srgbClr val="EDECE8"/>
          </a:solidFill>
          <a:ln/>
        </p:spPr>
      </p:sp>
      <p:sp>
        <p:nvSpPr>
          <p:cNvPr id="9" name="Text 7"/>
          <p:cNvSpPr/>
          <p:nvPr/>
        </p:nvSpPr>
        <p:spPr>
          <a:xfrm>
            <a:off x="938927" y="4528661"/>
            <a:ext cx="5918359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miles = 10 / 1.61 # 10 km in miles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38426" y="5240655"/>
            <a:ext cx="6319361" cy="632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inline comments for brief explanations on the same line as code.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80233" y="3803571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Block Comments</a:t>
            </a:r>
            <a:endParaRPr lang="en-US" sz="2050" dirty="0"/>
          </a:p>
        </p:txBody>
      </p:sp>
      <p:sp>
        <p:nvSpPr>
          <p:cNvPr id="12" name="Shape 10"/>
          <p:cNvSpPr/>
          <p:nvPr/>
        </p:nvSpPr>
        <p:spPr>
          <a:xfrm>
            <a:off x="7580233" y="4370427"/>
            <a:ext cx="6319361" cy="949404"/>
          </a:xfrm>
          <a:prstGeom prst="roundRect">
            <a:avLst>
              <a:gd name="adj" fmla="val 9334"/>
            </a:avLst>
          </a:prstGeom>
          <a:solidFill>
            <a:srgbClr val="EDECE8"/>
          </a:solidFill>
          <a:ln/>
        </p:spPr>
      </p:sp>
      <p:sp>
        <p:nvSpPr>
          <p:cNvPr id="13" name="Shape 11"/>
          <p:cNvSpPr/>
          <p:nvPr/>
        </p:nvSpPr>
        <p:spPr>
          <a:xfrm>
            <a:off x="7569756" y="4370427"/>
            <a:ext cx="6340316" cy="949404"/>
          </a:xfrm>
          <a:prstGeom prst="roundRect">
            <a:avLst>
              <a:gd name="adj" fmla="val 3334"/>
            </a:avLst>
          </a:prstGeom>
          <a:solidFill>
            <a:srgbClr val="EDECE8"/>
          </a:solidFill>
          <a:ln/>
        </p:spPr>
      </p:sp>
      <p:sp>
        <p:nvSpPr>
          <p:cNvPr id="14" name="Text 12"/>
          <p:cNvSpPr/>
          <p:nvPr/>
        </p:nvSpPr>
        <p:spPr>
          <a:xfrm>
            <a:off x="7780734" y="4528661"/>
            <a:ext cx="5918359" cy="632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 seconds in 42:42</a:t>
            </a:r>
            <a:endParaRPr lang="en-US" sz="1650" dirty="0"/>
          </a:p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seconds = 42 * 60 + 42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80233" y="5557123"/>
            <a:ext cx="6319361" cy="632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block comments on separate lines for more detailed explanations.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38426" y="6617137"/>
            <a:ext cx="13153549" cy="875467"/>
          </a:xfrm>
          <a:prstGeom prst="roundRect">
            <a:avLst>
              <a:gd name="adj" fmla="val 10123"/>
            </a:avLst>
          </a:prstGeom>
          <a:solidFill>
            <a:srgbClr val="C6E4EB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404" y="6924794"/>
            <a:ext cx="263723" cy="21097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24107" y="6880860"/>
            <a:ext cx="12256889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comments explain the "why" behind the code, not just the "what". Avoid redundant comments that merely restate the obvious.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60627" y="694253"/>
            <a:ext cx="5981819" cy="407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Debugging: Identifying and Fixing Errors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160627" y="1427559"/>
            <a:ext cx="10309027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Errors are a natural part of programming. Understanding the three main types of errors will help you debug your code more efficiently.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878699" y="1855351"/>
            <a:ext cx="1718072" cy="1839039"/>
          </a:xfrm>
          <a:prstGeom prst="roundRect">
            <a:avLst>
              <a:gd name="adj" fmla="val 3984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05006" y="2660213"/>
            <a:ext cx="229195" cy="22919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59648" y="2018228"/>
            <a:ext cx="2037278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Syntax Errors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59648" y="2370534"/>
            <a:ext cx="6547128" cy="488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are structural errors that prevent Python from even running your program. Python will immediately display an error message.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041577" y="3042761"/>
            <a:ext cx="8265200" cy="488752"/>
          </a:xfrm>
          <a:prstGeom prst="roundRect">
            <a:avLst>
              <a:gd name="adj" fmla="val 14006"/>
            </a:avLst>
          </a:prstGeom>
          <a:solidFill>
            <a:srgbClr val="EDECE8"/>
          </a:solidFill>
          <a:ln/>
        </p:spPr>
      </p:sp>
      <p:sp>
        <p:nvSpPr>
          <p:cNvPr id="9" name="Shape 6"/>
          <p:cNvSpPr/>
          <p:nvPr/>
        </p:nvSpPr>
        <p:spPr>
          <a:xfrm>
            <a:off x="4033480" y="3042761"/>
            <a:ext cx="8281392" cy="488752"/>
          </a:xfrm>
          <a:prstGeom prst="roundRect">
            <a:avLst>
              <a:gd name="adj" fmla="val 5002"/>
            </a:avLst>
          </a:prstGeom>
          <a:solidFill>
            <a:srgbClr val="EDECE8"/>
          </a:solidFill>
          <a:ln/>
        </p:spPr>
      </p:sp>
      <p:sp>
        <p:nvSpPr>
          <p:cNvPr id="10" name="Text 7"/>
          <p:cNvSpPr/>
          <p:nvPr/>
        </p:nvSpPr>
        <p:spPr>
          <a:xfrm>
            <a:off x="5914430" y="3164919"/>
            <a:ext cx="6237565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million! = 1000000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960138" y="3684865"/>
            <a:ext cx="8428077" cy="11430"/>
          </a:xfrm>
          <a:prstGeom prst="roundRect">
            <a:avLst>
              <a:gd name="adj" fmla="val 598914"/>
            </a:avLst>
          </a:prstGeom>
          <a:solidFill>
            <a:srgbClr val="BFD3D8"/>
          </a:solidFill>
          <a:ln/>
        </p:spPr>
      </p:sp>
      <p:sp>
        <p:nvSpPr>
          <p:cNvPr id="12" name="Shape 9"/>
          <p:cNvSpPr/>
          <p:nvPr/>
        </p:nvSpPr>
        <p:spPr>
          <a:xfrm>
            <a:off x="3019663" y="3775829"/>
            <a:ext cx="3436263" cy="1839039"/>
          </a:xfrm>
          <a:prstGeom prst="roundRect">
            <a:avLst>
              <a:gd name="adj" fmla="val 372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4161" y="4580692"/>
            <a:ext cx="229195" cy="22919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618803" y="3938707"/>
            <a:ext cx="2589967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Runtime Errors (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C3643D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Exceptions</a:t>
            </a:r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18803" y="4291012"/>
            <a:ext cx="5687973" cy="488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program starts, but something goes wrong during execution. Python stops and displays an error, also known as an exception.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759768" y="4963239"/>
            <a:ext cx="6547009" cy="488752"/>
          </a:xfrm>
          <a:prstGeom prst="roundRect">
            <a:avLst>
              <a:gd name="adj" fmla="val 14006"/>
            </a:avLst>
          </a:prstGeom>
          <a:solidFill>
            <a:srgbClr val="EDECE8"/>
          </a:solidFill>
          <a:ln/>
        </p:spPr>
      </p:sp>
      <p:sp>
        <p:nvSpPr>
          <p:cNvPr id="17" name="Shape 13"/>
          <p:cNvSpPr/>
          <p:nvPr/>
        </p:nvSpPr>
        <p:spPr>
          <a:xfrm>
            <a:off x="5751671" y="4963239"/>
            <a:ext cx="6563201" cy="488752"/>
          </a:xfrm>
          <a:prstGeom prst="roundRect">
            <a:avLst>
              <a:gd name="adj" fmla="val 5002"/>
            </a:avLst>
          </a:prstGeom>
          <a:solidFill>
            <a:srgbClr val="EDECE8"/>
          </a:solidFill>
          <a:ln/>
        </p:spPr>
      </p:sp>
      <p:sp>
        <p:nvSpPr>
          <p:cNvPr id="18" name="Text 14"/>
          <p:cNvSpPr/>
          <p:nvPr/>
        </p:nvSpPr>
        <p:spPr>
          <a:xfrm>
            <a:off x="6773585" y="5085398"/>
            <a:ext cx="5378410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'126' / 3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678329" y="5605343"/>
            <a:ext cx="6709886" cy="11430"/>
          </a:xfrm>
          <a:prstGeom prst="roundRect">
            <a:avLst>
              <a:gd name="adj" fmla="val 598914"/>
            </a:avLst>
          </a:prstGeom>
          <a:solidFill>
            <a:srgbClr val="BFD3D8"/>
          </a:solidFill>
          <a:ln/>
        </p:spPr>
      </p:sp>
      <p:sp>
        <p:nvSpPr>
          <p:cNvPr id="20" name="Shape 16"/>
          <p:cNvSpPr/>
          <p:nvPr/>
        </p:nvSpPr>
        <p:spPr>
          <a:xfrm>
            <a:off x="2160627" y="5696307"/>
            <a:ext cx="5154454" cy="1839039"/>
          </a:xfrm>
          <a:prstGeom prst="roundRect">
            <a:avLst>
              <a:gd name="adj" fmla="val 372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3197" y="6501170"/>
            <a:ext cx="229195" cy="22919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77958" y="5859185"/>
            <a:ext cx="2037278" cy="25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Semantic Errors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7477958" y="6211491"/>
            <a:ext cx="4828818" cy="488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trickiest errors. Your program runs without error messages, but it doesn't do what you intended. The logic is flawed.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7477958" y="6883718"/>
            <a:ext cx="4828818" cy="488752"/>
          </a:xfrm>
          <a:prstGeom prst="roundRect">
            <a:avLst>
              <a:gd name="adj" fmla="val 14006"/>
            </a:avLst>
          </a:prstGeom>
          <a:solidFill>
            <a:srgbClr val="EDECE8"/>
          </a:solidFill>
          <a:ln/>
        </p:spPr>
      </p:sp>
      <p:sp>
        <p:nvSpPr>
          <p:cNvPr id="25" name="Shape 20"/>
          <p:cNvSpPr/>
          <p:nvPr/>
        </p:nvSpPr>
        <p:spPr>
          <a:xfrm>
            <a:off x="7469862" y="6883718"/>
            <a:ext cx="4845010" cy="488752"/>
          </a:xfrm>
          <a:prstGeom prst="roundRect">
            <a:avLst>
              <a:gd name="adj" fmla="val 5002"/>
            </a:avLst>
          </a:prstGeom>
          <a:solidFill>
            <a:srgbClr val="EDECE8"/>
          </a:solidFill>
          <a:ln/>
        </p:spPr>
      </p:sp>
      <p:sp>
        <p:nvSpPr>
          <p:cNvPr id="26" name="Text 21"/>
          <p:cNvSpPr/>
          <p:nvPr/>
        </p:nvSpPr>
        <p:spPr>
          <a:xfrm>
            <a:off x="7632740" y="7005876"/>
            <a:ext cx="4519255" cy="244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 + 3 / 2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2026-01-15T03:24:55Z</dcterms:created>
  <dcterms:modified xsi:type="dcterms:W3CDTF">2026-01-15T03:24:55Z</dcterms:modified>
</cp:coreProperties>
</file>