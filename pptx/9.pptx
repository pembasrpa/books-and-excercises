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Host Grotesk Medium"/>
      <p:regular r:id="rId13"/>
    </p:embeddedFont>
    <p:embeddedFont>
      <p:font typeface="Host Grotesk Medium"/>
      <p:regular r:id="rId14"/>
    </p:embeddedFont>
    <p:embeddedFont>
      <p:font typeface="Host Grotesk Medium"/>
      <p:regular r:id="rId15"/>
    </p:embeddedFont>
    <p:embeddedFont>
      <p:font typeface="Host Grotesk Medium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3904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Cracking Python Lists: Identity, Aliasing, and Best Practices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710232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the nuances of Python lists, focusing on object identity, the implications of aliasing, and effective strategies for managing mutable data structures. We'll cover essential list operations and common pitfalls.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812" y="779859"/>
            <a:ext cx="1668899" cy="401479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14638" y="846772"/>
            <a:ext cx="1401247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0812" y="1270516"/>
            <a:ext cx="9788128" cy="557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List Operations &amp; Object Identity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80812" y="2162889"/>
            <a:ext cx="4207550" cy="5286851"/>
          </a:xfrm>
          <a:prstGeom prst="roundRect">
            <a:avLst>
              <a:gd name="adj" fmla="val 3477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332" y="2162889"/>
            <a:ext cx="121920" cy="52868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5736" y="2416373"/>
            <a:ext cx="3609142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'for' Loop with Empty Lists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125736" y="3247192"/>
            <a:ext cx="3609142" cy="201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loop iterating over an empty list will simply not execute its indented statements. This behavior is crucial for writing robust code that handles empty collections gracefully.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125736" y="5513903"/>
            <a:ext cx="3609142" cy="1003935"/>
          </a:xfrm>
          <a:prstGeom prst="roundRect">
            <a:avLst>
              <a:gd name="adj" fmla="val 9334"/>
            </a:avLst>
          </a:prstGeom>
          <a:solidFill>
            <a:srgbClr val="EDECE8"/>
          </a:solidFill>
          <a:ln/>
        </p:spPr>
      </p:sp>
      <p:sp>
        <p:nvSpPr>
          <p:cNvPr id="10" name="Shape 7"/>
          <p:cNvSpPr/>
          <p:nvPr/>
        </p:nvSpPr>
        <p:spPr>
          <a:xfrm>
            <a:off x="1114663" y="5513903"/>
            <a:ext cx="3631287" cy="1003935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1" name="Text 8"/>
          <p:cNvSpPr/>
          <p:nvPr/>
        </p:nvSpPr>
        <p:spPr>
          <a:xfrm>
            <a:off x="1337667" y="5681186"/>
            <a:ext cx="3185279" cy="6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[]:</a:t>
            </a:r>
            <a:endParaRPr lang="en-US" sz="17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print('This never happens.')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211366" y="2162889"/>
            <a:ext cx="4207550" cy="5286851"/>
          </a:xfrm>
          <a:prstGeom prst="roundRect">
            <a:avLst>
              <a:gd name="adj" fmla="val 3477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886" y="2162889"/>
            <a:ext cx="121920" cy="52868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6290" y="2416373"/>
            <a:ext cx="3300293" cy="371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Sorting Lists with 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5556290" y="2921556"/>
            <a:ext cx="3609142" cy="2350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Python's built-in 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creates a new sorted list from any iterable, leaving the original sequence unchanged. This emphasizes Python's functional programming aspects for data manipulation.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5556290" y="5522952"/>
            <a:ext cx="3609142" cy="1673304"/>
          </a:xfrm>
          <a:prstGeom prst="roundRect">
            <a:avLst>
              <a:gd name="adj" fmla="val 5600"/>
            </a:avLst>
          </a:prstGeom>
          <a:solidFill>
            <a:srgbClr val="EDECE8"/>
          </a:solidFill>
          <a:ln/>
        </p:spPr>
      </p:sp>
      <p:sp>
        <p:nvSpPr>
          <p:cNvPr id="17" name="Shape 13"/>
          <p:cNvSpPr/>
          <p:nvPr/>
        </p:nvSpPr>
        <p:spPr>
          <a:xfrm>
            <a:off x="5545217" y="5522952"/>
            <a:ext cx="3631287" cy="1673304"/>
          </a:xfrm>
          <a:prstGeom prst="roundRect">
            <a:avLst>
              <a:gd name="adj" fmla="val 2000"/>
            </a:avLst>
          </a:prstGeom>
          <a:solidFill>
            <a:srgbClr val="EDECE8"/>
          </a:solidFill>
          <a:ln/>
        </p:spPr>
      </p:sp>
      <p:sp>
        <p:nvSpPr>
          <p:cNvPr id="18" name="Text 14"/>
          <p:cNvSpPr/>
          <p:nvPr/>
        </p:nvSpPr>
        <p:spPr>
          <a:xfrm>
            <a:off x="5768221" y="5690235"/>
            <a:ext cx="3185279" cy="133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scramble = ['c', 'a', 'b']</a:t>
            </a:r>
            <a:endParaRPr lang="en-US" sz="17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sorted_list = sorted(scramble) # ['a', 'b', 'c']</a:t>
            </a:r>
            <a:endParaRPr lang="en-US" sz="17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scramble remains ['c', 'a', 'b']</a:t>
            </a:r>
            <a:endParaRPr lang="en-US" sz="1750" dirty="0"/>
          </a:p>
        </p:txBody>
      </p:sp>
      <p:sp>
        <p:nvSpPr>
          <p:cNvPr id="19" name="Shape 15"/>
          <p:cNvSpPr/>
          <p:nvPr/>
        </p:nvSpPr>
        <p:spPr>
          <a:xfrm>
            <a:off x="9641919" y="2162889"/>
            <a:ext cx="4207669" cy="5286851"/>
          </a:xfrm>
          <a:prstGeom prst="roundRect">
            <a:avLst>
              <a:gd name="adj" fmla="val 3477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439" y="2162889"/>
            <a:ext cx="121920" cy="52868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986843" y="2416373"/>
            <a:ext cx="301704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String Sorting &amp; Joining</a:t>
            </a:r>
            <a:endParaRPr lang="en-US" sz="2150" dirty="0"/>
          </a:p>
        </p:txBody>
      </p:sp>
      <p:sp>
        <p:nvSpPr>
          <p:cNvPr id="22" name="Text 17"/>
          <p:cNvSpPr/>
          <p:nvPr/>
        </p:nvSpPr>
        <p:spPr>
          <a:xfrm>
            <a:off x="9986843" y="2898696"/>
            <a:ext cx="3609261" cy="2023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isn't just for lists; it can sort characters in a string, returning them as a new list. Use 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''.join()</a:t>
            </a:r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convert this sorted list back into a string, a common pattern for anagram checks.</a:t>
            </a:r>
            <a:endParaRPr lang="en-US" sz="1750" dirty="0"/>
          </a:p>
        </p:txBody>
      </p:sp>
      <p:sp>
        <p:nvSpPr>
          <p:cNvPr id="23" name="Shape 18"/>
          <p:cNvSpPr/>
          <p:nvPr/>
        </p:nvSpPr>
        <p:spPr>
          <a:xfrm>
            <a:off x="9986843" y="5173028"/>
            <a:ext cx="3609261" cy="1673304"/>
          </a:xfrm>
          <a:prstGeom prst="roundRect">
            <a:avLst>
              <a:gd name="adj" fmla="val 5600"/>
            </a:avLst>
          </a:prstGeom>
          <a:solidFill>
            <a:srgbClr val="EDECE8"/>
          </a:solidFill>
          <a:ln/>
        </p:spPr>
      </p:sp>
      <p:sp>
        <p:nvSpPr>
          <p:cNvPr id="24" name="Shape 19"/>
          <p:cNvSpPr/>
          <p:nvPr/>
        </p:nvSpPr>
        <p:spPr>
          <a:xfrm>
            <a:off x="9975771" y="5173028"/>
            <a:ext cx="3631406" cy="1673304"/>
          </a:xfrm>
          <a:prstGeom prst="roundRect">
            <a:avLst>
              <a:gd name="adj" fmla="val 2000"/>
            </a:avLst>
          </a:prstGeom>
          <a:solidFill>
            <a:srgbClr val="EDECE8"/>
          </a:solidFill>
          <a:ln/>
        </p:spPr>
      </p:sp>
      <p:sp>
        <p:nvSpPr>
          <p:cNvPr id="25" name="Text 20"/>
          <p:cNvSpPr/>
          <p:nvPr/>
        </p:nvSpPr>
        <p:spPr>
          <a:xfrm>
            <a:off x="10198775" y="5340310"/>
            <a:ext cx="3185398" cy="1338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sorted_chars = sorted('letters') # ['e', 'e', 'l', 'r', 's', 't', 't']</a:t>
            </a:r>
            <a:endParaRPr lang="en-US" sz="17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joined_string = ''.join(sorted_chars) # 'eelrstt'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8427"/>
            <a:ext cx="1143595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16412"/>
            <a:ext cx="87141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47299"/>
            <a:ext cx="763309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Objects, Values, and the 'is' Operator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2494598"/>
            <a:ext cx="4196358" cy="4986576"/>
          </a:xfrm>
          <a:prstGeom prst="roundRect">
            <a:avLst>
              <a:gd name="adj" fmla="val 3486"/>
            </a:avLst>
          </a:prstGeom>
          <a:solidFill>
            <a:srgbClr val="FAF9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64118"/>
            <a:ext cx="4196358" cy="1219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2154436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55761" y="23245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51084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String Identity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3551992"/>
            <a:ext cx="3681770" cy="204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identical string literals, Python often optimizes by making variables refer to the same object, returning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the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operator. This is an implementation detail for immutable objects.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1051084" y="5855732"/>
            <a:ext cx="3681770" cy="1360527"/>
          </a:xfrm>
          <a:prstGeom prst="roundRect">
            <a:avLst>
              <a:gd name="adj" fmla="val 7002"/>
            </a:avLst>
          </a:prstGeom>
          <a:solidFill>
            <a:srgbClr val="EDECE8"/>
          </a:solidFill>
          <a:ln/>
        </p:spPr>
      </p:sp>
      <p:sp>
        <p:nvSpPr>
          <p:cNvPr id="12" name="Shape 8"/>
          <p:cNvSpPr/>
          <p:nvPr/>
        </p:nvSpPr>
        <p:spPr>
          <a:xfrm>
            <a:off x="1039773" y="5855732"/>
            <a:ext cx="3704392" cy="1360527"/>
          </a:xfrm>
          <a:prstGeom prst="roundRect">
            <a:avLst>
              <a:gd name="adj" fmla="val 2501"/>
            </a:avLst>
          </a:prstGeom>
          <a:solidFill>
            <a:srgbClr val="EDECE8"/>
          </a:solidFill>
          <a:ln/>
        </p:spPr>
      </p:sp>
      <p:sp>
        <p:nvSpPr>
          <p:cNvPr id="13" name="Text 9"/>
          <p:cNvSpPr/>
          <p:nvPr/>
        </p:nvSpPr>
        <p:spPr>
          <a:xfrm>
            <a:off x="1266587" y="6025753"/>
            <a:ext cx="325076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 'banana'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'banana'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is b)  # True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5216962" y="2494598"/>
            <a:ext cx="4196358" cy="4986576"/>
          </a:xfrm>
          <a:prstGeom prst="roundRect">
            <a:avLst>
              <a:gd name="adj" fmla="val 3486"/>
            </a:avLst>
          </a:prstGeom>
          <a:solidFill>
            <a:srgbClr val="FAF9F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464118"/>
            <a:ext cx="4196358" cy="12192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154436"/>
            <a:ext cx="680442" cy="6804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933" y="23245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5474256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List Identity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5474256" y="3551992"/>
            <a:ext cx="3681770" cy="205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strings, creating two lists with identical elements always results in two distinct objects in memory. Thus, the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operator will return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even if their contents are equivalent.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74256" y="5863352"/>
            <a:ext cx="3681770" cy="1360527"/>
          </a:xfrm>
          <a:prstGeom prst="roundRect">
            <a:avLst>
              <a:gd name="adj" fmla="val 7002"/>
            </a:avLst>
          </a:prstGeom>
          <a:solidFill>
            <a:srgbClr val="EDECE8"/>
          </a:solidFill>
          <a:ln/>
        </p:spPr>
      </p:sp>
      <p:sp>
        <p:nvSpPr>
          <p:cNvPr id="21" name="Shape 15"/>
          <p:cNvSpPr/>
          <p:nvPr/>
        </p:nvSpPr>
        <p:spPr>
          <a:xfrm>
            <a:off x="5462945" y="5863352"/>
            <a:ext cx="3704392" cy="1360527"/>
          </a:xfrm>
          <a:prstGeom prst="roundRect">
            <a:avLst>
              <a:gd name="adj" fmla="val 2501"/>
            </a:avLst>
          </a:prstGeom>
          <a:solidFill>
            <a:srgbClr val="EDECE8"/>
          </a:solidFill>
          <a:ln/>
        </p:spPr>
      </p:sp>
      <p:sp>
        <p:nvSpPr>
          <p:cNvPr id="22" name="Text 16"/>
          <p:cNvSpPr/>
          <p:nvPr/>
        </p:nvSpPr>
        <p:spPr>
          <a:xfrm>
            <a:off x="5689759" y="6033373"/>
            <a:ext cx="325076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[1, 2, 3]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[1, 2, 3]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print(list1 is list2)  # False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9640133" y="2494598"/>
            <a:ext cx="4196358" cy="4986576"/>
          </a:xfrm>
          <a:prstGeom prst="roundRect">
            <a:avLst>
              <a:gd name="adj" fmla="val 3486"/>
            </a:avLst>
          </a:prstGeom>
          <a:solidFill>
            <a:srgbClr val="FAF9F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2464118"/>
            <a:ext cx="4196358" cy="12192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8032" y="2154436"/>
            <a:ext cx="680442" cy="68044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602105" y="232457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100" dirty="0"/>
          </a:p>
        </p:txBody>
      </p:sp>
      <p:sp>
        <p:nvSpPr>
          <p:cNvPr id="27" name="Text 19"/>
          <p:cNvSpPr/>
          <p:nvPr/>
        </p:nvSpPr>
        <p:spPr>
          <a:xfrm>
            <a:off x="9897427" y="3061573"/>
            <a:ext cx="29127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Equivalent vs. Identical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9897427" y="3551992"/>
            <a:ext cx="3681770" cy="2403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objects are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equivalent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they have the same value (e.g.,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[1,2,3] == [1,2,3]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True). They are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identical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only if they refer to the exact same object in memory (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list1 is list2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Identity implies equivalence, but not vice-versa.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19193" y="451723"/>
            <a:ext cx="1685449" cy="295513"/>
          </a:xfrm>
          <a:prstGeom prst="roundRect">
            <a:avLst>
              <a:gd name="adj" fmla="val 18681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2217658" y="500896"/>
            <a:ext cx="1488519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19193" y="812840"/>
            <a:ext cx="360890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Concept of Aliasing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2119193" y="1469946"/>
            <a:ext cx="1039201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Aliasing occurs when multiple variables reference the same object in memory. While convenient, it requires careful handling, especially with mutable objects like lists.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193" y="2147649"/>
            <a:ext cx="821412" cy="2354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4793" y="2311837"/>
            <a:ext cx="2113240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Reference Assignment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04793" y="2667000"/>
            <a:ext cx="940641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assign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refers to an object, both variables become references to that single object. Any modification through one variable will be visible through the other.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04793" y="3352324"/>
            <a:ext cx="9406414" cy="985599"/>
          </a:xfrm>
          <a:prstGeom prst="roundRect">
            <a:avLst>
              <a:gd name="adj" fmla="val 7002"/>
            </a:avLst>
          </a:prstGeom>
          <a:solidFill>
            <a:srgbClr val="EDECE8"/>
          </a:solidFill>
          <a:ln/>
        </p:spPr>
      </p:sp>
      <p:sp>
        <p:nvSpPr>
          <p:cNvPr id="10" name="Shape 7"/>
          <p:cNvSpPr/>
          <p:nvPr/>
        </p:nvSpPr>
        <p:spPr>
          <a:xfrm>
            <a:off x="3096697" y="3352324"/>
            <a:ext cx="9422606" cy="985599"/>
          </a:xfrm>
          <a:prstGeom prst="roundRect">
            <a:avLst>
              <a:gd name="adj" fmla="val 2501"/>
            </a:avLst>
          </a:prstGeom>
          <a:solidFill>
            <a:srgbClr val="EDECE8"/>
          </a:solidFill>
          <a:ln/>
        </p:spPr>
      </p:sp>
      <p:sp>
        <p:nvSpPr>
          <p:cNvPr id="11" name="Text 8"/>
          <p:cNvSpPr/>
          <p:nvPr/>
        </p:nvSpPr>
        <p:spPr>
          <a:xfrm>
            <a:off x="3260884" y="3475434"/>
            <a:ext cx="9094232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print(b is a) # True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193" y="4502110"/>
            <a:ext cx="821412" cy="21003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4793" y="4666297"/>
            <a:ext cx="2300049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Mutable Object Behavior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104793" y="5021461"/>
            <a:ext cx="9406414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to a mutable aliased object via one reference are immediately reflected in all other references. This can lead to unexpected side effects if not managed consciously.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104793" y="5699165"/>
            <a:ext cx="9406414" cy="739140"/>
          </a:xfrm>
          <a:prstGeom prst="roundRect">
            <a:avLst>
              <a:gd name="adj" fmla="val 9336"/>
            </a:avLst>
          </a:prstGeom>
          <a:solidFill>
            <a:srgbClr val="EDECE8"/>
          </a:solidFill>
          <a:ln/>
        </p:spPr>
      </p:sp>
      <p:sp>
        <p:nvSpPr>
          <p:cNvPr id="16" name="Shape 12"/>
          <p:cNvSpPr/>
          <p:nvPr/>
        </p:nvSpPr>
        <p:spPr>
          <a:xfrm>
            <a:off x="3096697" y="5699165"/>
            <a:ext cx="9422606" cy="739140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7" name="Text 13"/>
          <p:cNvSpPr/>
          <p:nvPr/>
        </p:nvSpPr>
        <p:spPr>
          <a:xfrm>
            <a:off x="3260884" y="5822275"/>
            <a:ext cx="9094232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b[0] = 5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# Output: [5, 2, 3]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193" y="6602492"/>
            <a:ext cx="821412" cy="117645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104793" y="6766679"/>
            <a:ext cx="277463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Immutable Objects &amp; Aliasing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104793" y="7121842"/>
            <a:ext cx="9406414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immutable objects (like strings or numbers), aliasing is less problematic. Even if variables refer to the same immutable object, modifying it effectively creates a new object, leaving others unaffected.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2444" y="542330"/>
            <a:ext cx="1345525" cy="224790"/>
          </a:xfrm>
          <a:prstGeom prst="roundRect">
            <a:avLst>
              <a:gd name="adj" fmla="val 18682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3437334" y="579715"/>
            <a:ext cx="119574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 INTERACTIONS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362444" y="817007"/>
            <a:ext cx="406681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List Arguments: Passing References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362444" y="1316950"/>
            <a:ext cx="7905393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list is passed as an argument to a function, the function receives a reference to the original list, not a copy. This means modifications inside the function will affect the list outside.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62444" y="1972985"/>
            <a:ext cx="4621292" cy="1687592"/>
          </a:xfrm>
          <a:prstGeom prst="roundRect">
            <a:avLst>
              <a:gd name="adj" fmla="val 3111"/>
            </a:avLst>
          </a:prstGeom>
          <a:solidFill>
            <a:srgbClr val="EDECE8"/>
          </a:solidFill>
          <a:ln/>
        </p:spPr>
      </p:sp>
      <p:sp>
        <p:nvSpPr>
          <p:cNvPr id="7" name="Shape 5"/>
          <p:cNvSpPr/>
          <p:nvPr/>
        </p:nvSpPr>
        <p:spPr>
          <a:xfrm>
            <a:off x="3356253" y="1972985"/>
            <a:ext cx="4633674" cy="1687592"/>
          </a:xfrm>
          <a:prstGeom prst="roundRect">
            <a:avLst>
              <a:gd name="adj" fmla="val 1111"/>
            </a:avLst>
          </a:prstGeom>
          <a:solidFill>
            <a:srgbClr val="EDECE8"/>
          </a:solidFill>
          <a:ln/>
        </p:spPr>
      </p:sp>
      <p:sp>
        <p:nvSpPr>
          <p:cNvPr id="8" name="Text 6"/>
          <p:cNvSpPr/>
          <p:nvPr/>
        </p:nvSpPr>
        <p:spPr>
          <a:xfrm>
            <a:off x="3481149" y="2066687"/>
            <a:ext cx="4383881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pop_first(lst):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lst.pop(0)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= ['a', 'b', 'c']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removed_element = pop_first(letters)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print(removed_element) # 'a'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print(letters)        # ['b', 'c']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96156" y="1944886"/>
            <a:ext cx="2979182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parameter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lst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inside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pop_first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the variable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letters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main scope both point to the same list object. The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pop(0)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method modifies this shared object directly.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96156" y="2830235"/>
            <a:ext cx="2979182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behavior can be powerful for in-place modifications but also a source of bugs if unintended changes occur.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2444" y="4004005"/>
            <a:ext cx="7905393" cy="23217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62444" y="4214574"/>
            <a:ext cx="2510314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Building Word Lists from Files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62444" y="4636294"/>
            <a:ext cx="790539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load data from files into lists. Reading a file once and processing its contents is far more performant than repeated file access.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62444" y="4964311"/>
            <a:ext cx="2551867" cy="374928"/>
          </a:xfrm>
          <a:prstGeom prst="roundRect">
            <a:avLst>
              <a:gd name="adj" fmla="val 4800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616" y="5034558"/>
            <a:ext cx="187404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87341" y="5464135"/>
            <a:ext cx="1743670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Line-by-Line Appending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87341" y="5734288"/>
            <a:ext cx="2302073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Initialize an empty list, then iterate through each line of a file, strip whitespace, and append each word. This is ideal for structured text files.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87341" y="6624876"/>
            <a:ext cx="2302073" cy="937498"/>
          </a:xfrm>
          <a:prstGeom prst="roundRect">
            <a:avLst>
              <a:gd name="adj" fmla="val 5599"/>
            </a:avLst>
          </a:prstGeom>
          <a:solidFill>
            <a:srgbClr val="EDECE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81149" y="6624876"/>
            <a:ext cx="2314456" cy="937498"/>
          </a:xfrm>
          <a:prstGeom prst="roundRect">
            <a:avLst>
              <a:gd name="adj" fmla="val 2000"/>
            </a:avLst>
          </a:prstGeom>
          <a:solidFill>
            <a:srgbClr val="EDECE8"/>
          </a:solidFill>
          <a:ln/>
        </p:spPr>
      </p:sp>
      <p:sp>
        <p:nvSpPr>
          <p:cNvPr id="20" name="Text 18"/>
          <p:cNvSpPr/>
          <p:nvPr/>
        </p:nvSpPr>
        <p:spPr>
          <a:xfrm>
            <a:off x="3606046" y="6718578"/>
            <a:ext cx="2064663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word_list = []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open('words.txt'):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= line.strip()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word_list.append(word)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9207" y="4964311"/>
            <a:ext cx="2551867" cy="374928"/>
          </a:xfrm>
          <a:prstGeom prst="roundRect">
            <a:avLst>
              <a:gd name="adj" fmla="val 4800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1379" y="5034558"/>
            <a:ext cx="187404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64104" y="5464135"/>
            <a:ext cx="206359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Batch Processing with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.split()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64104" y="5749528"/>
            <a:ext cx="2302073" cy="945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the entire file content into a single string, then use the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.split()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method to break it into a list of words based on whitespace. This is highly efficient for large, unstructured text blocks.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4104" y="6835259"/>
            <a:ext cx="2302073" cy="562451"/>
          </a:xfrm>
          <a:prstGeom prst="roundRect">
            <a:avLst>
              <a:gd name="adj" fmla="val 9333"/>
            </a:avLst>
          </a:prstGeom>
          <a:solidFill>
            <a:srgbClr val="EDECE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57913" y="6835259"/>
            <a:ext cx="2314456" cy="562451"/>
          </a:xfrm>
          <a:prstGeom prst="roundRect">
            <a:avLst>
              <a:gd name="adj" fmla="val 3333"/>
            </a:avLst>
          </a:prstGeom>
          <a:solidFill>
            <a:srgbClr val="EDECE8"/>
          </a:solidFill>
          <a:ln/>
        </p:spPr>
      </p:sp>
      <p:sp>
        <p:nvSpPr>
          <p:cNvPr id="27" name="Text 25"/>
          <p:cNvSpPr/>
          <p:nvPr/>
        </p:nvSpPr>
        <p:spPr>
          <a:xfrm>
            <a:off x="6282809" y="6928961"/>
            <a:ext cx="2064663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 = open('words.txt').read()</a:t>
            </a:r>
            <a:endParaRPr lang="en-US" sz="95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word_list = string.split()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15970" y="4964311"/>
            <a:ext cx="2551867" cy="374928"/>
          </a:xfrm>
          <a:prstGeom prst="roundRect">
            <a:avLst>
              <a:gd name="adj" fmla="val 48004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98142" y="5034558"/>
            <a:ext cx="187404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840867" y="5464135"/>
            <a:ext cx="1611154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Checking Membership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40867" y="5734288"/>
            <a:ext cx="2302073" cy="57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Once words are in a list, use the 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operator for fast and readable membership checks.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840867" y="6444972"/>
            <a:ext cx="2302073" cy="374928"/>
          </a:xfrm>
          <a:prstGeom prst="roundRect">
            <a:avLst>
              <a:gd name="adj" fmla="val 14001"/>
            </a:avLst>
          </a:prstGeom>
          <a:solidFill>
            <a:srgbClr val="EDECE8"/>
          </a:solidFill>
          <a:ln/>
        </p:spPr>
      </p:sp>
      <p:sp>
        <p:nvSpPr>
          <p:cNvPr id="33" name="Shape 31"/>
          <p:cNvSpPr/>
          <p:nvPr/>
        </p:nvSpPr>
        <p:spPr>
          <a:xfrm>
            <a:off x="8834676" y="6444972"/>
            <a:ext cx="2314456" cy="374928"/>
          </a:xfrm>
          <a:prstGeom prst="roundRect">
            <a:avLst>
              <a:gd name="adj" fmla="val 5000"/>
            </a:avLst>
          </a:prstGeom>
          <a:solidFill>
            <a:srgbClr val="EDECE8"/>
          </a:solidFill>
          <a:ln/>
        </p:spPr>
      </p:sp>
      <p:sp>
        <p:nvSpPr>
          <p:cNvPr id="34" name="Text 32"/>
          <p:cNvSpPr/>
          <p:nvPr/>
        </p:nvSpPr>
        <p:spPr>
          <a:xfrm>
            <a:off x="8959572" y="6538674"/>
            <a:ext cx="206466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'demotic' in word_list # True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666" y="663059"/>
            <a:ext cx="1616154" cy="390168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88683" y="728067"/>
            <a:ext cx="135612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666" y="1139904"/>
            <a:ext cx="8841462" cy="541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Debugging List Operations &amp; 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58666" y="2007037"/>
            <a:ext cx="4226481" cy="4177665"/>
          </a:xfrm>
          <a:prstGeom prst="roundRect">
            <a:avLst>
              <a:gd name="adj" fmla="val 218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980" y="2231350"/>
            <a:ext cx="2710934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Beware </a:t>
            </a:r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Returns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2980" y="2722959"/>
            <a:ext cx="3777853" cy="202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list methods (e.g.,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.append()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.sort()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.remove()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modify the list in-place and return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Chaining these methods directly or reassigning the result can lead to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AttributeError: 'NoneType' object has no attribute ...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01841" y="2007037"/>
            <a:ext cx="4226600" cy="4177665"/>
          </a:xfrm>
          <a:prstGeom prst="roundRect">
            <a:avLst>
              <a:gd name="adj" fmla="val 218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6154" y="2231350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Glossary for Clarity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26154" y="2700099"/>
            <a:ext cx="3777972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ordered, mutable sequence of values.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26154" y="3426262"/>
            <a:ext cx="3777972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item within a list.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26154" y="3827264"/>
            <a:ext cx="377797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Identical: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Referring to the same object (checked with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26154" y="4568666"/>
            <a:ext cx="377797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Equivalent: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Having the same value (checked with 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26154" y="5310068"/>
            <a:ext cx="3777972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Aliased: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object with multiple references.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45134" y="2007037"/>
            <a:ext cx="4226600" cy="4177665"/>
          </a:xfrm>
          <a:prstGeom prst="roundRect">
            <a:avLst>
              <a:gd name="adj" fmla="val 218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69448" y="2231350"/>
            <a:ext cx="3777972" cy="677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Leveraging Virtual Assistants (Wisely)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69448" y="3038832"/>
            <a:ext cx="3777972" cy="162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VAs can be helpful for coding queries, but always verify their output. Specify roles like "Basic Python Programming Instructor" to get explanations using familiar concepts.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869448" y="4794647"/>
            <a:ext cx="3777972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Remember, conventional web searches often provide quicker, more accurate answers for specific facts.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83826" y="6672382"/>
            <a:ext cx="12787908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debugging, always check if a list method modifies in-place or returns a new object. Misunderstanding this is a common source of errors in Python programming.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666" y="6428542"/>
            <a:ext cx="30480" cy="1137999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2026-01-15T06:06:29Z</dcterms:created>
  <dcterms:modified xsi:type="dcterms:W3CDTF">2026-01-15T06:06:29Z</dcterms:modified>
</cp:coreProperties>
</file>