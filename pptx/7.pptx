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Host Grotesk Medium"/>
      <p:regular r:id="rId12"/>
    </p:embeddedFont>
    <p:embeddedFont>
      <p:font typeface="Host Grotesk Medium"/>
      <p:regular r:id="rId13"/>
    </p:embeddedFont>
    <p:embeddedFont>
      <p:font typeface="Host Grotesk Medium"/>
      <p:regular r:id="rId14"/>
    </p:embeddedFont>
    <p:embeddedFont>
      <p:font typeface="Host Grotesk Medium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63516"/>
            <a:ext cx="9260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Mastering Python's Search Patterns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4525923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Unlock the power of iteration and search in Python with practical examples and exercises designed for beginners.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19401"/>
            <a:ext cx="1590556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987385"/>
            <a:ext cx="131837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CONCEPT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18273"/>
            <a:ext cx="10264854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Simplifying Conditional Logic: The 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has_e</a:t>
            </a:r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Function</a:t>
            </a:r>
            <a:endParaRPr lang="en-US" sz="3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63510"/>
            <a:ext cx="4347567" cy="9072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3497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Initial Approach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20604" y="4107061"/>
            <a:ext cx="3893939" cy="2040850"/>
          </a:xfrm>
          <a:prstGeom prst="roundRect">
            <a:avLst>
              <a:gd name="adj" fmla="val 4668"/>
            </a:avLst>
          </a:prstGeom>
          <a:solidFill>
            <a:srgbClr val="EDECE8"/>
          </a:solidFill>
          <a:ln/>
        </p:spPr>
      </p:sp>
      <p:sp>
        <p:nvSpPr>
          <p:cNvPr id="8" name="Shape 5"/>
          <p:cNvSpPr/>
          <p:nvPr/>
        </p:nvSpPr>
        <p:spPr>
          <a:xfrm>
            <a:off x="1009293" y="4107061"/>
            <a:ext cx="3916561" cy="2040850"/>
          </a:xfrm>
          <a:prstGeom prst="roundRect">
            <a:avLst>
              <a:gd name="adj" fmla="val 1667"/>
            </a:avLst>
          </a:prstGeom>
          <a:solidFill>
            <a:srgbClr val="EDECE8"/>
          </a:solidFill>
          <a:ln/>
        </p:spPr>
      </p:sp>
      <p:sp>
        <p:nvSpPr>
          <p:cNvPr id="9" name="Text 6"/>
          <p:cNvSpPr/>
          <p:nvPr/>
        </p:nvSpPr>
        <p:spPr>
          <a:xfrm>
            <a:off x="1236107" y="4277082"/>
            <a:ext cx="3462933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has_e(word):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if 'E' in word or 'e' in word: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True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False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0604" y="6403062"/>
            <a:ext cx="3893939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straightforward conditional check for the presence of 'E' or 'e'.</a:t>
            </a:r>
            <a:endParaRPr lang="en-US" sz="17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57" y="2363510"/>
            <a:ext cx="4347567" cy="9072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8171" y="349758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Boolean Return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5368171" y="4107061"/>
            <a:ext cx="3893939" cy="1360527"/>
          </a:xfrm>
          <a:prstGeom prst="roundRect">
            <a:avLst>
              <a:gd name="adj" fmla="val 7002"/>
            </a:avLst>
          </a:prstGeom>
          <a:solidFill>
            <a:srgbClr val="EDECE8"/>
          </a:solidFill>
          <a:ln/>
        </p:spPr>
      </p:sp>
      <p:sp>
        <p:nvSpPr>
          <p:cNvPr id="14" name="Shape 10"/>
          <p:cNvSpPr/>
          <p:nvPr/>
        </p:nvSpPr>
        <p:spPr>
          <a:xfrm>
            <a:off x="5356860" y="4107061"/>
            <a:ext cx="3916561" cy="1360527"/>
          </a:xfrm>
          <a:prstGeom prst="roundRect">
            <a:avLst>
              <a:gd name="adj" fmla="val 2501"/>
            </a:avLst>
          </a:prstGeom>
          <a:solidFill>
            <a:srgbClr val="EDECE8"/>
          </a:solidFill>
          <a:ln/>
        </p:spPr>
      </p:sp>
      <p:sp>
        <p:nvSpPr>
          <p:cNvPr id="15" name="Text 11"/>
          <p:cNvSpPr/>
          <p:nvPr/>
        </p:nvSpPr>
        <p:spPr>
          <a:xfrm>
            <a:off x="5583674" y="4277082"/>
            <a:ext cx="3462933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has_e(word):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'E' in word or 'e' in word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368171" y="5722739"/>
            <a:ext cx="3893939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Since the 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condition already evaluates to a boolean, we can return it directly.</a:t>
            </a:r>
            <a:endParaRPr lang="en-US" sz="17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8924" y="2363510"/>
            <a:ext cx="4347567" cy="9072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715738" y="3497580"/>
            <a:ext cx="2835235" cy="377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Using 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.lower()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9715738" y="4129921"/>
            <a:ext cx="3893939" cy="1020366"/>
          </a:xfrm>
          <a:prstGeom prst="roundRect">
            <a:avLst>
              <a:gd name="adj" fmla="val 9337"/>
            </a:avLst>
          </a:prstGeom>
          <a:solidFill>
            <a:srgbClr val="EDECE8"/>
          </a:solidFill>
          <a:ln/>
        </p:spPr>
      </p:sp>
      <p:sp>
        <p:nvSpPr>
          <p:cNvPr id="20" name="Shape 15"/>
          <p:cNvSpPr/>
          <p:nvPr/>
        </p:nvSpPr>
        <p:spPr>
          <a:xfrm>
            <a:off x="9704427" y="4129921"/>
            <a:ext cx="3916561" cy="1020366"/>
          </a:xfrm>
          <a:prstGeom prst="roundRect">
            <a:avLst>
              <a:gd name="adj" fmla="val 3335"/>
            </a:avLst>
          </a:prstGeom>
          <a:solidFill>
            <a:srgbClr val="EDECE8"/>
          </a:solidFill>
          <a:ln/>
        </p:spPr>
      </p:sp>
      <p:sp>
        <p:nvSpPr>
          <p:cNvPr id="21" name="Text 16"/>
          <p:cNvSpPr/>
          <p:nvPr/>
        </p:nvSpPr>
        <p:spPr>
          <a:xfrm>
            <a:off x="9931241" y="4299942"/>
            <a:ext cx="3462933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has_e(word):</a:t>
            </a:r>
            <a:endParaRPr lang="en-US" sz="1750" dirty="0"/>
          </a:p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'e' in word.lower()</a:t>
            </a:r>
            <a:endParaRPr lang="en-US" sz="1750" dirty="0"/>
          </a:p>
        </p:txBody>
      </p:sp>
      <p:sp>
        <p:nvSpPr>
          <p:cNvPr id="22" name="Text 17"/>
          <p:cNvSpPr/>
          <p:nvPr/>
        </p:nvSpPr>
        <p:spPr>
          <a:xfrm>
            <a:off x="9715738" y="5405438"/>
            <a:ext cx="3893939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Converting the word to lowercase first simplifies the check to a single character.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618" y="593169"/>
            <a:ext cx="1696998" cy="388025"/>
          </a:xfrm>
          <a:prstGeom prst="roundRect">
            <a:avLst>
              <a:gd name="adj" fmla="val 18672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883920" y="657820"/>
            <a:ext cx="1438394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 BLOCKS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54618" y="1067395"/>
            <a:ext cx="9087803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Introducing </a:t>
            </a:r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uses_any</a:t>
            </a:r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: A Linear Search Pattern</a:t>
            </a:r>
            <a:endParaRPr lang="en-US" sz="3350" dirty="0"/>
          </a:p>
        </p:txBody>
      </p:sp>
      <p:sp>
        <p:nvSpPr>
          <p:cNvPr id="5" name="Text 3"/>
          <p:cNvSpPr/>
          <p:nvPr/>
        </p:nvSpPr>
        <p:spPr>
          <a:xfrm>
            <a:off x="754618" y="1960245"/>
            <a:ext cx="13121164" cy="66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uses_any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function determines if any character from a given set of letters is present in a word. This illustrates a common programming pattern called a linear search.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54618" y="2864763"/>
            <a:ext cx="13121164" cy="1940243"/>
          </a:xfrm>
          <a:prstGeom prst="roundRect">
            <a:avLst>
              <a:gd name="adj" fmla="val 4668"/>
            </a:avLst>
          </a:prstGeom>
          <a:solidFill>
            <a:srgbClr val="EDECE8"/>
          </a:solidFill>
          <a:ln/>
        </p:spPr>
      </p:sp>
      <p:sp>
        <p:nvSpPr>
          <p:cNvPr id="7" name="Shape 5"/>
          <p:cNvSpPr/>
          <p:nvPr/>
        </p:nvSpPr>
        <p:spPr>
          <a:xfrm>
            <a:off x="743903" y="2864763"/>
            <a:ext cx="13142595" cy="1940243"/>
          </a:xfrm>
          <a:prstGeom prst="roundRect">
            <a:avLst>
              <a:gd name="adj" fmla="val 1667"/>
            </a:avLst>
          </a:prstGeom>
          <a:solidFill>
            <a:srgbClr val="EDECE8"/>
          </a:solidFill>
          <a:ln/>
        </p:spPr>
      </p:sp>
      <p:sp>
        <p:nvSpPr>
          <p:cNvPr id="8" name="Text 6"/>
          <p:cNvSpPr/>
          <p:nvPr/>
        </p:nvSpPr>
        <p:spPr>
          <a:xfrm>
            <a:off x="959525" y="3026450"/>
            <a:ext cx="12711351" cy="161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uses_any(word, letters):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letter in word.lower():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letter in letters.lower():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54618" y="5263158"/>
            <a:ext cx="269545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Example: True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54618" y="5842635"/>
            <a:ext cx="6297573" cy="970121"/>
          </a:xfrm>
          <a:prstGeom prst="roundRect">
            <a:avLst>
              <a:gd name="adj" fmla="val 9336"/>
            </a:avLst>
          </a:prstGeom>
          <a:solidFill>
            <a:srgbClr val="ED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743903" y="5842635"/>
            <a:ext cx="6319004" cy="970121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2" name="Text 10"/>
          <p:cNvSpPr/>
          <p:nvPr/>
        </p:nvSpPr>
        <p:spPr>
          <a:xfrm>
            <a:off x="959525" y="6004322"/>
            <a:ext cx="58877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uses_any('banana', 'aeiou')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True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5829" y="5263158"/>
            <a:ext cx="2695456" cy="3369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Example: False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585829" y="5842635"/>
            <a:ext cx="6297573" cy="970121"/>
          </a:xfrm>
          <a:prstGeom prst="roundRect">
            <a:avLst>
              <a:gd name="adj" fmla="val 9336"/>
            </a:avLst>
          </a:prstGeom>
          <a:solidFill>
            <a:srgbClr val="EDECE8"/>
          </a:solidFill>
          <a:ln/>
        </p:spPr>
      </p:sp>
      <p:sp>
        <p:nvSpPr>
          <p:cNvPr id="15" name="Shape 13"/>
          <p:cNvSpPr/>
          <p:nvPr/>
        </p:nvSpPr>
        <p:spPr>
          <a:xfrm>
            <a:off x="7575113" y="5842635"/>
            <a:ext cx="6319004" cy="970121"/>
          </a:xfrm>
          <a:prstGeom prst="roundRect">
            <a:avLst>
              <a:gd name="adj" fmla="val 3334"/>
            </a:avLst>
          </a:prstGeom>
          <a:solidFill>
            <a:srgbClr val="EDECE8"/>
          </a:solidFill>
          <a:ln/>
        </p:spPr>
      </p:sp>
      <p:sp>
        <p:nvSpPr>
          <p:cNvPr id="16" name="Text 14"/>
          <p:cNvSpPr/>
          <p:nvPr/>
        </p:nvSpPr>
        <p:spPr>
          <a:xfrm>
            <a:off x="7790736" y="6004322"/>
            <a:ext cx="5887760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uses_any('apple', 'xyz')</a:t>
            </a:r>
            <a:endParaRPr lang="en-US" sz="165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Expected: False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754618" y="7297817"/>
            <a:ext cx="13121164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 iterates through the word, returning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soon as a match is found, or 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if no match is found after checking all letters.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95976" y="453747"/>
            <a:ext cx="1506260" cy="296823"/>
          </a:xfrm>
          <a:prstGeom prst="roundRect">
            <a:avLst>
              <a:gd name="adj" fmla="val 18682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2194917" y="503158"/>
            <a:ext cx="1308378" cy="1980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QUALITY ASSURANCE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095976" y="816531"/>
            <a:ext cx="7222093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Docstrings for Testing: Python's </a:t>
            </a:r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doctest</a:t>
            </a:r>
            <a:pPr algn="l" indent="0" marL="0">
              <a:lnSpc>
                <a:spcPts val="3200"/>
              </a:lnSpc>
              <a:buNone/>
            </a:pPr>
            <a:r>
              <a:rPr lang="en-US" sz="2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 Module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2343507" y="1692712"/>
            <a:ext cx="10190917" cy="2475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Docstrings not only explain what a function does but can also contain executable tests to verify its behavior.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095976" y="1507093"/>
            <a:ext cx="22860" cy="618768"/>
          </a:xfrm>
          <a:prstGeom prst="rect">
            <a:avLst/>
          </a:prstGeom>
          <a:solidFill>
            <a:srgbClr val="95CCDA"/>
          </a:solidFill>
          <a:ln/>
        </p:spPr>
      </p:sp>
      <p:sp>
        <p:nvSpPr>
          <p:cNvPr id="7" name="Shape 5"/>
          <p:cNvSpPr/>
          <p:nvPr/>
        </p:nvSpPr>
        <p:spPr>
          <a:xfrm>
            <a:off x="2095976" y="2311479"/>
            <a:ext cx="10438448" cy="2970252"/>
          </a:xfrm>
          <a:prstGeom prst="roundRect">
            <a:avLst>
              <a:gd name="adj" fmla="val 2334"/>
            </a:avLst>
          </a:prstGeom>
          <a:solidFill>
            <a:srgbClr val="EDECE8"/>
          </a:solidFill>
          <a:ln/>
        </p:spPr>
      </p:sp>
      <p:sp>
        <p:nvSpPr>
          <p:cNvPr id="8" name="Shape 6"/>
          <p:cNvSpPr/>
          <p:nvPr/>
        </p:nvSpPr>
        <p:spPr>
          <a:xfrm>
            <a:off x="2087761" y="2311479"/>
            <a:ext cx="10454878" cy="2970252"/>
          </a:xfrm>
          <a:prstGeom prst="roundRect">
            <a:avLst>
              <a:gd name="adj" fmla="val 833"/>
            </a:avLst>
          </a:prstGeom>
          <a:solidFill>
            <a:srgbClr val="EDECE8"/>
          </a:solidFill>
          <a:ln/>
        </p:spPr>
      </p:sp>
      <p:sp>
        <p:nvSpPr>
          <p:cNvPr id="9" name="Text 7"/>
          <p:cNvSpPr/>
          <p:nvPr/>
        </p:nvSpPr>
        <p:spPr>
          <a:xfrm>
            <a:off x="2252782" y="2435185"/>
            <a:ext cx="10124837" cy="2722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uses_any(word, letters):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"""Checks if a word uses any of a list of letters.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&gt;&gt;&gt; uses_any('banana', 'aeiou')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&gt;&gt;&gt; uses_any('apple', 'xyz')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False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letter in word.lower():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letter in letters.lower():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095976" y="5467350"/>
            <a:ext cx="10438448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execute these tests, we use the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run_doctests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helper function, leveraging Python's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doctest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095976" y="5908119"/>
            <a:ext cx="10438448" cy="990005"/>
          </a:xfrm>
          <a:prstGeom prst="roundRect">
            <a:avLst>
              <a:gd name="adj" fmla="val 7001"/>
            </a:avLst>
          </a:prstGeom>
          <a:solidFill>
            <a:srgbClr val="EDECE8"/>
          </a:solidFill>
          <a:ln/>
        </p:spPr>
      </p:sp>
      <p:sp>
        <p:nvSpPr>
          <p:cNvPr id="12" name="Shape 10"/>
          <p:cNvSpPr/>
          <p:nvPr/>
        </p:nvSpPr>
        <p:spPr>
          <a:xfrm>
            <a:off x="2087761" y="5908119"/>
            <a:ext cx="10454878" cy="990005"/>
          </a:xfrm>
          <a:prstGeom prst="roundRect">
            <a:avLst>
              <a:gd name="adj" fmla="val 2501"/>
            </a:avLst>
          </a:prstGeom>
          <a:solidFill>
            <a:srgbClr val="EDECE8"/>
          </a:solidFill>
          <a:ln/>
        </p:spPr>
      </p:sp>
      <p:sp>
        <p:nvSpPr>
          <p:cNvPr id="13" name="Text 11"/>
          <p:cNvSpPr/>
          <p:nvPr/>
        </p:nvSpPr>
        <p:spPr>
          <a:xfrm>
            <a:off x="2252782" y="6031825"/>
            <a:ext cx="10124837" cy="742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 doctest import run_docstring_examples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run_doctests(func):</a:t>
            </a:r>
            <a:endParaRPr lang="en-US" sz="125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run_docstring_examples(func, globals(), name=func.__name__)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095976" y="7083743"/>
            <a:ext cx="10438448" cy="692348"/>
          </a:xfrm>
          <a:prstGeom prst="roundRect">
            <a:avLst>
              <a:gd name="adj" fmla="val 10012"/>
            </a:avLst>
          </a:prstGeom>
          <a:solidFill>
            <a:srgbClr val="C6E4EB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0997" y="7320796"/>
            <a:ext cx="206216" cy="16502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632234" y="7289959"/>
            <a:ext cx="9737169" cy="255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 all tests pass,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run_doctests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will not output anything. "No news is good news."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6630" y="413742"/>
            <a:ext cx="1261705" cy="270153"/>
          </a:xfrm>
          <a:prstGeom prst="roundRect">
            <a:avLst>
              <a:gd name="adj" fmla="val 18675"/>
            </a:avLst>
          </a:prstGeom>
          <a:solidFill>
            <a:srgbClr val="D9EDF2"/>
          </a:solidFill>
          <a:ln/>
        </p:spPr>
      </p:sp>
      <p:sp>
        <p:nvSpPr>
          <p:cNvPr id="3" name="Text 1"/>
          <p:cNvSpPr/>
          <p:nvPr/>
        </p:nvSpPr>
        <p:spPr>
          <a:xfrm>
            <a:off x="2656642" y="458748"/>
            <a:ext cx="1081683" cy="180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COMMON PITFALLS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566630" y="743903"/>
            <a:ext cx="7489388" cy="398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Debugging </a:t>
            </a:r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uses_any</a:t>
            </a:r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: Understanding Incorrect Returns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2566630" y="1367195"/>
            <a:ext cx="9497020" cy="46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common mistake in functions with loops that return a value is placing both 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statements inside the loop. Let's examine an incorrect version of 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uses_any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6630" y="2001560"/>
            <a:ext cx="9497020" cy="2926794"/>
          </a:xfrm>
          <a:prstGeom prst="roundRect">
            <a:avLst>
              <a:gd name="adj" fmla="val 2155"/>
            </a:avLst>
          </a:prstGeom>
          <a:solidFill>
            <a:srgbClr val="EDECE8"/>
          </a:solidFill>
          <a:ln/>
        </p:spPr>
      </p:sp>
      <p:sp>
        <p:nvSpPr>
          <p:cNvPr id="7" name="Shape 5"/>
          <p:cNvSpPr/>
          <p:nvPr/>
        </p:nvSpPr>
        <p:spPr>
          <a:xfrm>
            <a:off x="2559129" y="2001560"/>
            <a:ext cx="9512022" cy="2926794"/>
          </a:xfrm>
          <a:prstGeom prst="roundRect">
            <a:avLst>
              <a:gd name="adj" fmla="val 770"/>
            </a:avLst>
          </a:prstGeom>
          <a:solidFill>
            <a:srgbClr val="EDECE8"/>
          </a:solidFill>
          <a:ln/>
        </p:spPr>
      </p:sp>
      <p:sp>
        <p:nvSpPr>
          <p:cNvPr id="8" name="Text 6"/>
          <p:cNvSpPr/>
          <p:nvPr/>
        </p:nvSpPr>
        <p:spPr>
          <a:xfrm>
            <a:off x="2709267" y="2114074"/>
            <a:ext cx="9211747" cy="2701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 uses_any_incorrect(word, letters):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"""Checks if a word uses any of a list of letters.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&gt;&gt;&gt; uses_any_incorrect('banana', 'aeiou')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True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&gt;&gt;&gt; uses_any_incorrect('apple', 'xyz')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False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letter in word.lower():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letter in letters.lower():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True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False # INCORRECT!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6630" y="5153501"/>
            <a:ext cx="2330410" cy="234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Expected vs. Actual Output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566630" y="5613202"/>
            <a:ext cx="9497020" cy="1575911"/>
          </a:xfrm>
          <a:prstGeom prst="roundRect">
            <a:avLst>
              <a:gd name="adj" fmla="val 4002"/>
            </a:avLst>
          </a:prstGeom>
          <a:solidFill>
            <a:srgbClr val="EDECE8"/>
          </a:solidFill>
          <a:ln/>
        </p:spPr>
      </p:sp>
      <p:sp>
        <p:nvSpPr>
          <p:cNvPr id="11" name="Shape 9"/>
          <p:cNvSpPr/>
          <p:nvPr/>
        </p:nvSpPr>
        <p:spPr>
          <a:xfrm>
            <a:off x="2559129" y="5613202"/>
            <a:ext cx="9512022" cy="1575911"/>
          </a:xfrm>
          <a:prstGeom prst="roundRect">
            <a:avLst>
              <a:gd name="adj" fmla="val 1429"/>
            </a:avLst>
          </a:prstGeom>
          <a:solidFill>
            <a:srgbClr val="EDECE8"/>
          </a:solidFill>
          <a:ln/>
        </p:spPr>
      </p:sp>
      <p:sp>
        <p:nvSpPr>
          <p:cNvPr id="12" name="Text 10"/>
          <p:cNvSpPr/>
          <p:nvPr/>
        </p:nvSpPr>
        <p:spPr>
          <a:xfrm>
            <a:off x="2709267" y="5725716"/>
            <a:ext cx="9211747" cy="135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run_doctests(uses_any_incorrect)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File "__main__", line 4, in uses_any_incorrect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Failed example: uses_any_incorrect('banana', 'aeiou')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 True</a:t>
            </a:r>
            <a:endParaRPr lang="en-US" sz="1150" dirty="0"/>
          </a:p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Got: False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66630" y="7357943"/>
            <a:ext cx="9497020" cy="45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error occurs because the function returns 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highlight>
                  <a:srgbClr val="EDECE8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algn="l" indent="0" marL="0">
              <a:lnSpc>
                <a:spcPts val="1750"/>
              </a:lnSpc>
              <a:buNone/>
            </a:pPr>
            <a:r>
              <a:rPr lang="en-US" sz="11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prematurely after the first non-matching letter, instead of continuing to search the rest of the word.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2026-01-15T05:57:45Z</dcterms:created>
  <dcterms:modified xsi:type="dcterms:W3CDTF">2026-01-15T05:57:45Z</dcterms:modified>
</cp:coreProperties>
</file>