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Host Grotesk Medium"/>
      <p:regular r:id="rId12"/>
    </p:embeddedFont>
    <p:embeddedFont>
      <p:font typeface="Host Grotesk Medium"/>
      <p:regular r:id="rId13"/>
    </p:embeddedFont>
    <p:embeddedFont>
      <p:font typeface="Host Grotesk Medium"/>
      <p:regular r:id="rId14"/>
    </p:embeddedFont>
    <p:embeddedFont>
      <p:font typeface="Host Grotesk Medium"/>
      <p:regular r:id="rId15"/>
    </p:embeddedFont>
    <p:embeddedFont>
      <p:font typeface="Roboto"/>
      <p:regular r:id="rId16"/>
    </p:embeddedFont>
    <p:embeddedFont>
      <p:font typeface="Roboto"/>
      <p:regular r:id="rId17"/>
    </p:embeddedFont>
    <p:embeddedFont>
      <p:font typeface="Roboto"/>
      <p:regular r:id="rId18"/>
    </p:embeddedFont>
    <p:embeddedFont>
      <p:font typeface="Roboto"/>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raw.githubusercontent.com/AllenDowney/ThinkPython/v3/structshape.py" TargetMode="External"/><Relationship Id="rId1" Type="http://schemas.openxmlformats.org/officeDocument/2006/relationships/image" Target="../media/image-5-1.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668905"/>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Unlocking Python Data Structures: Comparing and Sorting</a:t>
            </a:r>
            <a:endParaRPr lang="en-US" sz="4450" dirty="0"/>
          </a:p>
        </p:txBody>
      </p:sp>
      <p:sp>
        <p:nvSpPr>
          <p:cNvPr id="3" name="Text 1"/>
          <p:cNvSpPr/>
          <p:nvPr/>
        </p:nvSpPr>
        <p:spPr>
          <a:xfrm>
            <a:off x="793790" y="4540091"/>
            <a:ext cx="13042821"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This presentation explores the fundamental concepts of comparing and sorting data structures in Python, essential skills for any aspiring programmer. We'll delve into how Python handles comparisons between sequences like tuples, and then apply these principles to practical scenarios such as sorting custom data.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233964"/>
            <a:ext cx="1223843" cy="408146"/>
          </a:xfrm>
          <a:prstGeom prst="roundRect">
            <a:avLst>
              <a:gd name="adj" fmla="val 18673"/>
            </a:avLst>
          </a:prstGeom>
          <a:solidFill>
            <a:srgbClr val="D9EDF2"/>
          </a:solidFill>
          <a:ln/>
        </p:spPr>
      </p:sp>
      <p:sp>
        <p:nvSpPr>
          <p:cNvPr id="3" name="Text 1"/>
          <p:cNvSpPr/>
          <p:nvPr/>
        </p:nvSpPr>
        <p:spPr>
          <a:xfrm>
            <a:off x="929878" y="1301948"/>
            <a:ext cx="951667" cy="272177"/>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CHAPTER 1</a:t>
            </a:r>
            <a:endParaRPr lang="en-US" sz="1400" dirty="0"/>
          </a:p>
        </p:txBody>
      </p:sp>
      <p:sp>
        <p:nvSpPr>
          <p:cNvPr id="4" name="Text 2"/>
          <p:cNvSpPr/>
          <p:nvPr/>
        </p:nvSpPr>
        <p:spPr>
          <a:xfrm>
            <a:off x="793790" y="1732836"/>
            <a:ext cx="7132796"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The Nuances of Tuple Comparison</a:t>
            </a:r>
            <a:endParaRPr lang="en-US" sz="3550" dirty="0"/>
          </a:p>
        </p:txBody>
      </p:sp>
      <p:sp>
        <p:nvSpPr>
          <p:cNvPr id="5" name="Text 3"/>
          <p:cNvSpPr/>
          <p:nvPr/>
        </p:nvSpPr>
        <p:spPr>
          <a:xfrm>
            <a:off x="793790" y="2639973"/>
            <a:ext cx="13042821"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When comparing tuples, Python employs a lexicographical approach. It evaluates elements pairwise from left to right. The comparison stops at the first differing pair, determining the outcome. Subsequent elements, no matter their value, are not considered.</a:t>
            </a:r>
            <a:endParaRPr lang="en-US" sz="1750" dirty="0"/>
          </a:p>
        </p:txBody>
      </p:sp>
      <p:sp>
        <p:nvSpPr>
          <p:cNvPr id="6" name="Shape 4"/>
          <p:cNvSpPr/>
          <p:nvPr/>
        </p:nvSpPr>
        <p:spPr>
          <a:xfrm>
            <a:off x="793790" y="3915608"/>
            <a:ext cx="6407944" cy="3079909"/>
          </a:xfrm>
          <a:prstGeom prst="roundRect">
            <a:avLst>
              <a:gd name="adj" fmla="val 4750"/>
            </a:avLst>
          </a:prstGeom>
          <a:solidFill>
            <a:srgbClr val="FAF9F5"/>
          </a:solidFill>
          <a:ln w="30480">
            <a:solidFill>
              <a:srgbClr val="BFD3D8"/>
            </a:solidFill>
            <a:prstDash val="solid"/>
          </a:ln>
        </p:spPr>
      </p:sp>
      <p:pic>
        <p:nvPicPr>
          <p:cNvPr id="7" name="Image 0" descr="preencoded.png">    </p:cNvPr>
          <p:cNvPicPr>
            <a:picLocks noChangeAspect="1"/>
          </p:cNvPicPr>
          <p:nvPr/>
        </p:nvPicPr>
        <p:blipFill>
          <a:blip r:embed="rId1"/>
          <a:stretch>
            <a:fillRect/>
          </a:stretch>
        </p:blipFill>
        <p:spPr>
          <a:xfrm>
            <a:off x="763310" y="3915608"/>
            <a:ext cx="121920" cy="3079909"/>
          </a:xfrm>
          <a:prstGeom prst="rect">
            <a:avLst/>
          </a:prstGeom>
        </p:spPr>
      </p:pic>
      <p:sp>
        <p:nvSpPr>
          <p:cNvPr id="8" name="Text 5"/>
          <p:cNvSpPr/>
          <p:nvPr/>
        </p:nvSpPr>
        <p:spPr>
          <a:xfrm>
            <a:off x="1142524" y="4172902"/>
            <a:ext cx="3593187"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Example: Tuple Comparison</a:t>
            </a:r>
            <a:endParaRPr lang="en-US" sz="2200" dirty="0"/>
          </a:p>
        </p:txBody>
      </p:sp>
      <p:sp>
        <p:nvSpPr>
          <p:cNvPr id="9" name="Shape 6"/>
          <p:cNvSpPr/>
          <p:nvPr/>
        </p:nvSpPr>
        <p:spPr>
          <a:xfrm>
            <a:off x="1142524" y="4782383"/>
            <a:ext cx="5801916" cy="680204"/>
          </a:xfrm>
          <a:prstGeom prst="roundRect">
            <a:avLst>
              <a:gd name="adj" fmla="val 14006"/>
            </a:avLst>
          </a:prstGeom>
          <a:solidFill>
            <a:srgbClr val="EDECE8"/>
          </a:solidFill>
          <a:ln/>
        </p:spPr>
      </p:sp>
      <p:sp>
        <p:nvSpPr>
          <p:cNvPr id="10" name="Shape 7"/>
          <p:cNvSpPr/>
          <p:nvPr/>
        </p:nvSpPr>
        <p:spPr>
          <a:xfrm>
            <a:off x="1131213" y="4782383"/>
            <a:ext cx="5824537" cy="680204"/>
          </a:xfrm>
          <a:prstGeom prst="roundRect">
            <a:avLst>
              <a:gd name="adj" fmla="val 5002"/>
            </a:avLst>
          </a:prstGeom>
          <a:solidFill>
            <a:srgbClr val="EDECE8"/>
          </a:solidFill>
          <a:ln/>
        </p:spPr>
      </p:sp>
      <p:sp>
        <p:nvSpPr>
          <p:cNvPr id="11" name="Text 8"/>
          <p:cNvSpPr/>
          <p:nvPr/>
        </p:nvSpPr>
        <p:spPr>
          <a:xfrm>
            <a:off x="1358027" y="4952405"/>
            <a:ext cx="5370909"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(0, 1, 2) &lt; (0, 3, 4)  True</a:t>
            </a:r>
            <a:endParaRPr lang="en-US" sz="1750" dirty="0"/>
          </a:p>
        </p:txBody>
      </p:sp>
      <p:sp>
        <p:nvSpPr>
          <p:cNvPr id="12" name="Text 9"/>
          <p:cNvSpPr/>
          <p:nvPr/>
        </p:nvSpPr>
        <p:spPr>
          <a:xfrm>
            <a:off x="1142524" y="5717738"/>
            <a:ext cx="5801916"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Here, the first elements (0 and 0) are equal. The second elements (1 and 3) differ, with 1 being less than 3, so the expression evaluates to True.</a:t>
            </a:r>
            <a:endParaRPr lang="en-US" sz="1750" dirty="0"/>
          </a:p>
        </p:txBody>
      </p:sp>
      <p:sp>
        <p:nvSpPr>
          <p:cNvPr id="13" name="Shape 10"/>
          <p:cNvSpPr/>
          <p:nvPr/>
        </p:nvSpPr>
        <p:spPr>
          <a:xfrm>
            <a:off x="7428548" y="3915608"/>
            <a:ext cx="6408063" cy="3079909"/>
          </a:xfrm>
          <a:prstGeom prst="roundRect">
            <a:avLst>
              <a:gd name="adj" fmla="val 4750"/>
            </a:avLst>
          </a:prstGeom>
          <a:solidFill>
            <a:srgbClr val="FAF9F5"/>
          </a:solidFill>
          <a:ln w="30480">
            <a:solidFill>
              <a:srgbClr val="BFD3D8"/>
            </a:solidFill>
            <a:prstDash val="solid"/>
          </a:ln>
        </p:spPr>
      </p:sp>
      <p:pic>
        <p:nvPicPr>
          <p:cNvPr id="14" name="Image 1" descr="preencoded.png">    </p:cNvPr>
          <p:cNvPicPr>
            <a:picLocks noChangeAspect="1"/>
          </p:cNvPicPr>
          <p:nvPr/>
        </p:nvPicPr>
        <p:blipFill>
          <a:blip r:embed="rId2"/>
          <a:stretch>
            <a:fillRect/>
          </a:stretch>
        </p:blipFill>
        <p:spPr>
          <a:xfrm>
            <a:off x="7398067" y="3915608"/>
            <a:ext cx="121920" cy="3079909"/>
          </a:xfrm>
          <a:prstGeom prst="rect">
            <a:avLst/>
          </a:prstGeom>
        </p:spPr>
      </p:pic>
      <p:sp>
        <p:nvSpPr>
          <p:cNvPr id="15" name="Text 11"/>
          <p:cNvSpPr/>
          <p:nvPr/>
        </p:nvSpPr>
        <p:spPr>
          <a:xfrm>
            <a:off x="7777282" y="4172902"/>
            <a:ext cx="3260527"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Impact of Initial Elements</a:t>
            </a:r>
            <a:endParaRPr lang="en-US" sz="2200" dirty="0"/>
          </a:p>
        </p:txBody>
      </p:sp>
      <p:sp>
        <p:nvSpPr>
          <p:cNvPr id="16" name="Shape 12"/>
          <p:cNvSpPr/>
          <p:nvPr/>
        </p:nvSpPr>
        <p:spPr>
          <a:xfrm>
            <a:off x="7777282" y="4782383"/>
            <a:ext cx="5802035" cy="680204"/>
          </a:xfrm>
          <a:prstGeom prst="roundRect">
            <a:avLst>
              <a:gd name="adj" fmla="val 14006"/>
            </a:avLst>
          </a:prstGeom>
          <a:solidFill>
            <a:srgbClr val="EDECE8"/>
          </a:solidFill>
          <a:ln/>
        </p:spPr>
      </p:sp>
      <p:sp>
        <p:nvSpPr>
          <p:cNvPr id="17" name="Shape 13"/>
          <p:cNvSpPr/>
          <p:nvPr/>
        </p:nvSpPr>
        <p:spPr>
          <a:xfrm>
            <a:off x="7765971" y="4782383"/>
            <a:ext cx="5824657" cy="680204"/>
          </a:xfrm>
          <a:prstGeom prst="roundRect">
            <a:avLst>
              <a:gd name="adj" fmla="val 5002"/>
            </a:avLst>
          </a:prstGeom>
          <a:solidFill>
            <a:srgbClr val="EDECE8"/>
          </a:solidFill>
          <a:ln/>
        </p:spPr>
      </p:sp>
      <p:sp>
        <p:nvSpPr>
          <p:cNvPr id="18" name="Text 14"/>
          <p:cNvSpPr/>
          <p:nvPr/>
        </p:nvSpPr>
        <p:spPr>
          <a:xfrm>
            <a:off x="7992785" y="4952405"/>
            <a:ext cx="5371028"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(0, 1, 2000000) &lt; (0, 3, 4) True</a:t>
            </a:r>
            <a:endParaRPr lang="en-US" sz="1750" dirty="0"/>
          </a:p>
        </p:txBody>
      </p:sp>
      <p:sp>
        <p:nvSpPr>
          <p:cNvPr id="19" name="Text 15"/>
          <p:cNvSpPr/>
          <p:nvPr/>
        </p:nvSpPr>
        <p:spPr>
          <a:xfrm>
            <a:off x="7777282" y="5717738"/>
            <a:ext cx="5802035"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Even with a significantly larger number later in the tuple, the comparison remains True because the second elements (1 and 3) determine the result.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249204" y="528161"/>
            <a:ext cx="1034772" cy="345162"/>
          </a:xfrm>
          <a:prstGeom prst="roundRect">
            <a:avLst>
              <a:gd name="adj" fmla="val 18672"/>
            </a:avLst>
          </a:prstGeom>
          <a:solidFill>
            <a:srgbClr val="D9EDF2"/>
          </a:solidFill>
          <a:ln/>
        </p:spPr>
      </p:sp>
      <p:sp>
        <p:nvSpPr>
          <p:cNvPr id="3" name="Text 1"/>
          <p:cNvSpPr/>
          <p:nvPr/>
        </p:nvSpPr>
        <p:spPr>
          <a:xfrm>
            <a:off x="1364218" y="585668"/>
            <a:ext cx="804743" cy="230148"/>
          </a:xfrm>
          <a:prstGeom prst="rect">
            <a:avLst/>
          </a:prstGeom>
          <a:noFill/>
          <a:ln/>
        </p:spPr>
        <p:txBody>
          <a:bodyPr wrap="none" lIns="0" tIns="0" rIns="0" bIns="0" rtlCol="0" anchor="t"/>
          <a:lstStyle/>
          <a:p>
            <a:pPr algn="l" indent="0" marL="0">
              <a:lnSpc>
                <a:spcPts val="1800"/>
              </a:lnSpc>
              <a:buNone/>
            </a:pPr>
            <a:r>
              <a:rPr lang="en-US" sz="1200" dirty="0">
                <a:solidFill>
                  <a:srgbClr val="384653"/>
                </a:solidFill>
                <a:latin typeface="Roboto" pitchFamily="34" charset="0"/>
                <a:ea typeface="Roboto" pitchFamily="34" charset="-122"/>
                <a:cs typeface="Roboto" pitchFamily="34" charset="-120"/>
              </a:rPr>
              <a:t>CHAPTER 2</a:t>
            </a:r>
            <a:endParaRPr lang="en-US" sz="1200" dirty="0"/>
          </a:p>
        </p:txBody>
      </p:sp>
      <p:sp>
        <p:nvSpPr>
          <p:cNvPr id="4" name="Text 2"/>
          <p:cNvSpPr/>
          <p:nvPr/>
        </p:nvSpPr>
        <p:spPr>
          <a:xfrm>
            <a:off x="1249204" y="950000"/>
            <a:ext cx="10463808" cy="479465"/>
          </a:xfrm>
          <a:prstGeom prst="rect">
            <a:avLst/>
          </a:prstGeom>
          <a:noFill/>
          <a:ln/>
        </p:spPr>
        <p:txBody>
          <a:bodyPr wrap="none" lIns="0" tIns="0" rIns="0" bIns="0" rtlCol="0" anchor="t"/>
          <a:lstStyle/>
          <a:p>
            <a:pPr algn="l" indent="0" marL="0">
              <a:lnSpc>
                <a:spcPts val="3750"/>
              </a:lnSpc>
              <a:buNone/>
            </a:pPr>
            <a:r>
              <a:rPr lang="en-US" sz="3000" dirty="0">
                <a:solidFill>
                  <a:srgbClr val="2E3C4E"/>
                </a:solidFill>
                <a:latin typeface="Host Grotesk Medium" pitchFamily="34" charset="0"/>
                <a:ea typeface="Host Grotesk Medium" pitchFamily="34" charset="-122"/>
                <a:cs typeface="Host Grotesk Medium" pitchFamily="34" charset="-120"/>
              </a:rPr>
              <a:t>Sorting with Custom Keys: Finding the Most Frequent Letter</a:t>
            </a:r>
            <a:endParaRPr lang="en-US" sz="3000" dirty="0"/>
          </a:p>
        </p:txBody>
      </p:sp>
      <p:sp>
        <p:nvSpPr>
          <p:cNvPr id="5" name="Text 3"/>
          <p:cNvSpPr/>
          <p:nvPr/>
        </p:nvSpPr>
        <p:spPr>
          <a:xfrm>
            <a:off x="1249204" y="1717119"/>
            <a:ext cx="12131873" cy="582930"/>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While Python's default sorting works well, you can customize it using the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key</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argument with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sorted()</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or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max()</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to sort based on specific criteria, such as finding the most common element.</a:t>
            </a:r>
            <a:endParaRPr lang="en-US" sz="1500" dirty="0"/>
          </a:p>
        </p:txBody>
      </p:sp>
      <p:sp>
        <p:nvSpPr>
          <p:cNvPr id="6" name="Text 4"/>
          <p:cNvSpPr/>
          <p:nvPr/>
        </p:nvSpPr>
        <p:spPr>
          <a:xfrm>
            <a:off x="1249204" y="2707481"/>
            <a:ext cx="3077647" cy="299680"/>
          </a:xfrm>
          <a:prstGeom prst="rect">
            <a:avLst/>
          </a:prstGeom>
          <a:noFill/>
          <a:ln/>
        </p:spPr>
        <p:txBody>
          <a:bodyPr wrap="none" lIns="0" tIns="0" rIns="0" bIns="0" rtlCol="0" anchor="t"/>
          <a:lstStyle/>
          <a:p>
            <a:pPr algn="l" indent="0" marL="0">
              <a:lnSpc>
                <a:spcPts val="2350"/>
              </a:lnSpc>
              <a:buNone/>
            </a:pPr>
            <a:r>
              <a:rPr lang="en-US" sz="1850" dirty="0">
                <a:solidFill>
                  <a:srgbClr val="2E3C4E"/>
                </a:solidFill>
                <a:latin typeface="Host Grotesk Medium" pitchFamily="34" charset="0"/>
                <a:ea typeface="Host Grotesk Medium" pitchFamily="34" charset="-122"/>
                <a:cs typeface="Host Grotesk Medium" pitchFamily="34" charset="-120"/>
              </a:rPr>
              <a:t>Counting Letter Frequencies</a:t>
            </a:r>
            <a:endParaRPr lang="en-US" sz="1850" dirty="0"/>
          </a:p>
        </p:txBody>
      </p:sp>
      <p:sp>
        <p:nvSpPr>
          <p:cNvPr id="7" name="Text 5"/>
          <p:cNvSpPr/>
          <p:nvPr/>
        </p:nvSpPr>
        <p:spPr>
          <a:xfrm>
            <a:off x="1249204" y="3198852"/>
            <a:ext cx="5831919" cy="582930"/>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Let's use the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value_counts</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function to count occurrences of each letter in the word 'banana':</a:t>
            </a:r>
            <a:endParaRPr lang="en-US" sz="1500" dirty="0"/>
          </a:p>
        </p:txBody>
      </p:sp>
      <p:sp>
        <p:nvSpPr>
          <p:cNvPr id="8" name="Shape 6"/>
          <p:cNvSpPr/>
          <p:nvPr/>
        </p:nvSpPr>
        <p:spPr>
          <a:xfrm>
            <a:off x="1249204" y="3997523"/>
            <a:ext cx="5831919" cy="1150620"/>
          </a:xfrm>
          <a:prstGeom prst="roundRect">
            <a:avLst>
              <a:gd name="adj" fmla="val 7001"/>
            </a:avLst>
          </a:prstGeom>
          <a:solidFill>
            <a:srgbClr val="EDECE8"/>
          </a:solidFill>
          <a:ln/>
        </p:spPr>
      </p:sp>
      <p:sp>
        <p:nvSpPr>
          <p:cNvPr id="9" name="Shape 7"/>
          <p:cNvSpPr/>
          <p:nvPr/>
        </p:nvSpPr>
        <p:spPr>
          <a:xfrm>
            <a:off x="1239679" y="3997523"/>
            <a:ext cx="5850969" cy="1150620"/>
          </a:xfrm>
          <a:prstGeom prst="roundRect">
            <a:avLst>
              <a:gd name="adj" fmla="val 2500"/>
            </a:avLst>
          </a:prstGeom>
          <a:solidFill>
            <a:srgbClr val="EDECE8"/>
          </a:solidFill>
          <a:ln/>
        </p:spPr>
      </p:sp>
      <p:sp>
        <p:nvSpPr>
          <p:cNvPr id="10" name="Text 8"/>
          <p:cNvSpPr/>
          <p:nvPr/>
        </p:nvSpPr>
        <p:spPr>
          <a:xfrm>
            <a:off x="1431369" y="4141351"/>
            <a:ext cx="5467588" cy="862965"/>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counter = value_counts('banana')</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counter </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{'b': 1, 'a': 3, 'n': 2}</a:t>
            </a:r>
            <a:endParaRPr lang="en-US" sz="1500" dirty="0"/>
          </a:p>
        </p:txBody>
      </p:sp>
      <p:sp>
        <p:nvSpPr>
          <p:cNvPr id="11" name="Text 9"/>
          <p:cNvSpPr/>
          <p:nvPr/>
        </p:nvSpPr>
        <p:spPr>
          <a:xfrm>
            <a:off x="1249204" y="5363885"/>
            <a:ext cx="5831919" cy="29527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The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items()</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method gives us a list of key-value pairs (tuples).</a:t>
            </a:r>
            <a:endParaRPr lang="en-US" sz="1500" dirty="0"/>
          </a:p>
        </p:txBody>
      </p:sp>
      <p:sp>
        <p:nvSpPr>
          <p:cNvPr id="12" name="Shape 10"/>
          <p:cNvSpPr/>
          <p:nvPr/>
        </p:nvSpPr>
        <p:spPr>
          <a:xfrm>
            <a:off x="1249204" y="5874901"/>
            <a:ext cx="5831919" cy="1150620"/>
          </a:xfrm>
          <a:prstGeom prst="roundRect">
            <a:avLst>
              <a:gd name="adj" fmla="val 7001"/>
            </a:avLst>
          </a:prstGeom>
          <a:solidFill>
            <a:srgbClr val="EDECE8"/>
          </a:solidFill>
          <a:ln/>
        </p:spPr>
      </p:sp>
      <p:sp>
        <p:nvSpPr>
          <p:cNvPr id="13" name="Shape 11"/>
          <p:cNvSpPr/>
          <p:nvPr/>
        </p:nvSpPr>
        <p:spPr>
          <a:xfrm>
            <a:off x="1239679" y="5874901"/>
            <a:ext cx="5850969" cy="1150620"/>
          </a:xfrm>
          <a:prstGeom prst="roundRect">
            <a:avLst>
              <a:gd name="adj" fmla="val 2500"/>
            </a:avLst>
          </a:prstGeom>
          <a:solidFill>
            <a:srgbClr val="EDECE8"/>
          </a:solidFill>
          <a:ln/>
        </p:spPr>
      </p:sp>
      <p:sp>
        <p:nvSpPr>
          <p:cNvPr id="14" name="Text 12"/>
          <p:cNvSpPr/>
          <p:nvPr/>
        </p:nvSpPr>
        <p:spPr>
          <a:xfrm>
            <a:off x="1431369" y="6018728"/>
            <a:ext cx="5467588" cy="862965"/>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items = counter.items()</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items</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dict_items([('b', 1), ('a', 3), ('n', 2)])</a:t>
            </a:r>
            <a:endParaRPr lang="en-US" sz="1500" dirty="0"/>
          </a:p>
        </p:txBody>
      </p:sp>
      <p:sp>
        <p:nvSpPr>
          <p:cNvPr id="15" name="Text 13"/>
          <p:cNvSpPr/>
          <p:nvPr/>
        </p:nvSpPr>
        <p:spPr>
          <a:xfrm>
            <a:off x="7556659" y="2707481"/>
            <a:ext cx="2397562" cy="299680"/>
          </a:xfrm>
          <a:prstGeom prst="rect">
            <a:avLst/>
          </a:prstGeom>
          <a:noFill/>
          <a:ln/>
        </p:spPr>
        <p:txBody>
          <a:bodyPr wrap="none" lIns="0" tIns="0" rIns="0" bIns="0" rtlCol="0" anchor="t"/>
          <a:lstStyle/>
          <a:p>
            <a:pPr algn="l" indent="0" marL="0">
              <a:lnSpc>
                <a:spcPts val="2350"/>
              </a:lnSpc>
              <a:buNone/>
            </a:pPr>
            <a:r>
              <a:rPr lang="en-US" sz="1850" dirty="0">
                <a:solidFill>
                  <a:srgbClr val="2E3C4E"/>
                </a:solidFill>
                <a:latin typeface="Host Grotesk Medium" pitchFamily="34" charset="0"/>
                <a:ea typeface="Host Grotesk Medium" pitchFamily="34" charset="-122"/>
                <a:cs typeface="Host Grotesk Medium" pitchFamily="34" charset="-120"/>
              </a:rPr>
              <a:t>Custom Sorting Logic</a:t>
            </a:r>
            <a:endParaRPr lang="en-US" sz="1850" dirty="0"/>
          </a:p>
        </p:txBody>
      </p:sp>
      <p:sp>
        <p:nvSpPr>
          <p:cNvPr id="16" name="Text 14"/>
          <p:cNvSpPr/>
          <p:nvPr/>
        </p:nvSpPr>
        <p:spPr>
          <a:xfrm>
            <a:off x="7556659" y="3198852"/>
            <a:ext cx="5831919" cy="575310"/>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To sort by frequency (the second element of each tuple), we define a simple function:</a:t>
            </a:r>
            <a:endParaRPr lang="en-US" sz="1500" dirty="0"/>
          </a:p>
        </p:txBody>
      </p:sp>
      <p:sp>
        <p:nvSpPr>
          <p:cNvPr id="17" name="Shape 15"/>
          <p:cNvSpPr/>
          <p:nvPr/>
        </p:nvSpPr>
        <p:spPr>
          <a:xfrm>
            <a:off x="7556659" y="3989903"/>
            <a:ext cx="5831919" cy="862965"/>
          </a:xfrm>
          <a:prstGeom prst="roundRect">
            <a:avLst>
              <a:gd name="adj" fmla="val 9335"/>
            </a:avLst>
          </a:prstGeom>
          <a:solidFill>
            <a:srgbClr val="EDECE8"/>
          </a:solidFill>
          <a:ln/>
        </p:spPr>
      </p:sp>
      <p:sp>
        <p:nvSpPr>
          <p:cNvPr id="18" name="Shape 16"/>
          <p:cNvSpPr/>
          <p:nvPr/>
        </p:nvSpPr>
        <p:spPr>
          <a:xfrm>
            <a:off x="7547134" y="3989903"/>
            <a:ext cx="5850969" cy="862965"/>
          </a:xfrm>
          <a:prstGeom prst="roundRect">
            <a:avLst>
              <a:gd name="adj" fmla="val 3334"/>
            </a:avLst>
          </a:prstGeom>
          <a:solidFill>
            <a:srgbClr val="EDECE8"/>
          </a:solidFill>
          <a:ln/>
        </p:spPr>
      </p:sp>
      <p:sp>
        <p:nvSpPr>
          <p:cNvPr id="19" name="Text 17"/>
          <p:cNvSpPr/>
          <p:nvPr/>
        </p:nvSpPr>
        <p:spPr>
          <a:xfrm>
            <a:off x="7738824" y="4133731"/>
            <a:ext cx="5467588" cy="575310"/>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def second_element(t):</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    return t[1]</a:t>
            </a:r>
            <a:endParaRPr lang="en-US" sz="1500" dirty="0"/>
          </a:p>
        </p:txBody>
      </p:sp>
      <p:sp>
        <p:nvSpPr>
          <p:cNvPr id="20" name="Text 18"/>
          <p:cNvSpPr/>
          <p:nvPr/>
        </p:nvSpPr>
        <p:spPr>
          <a:xfrm>
            <a:off x="7556659" y="5068610"/>
            <a:ext cx="5831919" cy="295275"/>
          </a:xfrm>
          <a:prstGeom prst="rect">
            <a:avLst/>
          </a:prstGeom>
          <a:noFill/>
          <a:ln/>
        </p:spPr>
        <p:txBody>
          <a:bodyPr wrap="non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Then, we apply this function as a key to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sorted()</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a:t>
            </a:r>
            <a:endParaRPr lang="en-US" sz="1500" dirty="0"/>
          </a:p>
        </p:txBody>
      </p:sp>
      <p:sp>
        <p:nvSpPr>
          <p:cNvPr id="21" name="Shape 19"/>
          <p:cNvSpPr/>
          <p:nvPr/>
        </p:nvSpPr>
        <p:spPr>
          <a:xfrm>
            <a:off x="7556659" y="5579626"/>
            <a:ext cx="5831919" cy="1150620"/>
          </a:xfrm>
          <a:prstGeom prst="roundRect">
            <a:avLst>
              <a:gd name="adj" fmla="val 7001"/>
            </a:avLst>
          </a:prstGeom>
          <a:solidFill>
            <a:srgbClr val="EDECE8"/>
          </a:solidFill>
          <a:ln/>
        </p:spPr>
      </p:sp>
      <p:sp>
        <p:nvSpPr>
          <p:cNvPr id="22" name="Shape 20"/>
          <p:cNvSpPr/>
          <p:nvPr/>
        </p:nvSpPr>
        <p:spPr>
          <a:xfrm>
            <a:off x="7547134" y="5579626"/>
            <a:ext cx="5850969" cy="1150620"/>
          </a:xfrm>
          <a:prstGeom prst="roundRect">
            <a:avLst>
              <a:gd name="adj" fmla="val 2500"/>
            </a:avLst>
          </a:prstGeom>
          <a:solidFill>
            <a:srgbClr val="EDECE8"/>
          </a:solidFill>
          <a:ln/>
        </p:spPr>
      </p:sp>
      <p:sp>
        <p:nvSpPr>
          <p:cNvPr id="23" name="Text 21"/>
          <p:cNvSpPr/>
          <p:nvPr/>
        </p:nvSpPr>
        <p:spPr>
          <a:xfrm>
            <a:off x="7738824" y="5723453"/>
            <a:ext cx="5467588" cy="862965"/>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sorted_items = sorted(items, key=second_element)</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sorted_items </a:t>
            </a:r>
            <a:endParaRPr lang="en-US" sz="1500" dirty="0"/>
          </a:p>
          <a:p>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[('b', 1), ('n', 2), ('a', 3)]</a:t>
            </a:r>
            <a:endParaRPr lang="en-US" sz="1500" dirty="0"/>
          </a:p>
        </p:txBody>
      </p:sp>
      <p:sp>
        <p:nvSpPr>
          <p:cNvPr id="24" name="Text 22"/>
          <p:cNvSpPr/>
          <p:nvPr/>
        </p:nvSpPr>
        <p:spPr>
          <a:xfrm>
            <a:off x="7556659" y="6945987"/>
            <a:ext cx="5831919" cy="582930"/>
          </a:xfrm>
          <a:prstGeom prst="rect">
            <a:avLst/>
          </a:prstGeom>
          <a:noFill/>
          <a:ln/>
        </p:spPr>
        <p:txBody>
          <a:bodyPr wrap="square" lIns="0" tIns="0" rIns="0" bIns="0" rtlCol="0" anchor="t"/>
          <a:lstStyle/>
          <a:p>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This allows us to easily find the most frequent letter: </a:t>
            </a:r>
            <a:pPr algn="l" indent="0" marL="0">
              <a:lnSpc>
                <a:spcPts val="2250"/>
              </a:lnSpc>
              <a:buNone/>
            </a:pPr>
            <a:r>
              <a:rPr lang="en-US" sz="1500" dirty="0">
                <a:solidFill>
                  <a:srgbClr val="384653"/>
                </a:solidFill>
                <a:highlight>
                  <a:srgbClr val="EDECE8"/>
                </a:highlight>
                <a:latin typeface="Consolas" pitchFamily="34" charset="0"/>
                <a:ea typeface="Consolas" pitchFamily="34" charset="-122"/>
                <a:cs typeface="Consolas" pitchFamily="34" charset="-120"/>
              </a:rPr>
              <a:t>sorted_items[-1]</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 will return </a:t>
            </a:r>
            <a:pPr algn="l" indent="0" marL="0">
              <a:lnSpc>
                <a:spcPts val="2250"/>
              </a:lnSpc>
              <a:buNone/>
            </a:pPr>
            <a:r>
              <a:rPr lang="en-US" sz="1500" dirty="0">
                <a:solidFill>
                  <a:srgbClr val="95CCDA"/>
                </a:solidFill>
                <a:latin typeface="Roboto" pitchFamily="34" charset="0"/>
                <a:ea typeface="Roboto" pitchFamily="34" charset="-122"/>
                <a:cs typeface="Roboto" pitchFamily="34" charset="-120"/>
              </a:rPr>
              <a:t>('a', 3)</a:t>
            </a:r>
            <a:pPr algn="l" indent="0" marL="0">
              <a:lnSpc>
                <a:spcPts val="2250"/>
              </a:lnSpc>
              <a:buNone/>
            </a:pPr>
            <a:r>
              <a:rPr lang="en-US" sz="1500" dirty="0">
                <a:solidFill>
                  <a:srgbClr val="384653"/>
                </a:solidFill>
                <a:latin typeface="Roboto" pitchFamily="34" charset="0"/>
                <a:ea typeface="Roboto" pitchFamily="34" charset="-122"/>
                <a:cs typeface="Roboto"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678537"/>
            <a:ext cx="1223843" cy="408146"/>
          </a:xfrm>
          <a:prstGeom prst="roundRect">
            <a:avLst>
              <a:gd name="adj" fmla="val 18673"/>
            </a:avLst>
          </a:prstGeom>
          <a:solidFill>
            <a:srgbClr val="D9EDF2"/>
          </a:solidFill>
          <a:ln/>
        </p:spPr>
      </p:sp>
      <p:sp>
        <p:nvSpPr>
          <p:cNvPr id="3" name="Text 1"/>
          <p:cNvSpPr/>
          <p:nvPr/>
        </p:nvSpPr>
        <p:spPr>
          <a:xfrm>
            <a:off x="929878" y="746522"/>
            <a:ext cx="951667" cy="272177"/>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CHAPTER 3</a:t>
            </a:r>
            <a:endParaRPr lang="en-US" sz="1400" dirty="0"/>
          </a:p>
        </p:txBody>
      </p:sp>
      <p:sp>
        <p:nvSpPr>
          <p:cNvPr id="4" name="Text 2"/>
          <p:cNvSpPr/>
          <p:nvPr/>
        </p:nvSpPr>
        <p:spPr>
          <a:xfrm>
            <a:off x="793790" y="1177409"/>
            <a:ext cx="10697408"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Inverting Dictionaries: Mapping Values Back to Keys</a:t>
            </a:r>
            <a:endParaRPr lang="en-US" sz="3550" dirty="0"/>
          </a:p>
        </p:txBody>
      </p:sp>
      <p:sp>
        <p:nvSpPr>
          <p:cNvPr id="5" name="Text 3"/>
          <p:cNvSpPr/>
          <p:nvPr/>
        </p:nvSpPr>
        <p:spPr>
          <a:xfrm>
            <a:off x="793790" y="2084546"/>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Inverting a dictionary presents a unique challenge: dictionary keys must be unique, but values can be duplicated. Our solution involves mapping values from the original dictionary to lists of corresponding keys in the new, inverted dictionary.</a:t>
            </a:r>
            <a:endParaRPr lang="en-US" sz="1750" dirty="0"/>
          </a:p>
        </p:txBody>
      </p:sp>
      <p:sp>
        <p:nvSpPr>
          <p:cNvPr id="6" name="Shape 4"/>
          <p:cNvSpPr/>
          <p:nvPr/>
        </p:nvSpPr>
        <p:spPr>
          <a:xfrm>
            <a:off x="793790" y="3020020"/>
            <a:ext cx="4196358" cy="4530923"/>
          </a:xfrm>
          <a:prstGeom prst="roundRect">
            <a:avLst>
              <a:gd name="adj" fmla="val 2270"/>
            </a:avLst>
          </a:prstGeom>
          <a:solidFill>
            <a:srgbClr val="D9EDF2"/>
          </a:solidFill>
          <a:ln w="7620">
            <a:solidFill>
              <a:srgbClr val="BFD3D8"/>
            </a:solidFill>
            <a:prstDash val="solid"/>
          </a:ln>
        </p:spPr>
      </p:sp>
      <p:sp>
        <p:nvSpPr>
          <p:cNvPr id="7" name="Text 5"/>
          <p:cNvSpPr/>
          <p:nvPr/>
        </p:nvSpPr>
        <p:spPr>
          <a:xfrm>
            <a:off x="1028224" y="325445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Initial Dictionary</a:t>
            </a:r>
            <a:endParaRPr lang="en-US" sz="2200" dirty="0"/>
          </a:p>
        </p:txBody>
      </p:sp>
      <p:sp>
        <p:nvSpPr>
          <p:cNvPr id="8" name="Text 6"/>
          <p:cNvSpPr/>
          <p:nvPr/>
        </p:nvSpPr>
        <p:spPr>
          <a:xfrm>
            <a:off x="1028224" y="3744873"/>
            <a:ext cx="3727490"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Consider the letter counts for 'parrot':</a:t>
            </a:r>
            <a:endParaRPr lang="en-US" sz="1750" dirty="0"/>
          </a:p>
        </p:txBody>
      </p:sp>
      <p:sp>
        <p:nvSpPr>
          <p:cNvPr id="9" name="Shape 7"/>
          <p:cNvSpPr/>
          <p:nvPr/>
        </p:nvSpPr>
        <p:spPr>
          <a:xfrm>
            <a:off x="1028224" y="4680347"/>
            <a:ext cx="3727490" cy="1360527"/>
          </a:xfrm>
          <a:prstGeom prst="roundRect">
            <a:avLst>
              <a:gd name="adj" fmla="val 7002"/>
            </a:avLst>
          </a:prstGeom>
          <a:solidFill>
            <a:srgbClr val="EDECE8"/>
          </a:solidFill>
          <a:ln/>
        </p:spPr>
      </p:sp>
      <p:sp>
        <p:nvSpPr>
          <p:cNvPr id="10" name="Shape 8"/>
          <p:cNvSpPr/>
          <p:nvPr/>
        </p:nvSpPr>
        <p:spPr>
          <a:xfrm>
            <a:off x="1016913" y="4680347"/>
            <a:ext cx="3750112" cy="1360527"/>
          </a:xfrm>
          <a:prstGeom prst="roundRect">
            <a:avLst>
              <a:gd name="adj" fmla="val 2501"/>
            </a:avLst>
          </a:prstGeom>
          <a:solidFill>
            <a:srgbClr val="EDECE8"/>
          </a:solidFill>
          <a:ln/>
        </p:spPr>
      </p:sp>
      <p:sp>
        <p:nvSpPr>
          <p:cNvPr id="11" name="Text 9"/>
          <p:cNvSpPr/>
          <p:nvPr/>
        </p:nvSpPr>
        <p:spPr>
          <a:xfrm>
            <a:off x="1243727" y="4850368"/>
            <a:ext cx="3296483"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 = value_counts('parrot')</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d</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{'p': 1, 'a': 1, 'r': 2, 'o': 1, 't': 1}</a:t>
            </a:r>
            <a:endParaRPr lang="en-US" sz="1750" dirty="0"/>
          </a:p>
        </p:txBody>
      </p:sp>
      <p:sp>
        <p:nvSpPr>
          <p:cNvPr id="12" name="Text 10"/>
          <p:cNvSpPr/>
          <p:nvPr/>
        </p:nvSpPr>
        <p:spPr>
          <a:xfrm>
            <a:off x="1028224" y="6296025"/>
            <a:ext cx="3727490"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Multiple letters share the same count (e.g., 'p', 'a', 'o', 't' all appear once).</a:t>
            </a:r>
            <a:endParaRPr lang="en-US" sz="1750" dirty="0"/>
          </a:p>
        </p:txBody>
      </p:sp>
      <p:sp>
        <p:nvSpPr>
          <p:cNvPr id="13" name="Shape 11"/>
          <p:cNvSpPr/>
          <p:nvPr/>
        </p:nvSpPr>
        <p:spPr>
          <a:xfrm>
            <a:off x="5216962" y="3020020"/>
            <a:ext cx="4196358" cy="4530923"/>
          </a:xfrm>
          <a:prstGeom prst="roundRect">
            <a:avLst>
              <a:gd name="adj" fmla="val 2270"/>
            </a:avLst>
          </a:prstGeom>
          <a:solidFill>
            <a:srgbClr val="D9EDF2"/>
          </a:solidFill>
          <a:ln w="7620">
            <a:solidFill>
              <a:srgbClr val="BFD3D8"/>
            </a:solidFill>
            <a:prstDash val="solid"/>
          </a:ln>
        </p:spPr>
      </p:sp>
      <p:sp>
        <p:nvSpPr>
          <p:cNvPr id="14" name="Text 12"/>
          <p:cNvSpPr/>
          <p:nvPr/>
        </p:nvSpPr>
        <p:spPr>
          <a:xfrm>
            <a:off x="5451396" y="325445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The Inversion Logic</a:t>
            </a:r>
            <a:endParaRPr lang="en-US" sz="2200" dirty="0"/>
          </a:p>
        </p:txBody>
      </p:sp>
      <p:sp>
        <p:nvSpPr>
          <p:cNvPr id="15" name="Text 13"/>
          <p:cNvSpPr/>
          <p:nvPr/>
        </p:nvSpPr>
        <p:spPr>
          <a:xfrm>
            <a:off x="5451396" y="3744873"/>
            <a:ext cx="3727490" cy="272891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The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invert_dict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function iterates through the original dictionary. If a value is encountered for the first time, it becomes a new key in the inverted dictionary, associated with a list containing the original key. If the value already exists, the original key is appended to the existing list.</a:t>
            </a:r>
            <a:endParaRPr lang="en-US" sz="1750" dirty="0"/>
          </a:p>
        </p:txBody>
      </p:sp>
      <p:sp>
        <p:nvSpPr>
          <p:cNvPr id="16" name="Shape 14"/>
          <p:cNvSpPr/>
          <p:nvPr/>
        </p:nvSpPr>
        <p:spPr>
          <a:xfrm>
            <a:off x="9640133" y="3020020"/>
            <a:ext cx="4196358" cy="4530923"/>
          </a:xfrm>
          <a:prstGeom prst="roundRect">
            <a:avLst>
              <a:gd name="adj" fmla="val 2270"/>
            </a:avLst>
          </a:prstGeom>
          <a:solidFill>
            <a:srgbClr val="D9EDF2"/>
          </a:solidFill>
          <a:ln w="7620">
            <a:solidFill>
              <a:srgbClr val="BFD3D8"/>
            </a:solidFill>
            <a:prstDash val="solid"/>
          </a:ln>
        </p:spPr>
      </p:sp>
      <p:sp>
        <p:nvSpPr>
          <p:cNvPr id="17" name="Text 15"/>
          <p:cNvSpPr/>
          <p:nvPr/>
        </p:nvSpPr>
        <p:spPr>
          <a:xfrm>
            <a:off x="9874568" y="325445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Inverted Result</a:t>
            </a:r>
            <a:endParaRPr lang="en-US" sz="2200" dirty="0"/>
          </a:p>
        </p:txBody>
      </p:sp>
      <p:sp>
        <p:nvSpPr>
          <p:cNvPr id="18" name="Text 16"/>
          <p:cNvSpPr/>
          <p:nvPr/>
        </p:nvSpPr>
        <p:spPr>
          <a:xfrm>
            <a:off x="9874568" y="3744873"/>
            <a:ext cx="3727490" cy="34778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Applying </a:t>
            </a:r>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invert_dict</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t>
            </a:r>
            <a:endParaRPr lang="en-US" sz="1750" dirty="0"/>
          </a:p>
        </p:txBody>
      </p:sp>
      <p:sp>
        <p:nvSpPr>
          <p:cNvPr id="19" name="Shape 17"/>
          <p:cNvSpPr/>
          <p:nvPr/>
        </p:nvSpPr>
        <p:spPr>
          <a:xfrm>
            <a:off x="9874568" y="4347805"/>
            <a:ext cx="3727490" cy="1020366"/>
          </a:xfrm>
          <a:prstGeom prst="roundRect">
            <a:avLst>
              <a:gd name="adj" fmla="val 9337"/>
            </a:avLst>
          </a:prstGeom>
          <a:solidFill>
            <a:srgbClr val="EDECE8"/>
          </a:solidFill>
          <a:ln/>
        </p:spPr>
      </p:sp>
      <p:sp>
        <p:nvSpPr>
          <p:cNvPr id="20" name="Shape 18"/>
          <p:cNvSpPr/>
          <p:nvPr/>
        </p:nvSpPr>
        <p:spPr>
          <a:xfrm>
            <a:off x="9863257" y="4347805"/>
            <a:ext cx="3750112" cy="1020366"/>
          </a:xfrm>
          <a:prstGeom prst="roundRect">
            <a:avLst>
              <a:gd name="adj" fmla="val 3335"/>
            </a:avLst>
          </a:prstGeom>
          <a:solidFill>
            <a:srgbClr val="EDECE8"/>
          </a:solidFill>
          <a:ln/>
        </p:spPr>
      </p:sp>
      <p:sp>
        <p:nvSpPr>
          <p:cNvPr id="21" name="Text 19"/>
          <p:cNvSpPr/>
          <p:nvPr/>
        </p:nvSpPr>
        <p:spPr>
          <a:xfrm>
            <a:off x="10090071" y="4517827"/>
            <a:ext cx="3296483"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invert_dict(d)</a:t>
            </a:r>
            <a:endParaRPr lang="en-US" sz="1750" dirty="0"/>
          </a:p>
          <a:p>
            <a:pPr algn="l" indent="0" marL="0">
              <a:lnSpc>
                <a:spcPts val="2650"/>
              </a:lnSpc>
              <a:buNone/>
            </a:pPr>
            <a:r>
              <a:rPr lang="en-US" sz="1750" dirty="0">
                <a:solidFill>
                  <a:srgbClr val="384653"/>
                </a:solidFill>
                <a:highlight>
                  <a:srgbClr val="EDECE8"/>
                </a:highlight>
                <a:latin typeface="Consolas" pitchFamily="34" charset="0"/>
                <a:ea typeface="Consolas" pitchFamily="34" charset="-122"/>
                <a:cs typeface="Consolas" pitchFamily="34" charset="-120"/>
              </a:rPr>
              <a:t>{1: ['p', 'a', 'o', 't'], 2: ['r']}</a:t>
            </a:r>
            <a:endParaRPr lang="en-US" sz="1750" dirty="0"/>
          </a:p>
        </p:txBody>
      </p:sp>
      <p:sp>
        <p:nvSpPr>
          <p:cNvPr id="22" name="Text 20"/>
          <p:cNvSpPr/>
          <p:nvPr/>
        </p:nvSpPr>
        <p:spPr>
          <a:xfrm>
            <a:off x="9874568" y="5623322"/>
            <a:ext cx="3727490"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This structure effectively groups all keys that shared a common value in the original dictionary.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098119" y="572572"/>
            <a:ext cx="889635" cy="296704"/>
          </a:xfrm>
          <a:prstGeom prst="roundRect">
            <a:avLst>
              <a:gd name="adj" fmla="val 18681"/>
            </a:avLst>
          </a:prstGeom>
          <a:solidFill>
            <a:srgbClr val="D9EDF2"/>
          </a:solidFill>
          <a:ln/>
        </p:spPr>
      </p:sp>
      <p:sp>
        <p:nvSpPr>
          <p:cNvPr id="3" name="Text 1"/>
          <p:cNvSpPr/>
          <p:nvPr/>
        </p:nvSpPr>
        <p:spPr>
          <a:xfrm>
            <a:off x="2197060" y="621983"/>
            <a:ext cx="691753" cy="197882"/>
          </a:xfrm>
          <a:prstGeom prst="rect">
            <a:avLst/>
          </a:prstGeom>
          <a:noFill/>
          <a:ln/>
        </p:spPr>
        <p:txBody>
          <a:bodyPr wrap="none" lIns="0" tIns="0" rIns="0" bIns="0" rtlCol="0" anchor="t"/>
          <a:lstStyle/>
          <a:p>
            <a:pPr algn="l" indent="0" marL="0">
              <a:lnSpc>
                <a:spcPts val="1550"/>
              </a:lnSpc>
              <a:buNone/>
            </a:pPr>
            <a:r>
              <a:rPr lang="en-US" sz="1000" dirty="0">
                <a:solidFill>
                  <a:srgbClr val="384653"/>
                </a:solidFill>
                <a:latin typeface="Roboto" pitchFamily="34" charset="0"/>
                <a:ea typeface="Roboto" pitchFamily="34" charset="-122"/>
                <a:cs typeface="Roboto" pitchFamily="34" charset="-120"/>
              </a:rPr>
              <a:t>CHAPTER 4</a:t>
            </a:r>
            <a:endParaRPr lang="en-US" sz="1000" dirty="0"/>
          </a:p>
        </p:txBody>
      </p:sp>
      <p:sp>
        <p:nvSpPr>
          <p:cNvPr id="4" name="Text 2"/>
          <p:cNvSpPr/>
          <p:nvPr/>
        </p:nvSpPr>
        <p:spPr>
          <a:xfrm>
            <a:off x="2098119" y="935236"/>
            <a:ext cx="8177927" cy="442793"/>
          </a:xfrm>
          <a:prstGeom prst="rect">
            <a:avLst/>
          </a:prstGeom>
          <a:noFill/>
          <a:ln/>
        </p:spPr>
        <p:txBody>
          <a:bodyPr wrap="none" lIns="0" tIns="0" rIns="0" bIns="0" rtlCol="0" anchor="t"/>
          <a:lstStyle/>
          <a:p>
            <a:pPr algn="l" indent="0" marL="0">
              <a:lnSpc>
                <a:spcPts val="3200"/>
              </a:lnSpc>
              <a:buNone/>
            </a:pPr>
            <a:r>
              <a:rPr lang="en-US" sz="2550" dirty="0">
                <a:solidFill>
                  <a:srgbClr val="2E3C4E"/>
                </a:solidFill>
                <a:latin typeface="Host Grotesk Medium" pitchFamily="34" charset="0"/>
                <a:ea typeface="Host Grotesk Medium" pitchFamily="34" charset="-122"/>
                <a:cs typeface="Host Grotesk Medium" pitchFamily="34" charset="-120"/>
              </a:rPr>
              <a:t>Debugging Complex Data Structures with </a:t>
            </a:r>
            <a:pPr algn="l" indent="0" marL="0">
              <a:lnSpc>
                <a:spcPts val="3200"/>
              </a:lnSpc>
              <a:buNone/>
            </a:pPr>
            <a:r>
              <a:rPr lang="en-US" sz="2550" dirty="0">
                <a:solidFill>
                  <a:srgbClr val="384653"/>
                </a:solidFill>
                <a:highlight>
                  <a:srgbClr val="EDECE8"/>
                </a:highlight>
                <a:latin typeface="Consolas" pitchFamily="34" charset="0"/>
                <a:ea typeface="Consolas" pitchFamily="34" charset="-122"/>
                <a:cs typeface="Consolas" pitchFamily="34" charset="-120"/>
              </a:rPr>
              <a:t>structshape</a:t>
            </a:r>
            <a:endParaRPr lang="en-US" sz="2550" dirty="0"/>
          </a:p>
        </p:txBody>
      </p:sp>
      <p:sp>
        <p:nvSpPr>
          <p:cNvPr id="5" name="Text 3"/>
          <p:cNvSpPr/>
          <p:nvPr/>
        </p:nvSpPr>
        <p:spPr>
          <a:xfrm>
            <a:off x="2098119" y="1625441"/>
            <a:ext cx="10434042" cy="502682"/>
          </a:xfrm>
          <a:prstGeom prst="rect">
            <a:avLst/>
          </a:prstGeom>
          <a:noFill/>
          <a:ln/>
        </p:spPr>
        <p:txBody>
          <a:bodyPr wrap="squar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As data structures become more complex (e.g., lists of tuples, dictionaries with lists as values), debugging type, size, or structural errors can be challenging. The </a:t>
            </a:r>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structshape</a:t>
            </a:r>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 module is an invaluable tool for summarizing the structure of any data structure.</a:t>
            </a:r>
            <a:endParaRPr lang="en-US" sz="1250" dirty="0"/>
          </a:p>
        </p:txBody>
      </p:sp>
      <p:sp>
        <p:nvSpPr>
          <p:cNvPr id="6" name="Text 4"/>
          <p:cNvSpPr/>
          <p:nvPr/>
        </p:nvSpPr>
        <p:spPr>
          <a:xfrm>
            <a:off x="2098119" y="2478524"/>
            <a:ext cx="2062043" cy="257770"/>
          </a:xfrm>
          <a:prstGeom prst="rect">
            <a:avLst/>
          </a:prstGeom>
          <a:noFill/>
          <a:ln/>
        </p:spPr>
        <p:txBody>
          <a:bodyPr wrap="none" lIns="0" tIns="0" rIns="0" bIns="0" rtlCol="0" anchor="t"/>
          <a:lstStyle/>
          <a:p>
            <a:pPr algn="l" indent="0" marL="0">
              <a:lnSpc>
                <a:spcPts val="2000"/>
              </a:lnSpc>
              <a:buNone/>
            </a:pPr>
            <a:r>
              <a:rPr lang="en-US" sz="1600" dirty="0">
                <a:solidFill>
                  <a:srgbClr val="2E3C4E"/>
                </a:solidFill>
                <a:latin typeface="Host Grotesk Medium" pitchFamily="34" charset="0"/>
                <a:ea typeface="Host Grotesk Medium" pitchFamily="34" charset="-122"/>
                <a:cs typeface="Host Grotesk Medium" pitchFamily="34" charset="-120"/>
              </a:rPr>
              <a:t>Basic List Example</a:t>
            </a:r>
            <a:endParaRPr lang="en-US" sz="1600" dirty="0"/>
          </a:p>
        </p:txBody>
      </p:sp>
      <p:sp>
        <p:nvSpPr>
          <p:cNvPr id="7" name="Shape 5"/>
          <p:cNvSpPr/>
          <p:nvPr/>
        </p:nvSpPr>
        <p:spPr>
          <a:xfrm>
            <a:off x="2098119" y="2921794"/>
            <a:ext cx="5015746" cy="990005"/>
          </a:xfrm>
          <a:prstGeom prst="roundRect">
            <a:avLst>
              <a:gd name="adj" fmla="val 6999"/>
            </a:avLst>
          </a:prstGeom>
          <a:solidFill>
            <a:srgbClr val="EDECE8"/>
          </a:solidFill>
          <a:ln/>
        </p:spPr>
      </p:sp>
      <p:sp>
        <p:nvSpPr>
          <p:cNvPr id="8" name="Shape 6"/>
          <p:cNvSpPr/>
          <p:nvPr/>
        </p:nvSpPr>
        <p:spPr>
          <a:xfrm>
            <a:off x="2089904" y="2921794"/>
            <a:ext cx="5032177" cy="990005"/>
          </a:xfrm>
          <a:prstGeom prst="roundRect">
            <a:avLst>
              <a:gd name="adj" fmla="val 2499"/>
            </a:avLst>
          </a:prstGeom>
          <a:solidFill>
            <a:srgbClr val="EDECE8"/>
          </a:solidFill>
          <a:ln/>
        </p:spPr>
      </p:sp>
      <p:sp>
        <p:nvSpPr>
          <p:cNvPr id="9" name="Text 7"/>
          <p:cNvSpPr/>
          <p:nvPr/>
        </p:nvSpPr>
        <p:spPr>
          <a:xfrm>
            <a:off x="2254806" y="3045500"/>
            <a:ext cx="4702373" cy="742593"/>
          </a:xfrm>
          <a:prstGeom prst="rect">
            <a:avLst/>
          </a:prstGeom>
          <a:noFill/>
          <a:ln/>
        </p:spPr>
        <p:txBody>
          <a:bodyPr wrap="square" lIns="0" tIns="0" rIns="0" bIns="0" rtlCol="0" anchor="t"/>
          <a:lstStyle/>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t = [1, 2, 3]</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structshape(t)</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'list of 3 int'</a:t>
            </a:r>
            <a:endParaRPr lang="en-US" sz="1250" dirty="0"/>
          </a:p>
        </p:txBody>
      </p:sp>
      <p:sp>
        <p:nvSpPr>
          <p:cNvPr id="10" name="Text 8"/>
          <p:cNvSpPr/>
          <p:nvPr/>
        </p:nvSpPr>
        <p:spPr>
          <a:xfrm>
            <a:off x="2098119" y="4097298"/>
            <a:ext cx="5015746" cy="247531"/>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Provides a clear, concise description of the list's contents.</a:t>
            </a:r>
            <a:endParaRPr lang="en-US" sz="1250" dirty="0"/>
          </a:p>
        </p:txBody>
      </p:sp>
      <p:sp>
        <p:nvSpPr>
          <p:cNvPr id="11" name="Text 9"/>
          <p:cNvSpPr/>
          <p:nvPr/>
        </p:nvSpPr>
        <p:spPr>
          <a:xfrm>
            <a:off x="2098119" y="4509730"/>
            <a:ext cx="2062043" cy="257770"/>
          </a:xfrm>
          <a:prstGeom prst="rect">
            <a:avLst/>
          </a:prstGeom>
          <a:noFill/>
          <a:ln/>
        </p:spPr>
        <p:txBody>
          <a:bodyPr wrap="none" lIns="0" tIns="0" rIns="0" bIns="0" rtlCol="0" anchor="t"/>
          <a:lstStyle/>
          <a:p>
            <a:pPr algn="l" indent="0" marL="0">
              <a:lnSpc>
                <a:spcPts val="2000"/>
              </a:lnSpc>
              <a:buNone/>
            </a:pPr>
            <a:r>
              <a:rPr lang="en-US" sz="1600" dirty="0">
                <a:solidFill>
                  <a:srgbClr val="2E3C4E"/>
                </a:solidFill>
                <a:latin typeface="Host Grotesk Medium" pitchFamily="34" charset="0"/>
                <a:ea typeface="Host Grotesk Medium" pitchFamily="34" charset="-122"/>
                <a:cs typeface="Host Grotesk Medium" pitchFamily="34" charset="-120"/>
              </a:rPr>
              <a:t>List of Lists</a:t>
            </a:r>
            <a:endParaRPr lang="en-US" sz="1600" dirty="0"/>
          </a:p>
        </p:txBody>
      </p:sp>
      <p:sp>
        <p:nvSpPr>
          <p:cNvPr id="12" name="Shape 10"/>
          <p:cNvSpPr/>
          <p:nvPr/>
        </p:nvSpPr>
        <p:spPr>
          <a:xfrm>
            <a:off x="2098119" y="4953000"/>
            <a:ext cx="5015746" cy="990005"/>
          </a:xfrm>
          <a:prstGeom prst="roundRect">
            <a:avLst>
              <a:gd name="adj" fmla="val 6999"/>
            </a:avLst>
          </a:prstGeom>
          <a:solidFill>
            <a:srgbClr val="EDECE8"/>
          </a:solidFill>
          <a:ln/>
        </p:spPr>
      </p:sp>
      <p:sp>
        <p:nvSpPr>
          <p:cNvPr id="13" name="Shape 11"/>
          <p:cNvSpPr/>
          <p:nvPr/>
        </p:nvSpPr>
        <p:spPr>
          <a:xfrm>
            <a:off x="2089904" y="4953000"/>
            <a:ext cx="5032177" cy="990005"/>
          </a:xfrm>
          <a:prstGeom prst="roundRect">
            <a:avLst>
              <a:gd name="adj" fmla="val 2499"/>
            </a:avLst>
          </a:prstGeom>
          <a:solidFill>
            <a:srgbClr val="EDECE8"/>
          </a:solidFill>
          <a:ln/>
        </p:spPr>
      </p:sp>
      <p:sp>
        <p:nvSpPr>
          <p:cNvPr id="14" name="Text 12"/>
          <p:cNvSpPr/>
          <p:nvPr/>
        </p:nvSpPr>
        <p:spPr>
          <a:xfrm>
            <a:off x="2254806" y="5076706"/>
            <a:ext cx="4702373" cy="742593"/>
          </a:xfrm>
          <a:prstGeom prst="rect">
            <a:avLst/>
          </a:prstGeom>
          <a:noFill/>
          <a:ln/>
        </p:spPr>
        <p:txBody>
          <a:bodyPr wrap="square" lIns="0" tIns="0" rIns="0" bIns="0" rtlCol="0" anchor="t"/>
          <a:lstStyle/>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t2 = [[1,2], [3,4], [5,6]]</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structshape(t2)</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'list of 3 list of 2 int'</a:t>
            </a:r>
            <a:endParaRPr lang="en-US" sz="1250" dirty="0"/>
          </a:p>
        </p:txBody>
      </p:sp>
      <p:sp>
        <p:nvSpPr>
          <p:cNvPr id="15" name="Text 13"/>
          <p:cNvSpPr/>
          <p:nvPr/>
        </p:nvSpPr>
        <p:spPr>
          <a:xfrm>
            <a:off x="2098119" y="6128504"/>
            <a:ext cx="5015746" cy="247531"/>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Shows the nested structure and types within.</a:t>
            </a:r>
            <a:endParaRPr lang="en-US" sz="1250" dirty="0"/>
          </a:p>
        </p:txBody>
      </p:sp>
      <p:sp>
        <p:nvSpPr>
          <p:cNvPr id="16" name="Text 14"/>
          <p:cNvSpPr/>
          <p:nvPr/>
        </p:nvSpPr>
        <p:spPr>
          <a:xfrm>
            <a:off x="7523917" y="2478524"/>
            <a:ext cx="2062043" cy="257770"/>
          </a:xfrm>
          <a:prstGeom prst="rect">
            <a:avLst/>
          </a:prstGeom>
          <a:noFill/>
          <a:ln/>
        </p:spPr>
        <p:txBody>
          <a:bodyPr wrap="none" lIns="0" tIns="0" rIns="0" bIns="0" rtlCol="0" anchor="t"/>
          <a:lstStyle/>
          <a:p>
            <a:pPr algn="l" indent="0" marL="0">
              <a:lnSpc>
                <a:spcPts val="2000"/>
              </a:lnSpc>
              <a:buNone/>
            </a:pPr>
            <a:r>
              <a:rPr lang="en-US" sz="1600" dirty="0">
                <a:solidFill>
                  <a:srgbClr val="2E3C4E"/>
                </a:solidFill>
                <a:latin typeface="Host Grotesk Medium" pitchFamily="34" charset="0"/>
                <a:ea typeface="Host Grotesk Medium" pitchFamily="34" charset="-122"/>
                <a:cs typeface="Host Grotesk Medium" pitchFamily="34" charset="-120"/>
              </a:rPr>
              <a:t>Mixed Type List</a:t>
            </a:r>
            <a:endParaRPr lang="en-US" sz="1600" dirty="0"/>
          </a:p>
        </p:txBody>
      </p:sp>
      <p:sp>
        <p:nvSpPr>
          <p:cNvPr id="17" name="Shape 15"/>
          <p:cNvSpPr/>
          <p:nvPr/>
        </p:nvSpPr>
        <p:spPr>
          <a:xfrm>
            <a:off x="7523917" y="2921794"/>
            <a:ext cx="5015746" cy="990005"/>
          </a:xfrm>
          <a:prstGeom prst="roundRect">
            <a:avLst>
              <a:gd name="adj" fmla="val 6999"/>
            </a:avLst>
          </a:prstGeom>
          <a:solidFill>
            <a:srgbClr val="EDECE8"/>
          </a:solidFill>
          <a:ln/>
        </p:spPr>
      </p:sp>
      <p:sp>
        <p:nvSpPr>
          <p:cNvPr id="18" name="Shape 16"/>
          <p:cNvSpPr/>
          <p:nvPr/>
        </p:nvSpPr>
        <p:spPr>
          <a:xfrm>
            <a:off x="7515701" y="2921794"/>
            <a:ext cx="5032177" cy="990005"/>
          </a:xfrm>
          <a:prstGeom prst="roundRect">
            <a:avLst>
              <a:gd name="adj" fmla="val 2499"/>
            </a:avLst>
          </a:prstGeom>
          <a:solidFill>
            <a:srgbClr val="EDECE8"/>
          </a:solidFill>
          <a:ln/>
        </p:spPr>
      </p:sp>
      <p:sp>
        <p:nvSpPr>
          <p:cNvPr id="19" name="Text 17"/>
          <p:cNvSpPr/>
          <p:nvPr/>
        </p:nvSpPr>
        <p:spPr>
          <a:xfrm>
            <a:off x="7680603" y="3045500"/>
            <a:ext cx="4702373" cy="742593"/>
          </a:xfrm>
          <a:prstGeom prst="rect">
            <a:avLst/>
          </a:prstGeom>
          <a:noFill/>
          <a:ln/>
        </p:spPr>
        <p:txBody>
          <a:bodyPr wrap="square" lIns="0" tIns="0" rIns="0" bIns="0" rtlCol="0" anchor="t"/>
          <a:lstStyle/>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t3 = [1, 2, 3, 4.0, '5', '6', [7], [8], 9]</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structshape(t3)</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'list of (3 int, float, 2 str, 2 list of int, int)'</a:t>
            </a:r>
            <a:endParaRPr lang="en-US" sz="1250" dirty="0"/>
          </a:p>
        </p:txBody>
      </p:sp>
      <p:sp>
        <p:nvSpPr>
          <p:cNvPr id="20" name="Text 18"/>
          <p:cNvSpPr/>
          <p:nvPr/>
        </p:nvSpPr>
        <p:spPr>
          <a:xfrm>
            <a:off x="7523917" y="4097298"/>
            <a:ext cx="5015746" cy="247531"/>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Intelligently groups elements by type, providing a detailed summary.</a:t>
            </a:r>
            <a:endParaRPr lang="en-US" sz="1250" dirty="0"/>
          </a:p>
        </p:txBody>
      </p:sp>
      <p:sp>
        <p:nvSpPr>
          <p:cNvPr id="21" name="Text 19"/>
          <p:cNvSpPr/>
          <p:nvPr/>
        </p:nvSpPr>
        <p:spPr>
          <a:xfrm>
            <a:off x="7523917" y="4509730"/>
            <a:ext cx="2807732" cy="257770"/>
          </a:xfrm>
          <a:prstGeom prst="rect">
            <a:avLst/>
          </a:prstGeom>
          <a:noFill/>
          <a:ln/>
        </p:spPr>
        <p:txBody>
          <a:bodyPr wrap="none" lIns="0" tIns="0" rIns="0" bIns="0" rtlCol="0" anchor="t"/>
          <a:lstStyle/>
          <a:p>
            <a:pPr algn="l" indent="0" marL="0">
              <a:lnSpc>
                <a:spcPts val="2000"/>
              </a:lnSpc>
              <a:buNone/>
            </a:pPr>
            <a:r>
              <a:rPr lang="en-US" sz="1600" dirty="0">
                <a:solidFill>
                  <a:srgbClr val="2E3C4E"/>
                </a:solidFill>
                <a:latin typeface="Host Grotesk Medium" pitchFamily="34" charset="0"/>
                <a:ea typeface="Host Grotesk Medium" pitchFamily="34" charset="-122"/>
                <a:cs typeface="Host Grotesk Medium" pitchFamily="34" charset="-120"/>
              </a:rPr>
              <a:t>List of Tuples and Dictionaries</a:t>
            </a:r>
            <a:endParaRPr lang="en-US" sz="1600" dirty="0"/>
          </a:p>
        </p:txBody>
      </p:sp>
      <p:sp>
        <p:nvSpPr>
          <p:cNvPr id="22" name="Shape 20"/>
          <p:cNvSpPr/>
          <p:nvPr/>
        </p:nvSpPr>
        <p:spPr>
          <a:xfrm>
            <a:off x="7523917" y="4953000"/>
            <a:ext cx="5015746" cy="1237536"/>
          </a:xfrm>
          <a:prstGeom prst="roundRect">
            <a:avLst>
              <a:gd name="adj" fmla="val 5599"/>
            </a:avLst>
          </a:prstGeom>
          <a:solidFill>
            <a:srgbClr val="EDECE8"/>
          </a:solidFill>
          <a:ln/>
        </p:spPr>
      </p:sp>
      <p:sp>
        <p:nvSpPr>
          <p:cNvPr id="23" name="Shape 21"/>
          <p:cNvSpPr/>
          <p:nvPr/>
        </p:nvSpPr>
        <p:spPr>
          <a:xfrm>
            <a:off x="7515701" y="4953000"/>
            <a:ext cx="5032177" cy="1237536"/>
          </a:xfrm>
          <a:prstGeom prst="roundRect">
            <a:avLst>
              <a:gd name="adj" fmla="val 2000"/>
            </a:avLst>
          </a:prstGeom>
          <a:solidFill>
            <a:srgbClr val="EDECE8"/>
          </a:solidFill>
          <a:ln/>
        </p:spPr>
      </p:sp>
      <p:sp>
        <p:nvSpPr>
          <p:cNvPr id="24" name="Text 22"/>
          <p:cNvSpPr/>
          <p:nvPr/>
        </p:nvSpPr>
        <p:spPr>
          <a:xfrm>
            <a:off x="7680603" y="5076706"/>
            <a:ext cx="4702373" cy="990124"/>
          </a:xfrm>
          <a:prstGeom prst="rect">
            <a:avLst/>
          </a:prstGeom>
          <a:noFill/>
          <a:ln/>
        </p:spPr>
        <p:txBody>
          <a:bodyPr wrap="square" lIns="0" tIns="0" rIns="0" bIns="0" rtlCol="0" anchor="t"/>
          <a:lstStyle/>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s = 'abc'</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lt = list(zip(t, s)) # Creates list of tuples</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structshape(lt)</a:t>
            </a:r>
            <a:endParaRPr lang="en-US" sz="1250" dirty="0"/>
          </a:p>
          <a:p>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'list of 3 tuple of (int, str)'</a:t>
            </a:r>
            <a:endParaRPr lang="en-US" sz="1250" dirty="0"/>
          </a:p>
        </p:txBody>
      </p:sp>
      <p:sp>
        <p:nvSpPr>
          <p:cNvPr id="25" name="Text 23"/>
          <p:cNvSpPr/>
          <p:nvPr/>
        </p:nvSpPr>
        <p:spPr>
          <a:xfrm>
            <a:off x="7523917" y="6376035"/>
            <a:ext cx="5015746" cy="255151"/>
          </a:xfrm>
          <a:prstGeom prst="rect">
            <a:avLst/>
          </a:prstGeom>
          <a:noFill/>
          <a:ln/>
        </p:spPr>
        <p:txBody>
          <a:bodyPr wrap="none" lIns="0" tIns="0" rIns="0" bIns="0" rtlCol="0" anchor="t"/>
          <a:lstStyle/>
          <a:p>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And for a dictionary: </a:t>
            </a:r>
            <a:pPr algn="l" indent="0" marL="0">
              <a:lnSpc>
                <a:spcPts val="1900"/>
              </a:lnSpc>
              <a:buNone/>
            </a:pPr>
            <a:r>
              <a:rPr lang="en-US" sz="1250" dirty="0">
                <a:solidFill>
                  <a:srgbClr val="384653"/>
                </a:solidFill>
                <a:highlight>
                  <a:srgbClr val="EDECE8"/>
                </a:highlight>
                <a:latin typeface="Consolas" pitchFamily="34" charset="0"/>
                <a:ea typeface="Consolas" pitchFamily="34" charset="-122"/>
                <a:cs typeface="Consolas" pitchFamily="34" charset="-120"/>
              </a:rPr>
              <a:t>d = dict(lt)</a:t>
            </a:r>
            <a:pPr algn="l" indent="0" marL="0">
              <a:lnSpc>
                <a:spcPts val="1900"/>
              </a:lnSpc>
              <a:buNone/>
            </a:pPr>
            <a:r>
              <a:rPr lang="en-US" sz="1250" dirty="0">
                <a:solidFill>
                  <a:srgbClr val="384653"/>
                </a:solidFill>
                <a:latin typeface="Roboto" pitchFamily="34" charset="0"/>
                <a:ea typeface="Roboto" pitchFamily="34" charset="-122"/>
                <a:cs typeface="Roboto" pitchFamily="34" charset="-120"/>
              </a:rPr>
              <a:t> yields </a:t>
            </a:r>
            <a:pPr algn="l" indent="0" marL="0">
              <a:lnSpc>
                <a:spcPts val="1900"/>
              </a:lnSpc>
              <a:buNone/>
            </a:pPr>
            <a:r>
              <a:rPr lang="en-US" sz="1250" dirty="0">
                <a:solidFill>
                  <a:srgbClr val="95CCDA"/>
                </a:solidFill>
                <a:latin typeface="Roboto" pitchFamily="34" charset="0"/>
                <a:ea typeface="Roboto" pitchFamily="34" charset="-122"/>
                <a:cs typeface="Roboto" pitchFamily="34" charset="-120"/>
              </a:rPr>
              <a:t>'dict of 3 int-&gt;str'</a:t>
            </a:r>
            <a:endParaRPr lang="en-US" sz="1250" dirty="0"/>
          </a:p>
        </p:txBody>
      </p:sp>
      <p:sp>
        <p:nvSpPr>
          <p:cNvPr id="26" name="Shape 24"/>
          <p:cNvSpPr/>
          <p:nvPr/>
        </p:nvSpPr>
        <p:spPr>
          <a:xfrm>
            <a:off x="2098119" y="6965037"/>
            <a:ext cx="10434042" cy="691991"/>
          </a:xfrm>
          <a:prstGeom prst="roundRect">
            <a:avLst>
              <a:gd name="adj" fmla="val 10013"/>
            </a:avLst>
          </a:prstGeom>
          <a:solidFill>
            <a:srgbClr val="C6E4EB"/>
          </a:solidFill>
          <a:ln/>
        </p:spPr>
      </p:sp>
      <p:pic>
        <p:nvPicPr>
          <p:cNvPr id="27" name="Image 0" descr="preencoded.png">    </p:cNvPr>
          <p:cNvPicPr>
            <a:picLocks noChangeAspect="1"/>
          </p:cNvPicPr>
          <p:nvPr/>
        </p:nvPicPr>
        <p:blipFill>
          <a:blip r:embed="rId1"/>
          <a:stretch>
            <a:fillRect/>
          </a:stretch>
        </p:blipFill>
        <p:spPr>
          <a:xfrm>
            <a:off x="2263021" y="7202091"/>
            <a:ext cx="206097" cy="164902"/>
          </a:xfrm>
          <a:prstGeom prst="rect">
            <a:avLst/>
          </a:prstGeom>
        </p:spPr>
      </p:pic>
      <p:sp>
        <p:nvSpPr>
          <p:cNvPr id="28" name="Text 25"/>
          <p:cNvSpPr/>
          <p:nvPr/>
        </p:nvSpPr>
        <p:spPr>
          <a:xfrm>
            <a:off x="2634020" y="7171134"/>
            <a:ext cx="9733240" cy="255151"/>
          </a:xfrm>
          <a:prstGeom prst="rect">
            <a:avLst/>
          </a:prstGeom>
          <a:noFill/>
          <a:ln/>
        </p:spPr>
        <p:txBody>
          <a:bodyPr wrap="none" lIns="0" tIns="0" rIns="0" bIns="0" rtlCol="0" anchor="t"/>
          <a:lstStyle/>
          <a:p>
            <a:pPr algn="l" indent="0" marL="0">
              <a:lnSpc>
                <a:spcPts val="1900"/>
              </a:lnSpc>
              <a:buNone/>
            </a:pPr>
            <a:r>
              <a:rPr lang="en-US" sz="1250" dirty="0">
                <a:solidFill>
                  <a:srgbClr val="000000"/>
                </a:solidFill>
                <a:latin typeface="Roboto" pitchFamily="34" charset="0"/>
                <a:ea typeface="Roboto" pitchFamily="34" charset="-122"/>
                <a:cs typeface="Roboto" pitchFamily="34" charset="-120"/>
              </a:rPr>
              <a:t>Download </a:t>
            </a:r>
            <a:pPr algn="l" indent="0" marL="0">
              <a:lnSpc>
                <a:spcPts val="1900"/>
              </a:lnSpc>
              <a:buNone/>
            </a:pPr>
            <a:r>
              <a:rPr lang="en-US" sz="1250" dirty="0">
                <a:solidFill>
                  <a:srgbClr val="000000"/>
                </a:solidFill>
                <a:highlight>
                  <a:srgbClr val="EDECE8"/>
                </a:highlight>
                <a:latin typeface="Consolas" pitchFamily="34" charset="0"/>
                <a:ea typeface="Consolas" pitchFamily="34" charset="-122"/>
                <a:cs typeface="Consolas" pitchFamily="34" charset="-120"/>
              </a:rPr>
              <a:t>structshape.py</a:t>
            </a:r>
            <a:pPr algn="l" indent="0" marL="0">
              <a:lnSpc>
                <a:spcPts val="1900"/>
              </a:lnSpc>
              <a:buNone/>
            </a:pPr>
            <a:r>
              <a:rPr lang="en-US" sz="1250" dirty="0">
                <a:solidFill>
                  <a:srgbClr val="000000"/>
                </a:solidFill>
                <a:latin typeface="Roboto" pitchFamily="34" charset="0"/>
                <a:ea typeface="Roboto" pitchFamily="34" charset="-122"/>
                <a:cs typeface="Roboto" pitchFamily="34" charset="-120"/>
              </a:rPr>
              <a:t> from </a:t>
            </a:r>
            <a:pPr algn="l" indent="0" marL="0">
              <a:lnSpc>
                <a:spcPts val="1900"/>
              </a:lnSpc>
              <a:buNone/>
            </a:pPr>
            <a:r>
              <a:rPr lang="en-US" sz="1250" u="sng" dirty="0">
                <a:solidFill>
                  <a:srgbClr val="3A6B7E"/>
                </a:solidFill>
                <a:latin typeface="Roboto" pitchFamily="34" charset="0"/>
                <a:ea typeface="Roboto" pitchFamily="34" charset="-122"/>
                <a:cs typeface="Robo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https://raw.githubusercontent.com/AllenDowney/ThinkPython/v3/structshape.py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2026-01-15T06:13:46Z</dcterms:created>
  <dcterms:modified xsi:type="dcterms:W3CDTF">2026-01-15T06:13:46Z</dcterms:modified>
</cp:coreProperties>
</file>