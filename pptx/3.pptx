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Host Grotesk Medium"/>
      <p:regular r:id="rId16"/>
    </p:embeddedFont>
    <p:embeddedFont>
      <p:font typeface="Host Grotesk Medium"/>
      <p:regular r:id="rId17"/>
    </p:embeddedFont>
    <p:embeddedFont>
      <p:font typeface="Host Grotesk Medium"/>
      <p:regular r:id="rId18"/>
    </p:embeddedFont>
    <p:embeddedFont>
      <p:font typeface="Host Grotesk Medium"/>
      <p:regular r:id="rId19"/>
    </p:embeddedFont>
    <p:embeddedFont>
      <p:font typeface="Roboto"/>
      <p:regular r:id="rId20"/>
    </p:embeddedFont>
    <p:embeddedFont>
      <p:font typeface="Roboto"/>
      <p:regular r:id="rId21"/>
    </p:embeddedFont>
    <p:embeddedFont>
      <p:font typeface="Roboto"/>
      <p:regular r:id="rId22"/>
    </p:embeddedFont>
    <p:embeddedFont>
      <p:font typeface="Roboto"/>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193375"/>
            <a:ext cx="11850410"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Unlocking Python: Functions and Control Flow</a:t>
            </a:r>
            <a:endParaRPr lang="en-US" sz="4450" dirty="0"/>
          </a:p>
        </p:txBody>
      </p:sp>
      <p:sp>
        <p:nvSpPr>
          <p:cNvPr id="3" name="Text 1"/>
          <p:cNvSpPr/>
          <p:nvPr/>
        </p:nvSpPr>
        <p:spPr>
          <a:xfrm>
            <a:off x="793790" y="4355783"/>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Welcome to an exciting journey into the heart of Python programming! This presentation will guide you through the essentials of functions and control flow, empowering you to write more organized, efficient, and powerful code.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80812" y="779145"/>
            <a:ext cx="1203603" cy="401479"/>
          </a:xfrm>
          <a:prstGeom prst="roundRect">
            <a:avLst>
              <a:gd name="adj" fmla="val 18672"/>
            </a:avLst>
          </a:prstGeom>
          <a:solidFill>
            <a:srgbClr val="D9EDF2"/>
          </a:solidFill>
          <a:ln/>
        </p:spPr>
      </p:sp>
      <p:sp>
        <p:nvSpPr>
          <p:cNvPr id="3" name="Text 1"/>
          <p:cNvSpPr/>
          <p:nvPr/>
        </p:nvSpPr>
        <p:spPr>
          <a:xfrm>
            <a:off x="914638" y="846058"/>
            <a:ext cx="935950" cy="267653"/>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CHAPTER 3</a:t>
            </a:r>
            <a:endParaRPr lang="en-US" sz="1400" dirty="0"/>
          </a:p>
        </p:txBody>
      </p:sp>
      <p:sp>
        <p:nvSpPr>
          <p:cNvPr id="4" name="Text 2"/>
          <p:cNvSpPr/>
          <p:nvPr/>
        </p:nvSpPr>
        <p:spPr>
          <a:xfrm>
            <a:off x="780812" y="1269802"/>
            <a:ext cx="6145887" cy="557808"/>
          </a:xfrm>
          <a:prstGeom prst="rect">
            <a:avLst/>
          </a:prstGeom>
          <a:noFill/>
          <a:ln/>
        </p:spPr>
        <p:txBody>
          <a:bodyPr wrap="none" lIns="0" tIns="0" rIns="0" bIns="0" rtlCol="0" anchor="t"/>
          <a:lstStyle/>
          <a:p>
            <a:pPr algn="l" indent="0" marL="0">
              <a:lnSpc>
                <a:spcPts val="4350"/>
              </a:lnSpc>
              <a:buNone/>
            </a:pPr>
            <a:r>
              <a:rPr lang="en-US" sz="3500" dirty="0">
                <a:solidFill>
                  <a:srgbClr val="2E3C4E"/>
                </a:solidFill>
                <a:latin typeface="Host Grotesk Medium" pitchFamily="34" charset="0"/>
                <a:ea typeface="Host Grotesk Medium" pitchFamily="34" charset="-122"/>
                <a:cs typeface="Host Grotesk Medium" pitchFamily="34" charset="-120"/>
              </a:rPr>
              <a:t>Defining and Calling Functions</a:t>
            </a:r>
            <a:endParaRPr lang="en-US" sz="3500" dirty="0"/>
          </a:p>
        </p:txBody>
      </p:sp>
      <p:sp>
        <p:nvSpPr>
          <p:cNvPr id="5" name="Shape 3"/>
          <p:cNvSpPr/>
          <p:nvPr/>
        </p:nvSpPr>
        <p:spPr>
          <a:xfrm>
            <a:off x="780812" y="2162175"/>
            <a:ext cx="6422827" cy="5288161"/>
          </a:xfrm>
          <a:prstGeom prst="roundRect">
            <a:avLst>
              <a:gd name="adj" fmla="val 2767"/>
            </a:avLst>
          </a:prstGeom>
          <a:solidFill>
            <a:srgbClr val="FAF9F5"/>
          </a:solidFill>
          <a:ln w="30480">
            <a:solidFill>
              <a:srgbClr val="BFD3D8"/>
            </a:solidFill>
            <a:prstDash val="solid"/>
          </a:ln>
        </p:spPr>
      </p:sp>
      <p:pic>
        <p:nvPicPr>
          <p:cNvPr id="6" name="Image 0" descr="preencoded.png">    </p:cNvPr>
          <p:cNvPicPr>
            <a:picLocks noChangeAspect="1"/>
          </p:cNvPicPr>
          <p:nvPr/>
        </p:nvPicPr>
        <p:blipFill>
          <a:blip r:embed="rId1"/>
          <a:stretch>
            <a:fillRect/>
          </a:stretch>
        </p:blipFill>
        <p:spPr>
          <a:xfrm>
            <a:off x="750332" y="2162175"/>
            <a:ext cx="121920" cy="5288161"/>
          </a:xfrm>
          <a:prstGeom prst="rect">
            <a:avLst/>
          </a:prstGeom>
        </p:spPr>
      </p:pic>
      <p:sp>
        <p:nvSpPr>
          <p:cNvPr id="7" name="Text 4"/>
          <p:cNvSpPr/>
          <p:nvPr/>
        </p:nvSpPr>
        <p:spPr>
          <a:xfrm>
            <a:off x="1125736" y="2415659"/>
            <a:ext cx="4499134" cy="448747"/>
          </a:xfrm>
          <a:prstGeom prst="rect">
            <a:avLst/>
          </a:prstGeom>
          <a:noFill/>
          <a:ln/>
        </p:spPr>
        <p:txBody>
          <a:bodyPr wrap="none" lIns="0" tIns="0" rIns="0" bIns="0" rtlCol="0" anchor="t"/>
          <a:lstStyle/>
          <a:p>
            <a:pPr algn="l" indent="0" marL="0">
              <a:lnSpc>
                <a:spcPts val="3250"/>
              </a:lnSpc>
              <a:buNone/>
            </a:pPr>
            <a:r>
              <a:rPr lang="en-US" sz="2600" dirty="0">
                <a:solidFill>
                  <a:srgbClr val="384653"/>
                </a:solidFill>
                <a:latin typeface="Host Grotesk Medium" pitchFamily="34" charset="0"/>
                <a:ea typeface="Host Grotesk Medium" pitchFamily="34" charset="-122"/>
                <a:cs typeface="Host Grotesk Medium" pitchFamily="34" charset="-120"/>
              </a:rPr>
              <a:t>The </a:t>
            </a:r>
            <a:pPr algn="l" indent="0" marL="0">
              <a:lnSpc>
                <a:spcPts val="3250"/>
              </a:lnSpc>
              <a:buNone/>
            </a:pPr>
            <a:r>
              <a:rPr lang="en-US" sz="2600" dirty="0">
                <a:solidFill>
                  <a:srgbClr val="384653"/>
                </a:solidFill>
                <a:highlight>
                  <a:srgbClr val="EDECE8"/>
                </a:highlight>
                <a:latin typeface="Consolas" pitchFamily="34" charset="0"/>
                <a:ea typeface="Consolas" pitchFamily="34" charset="-122"/>
                <a:cs typeface="Consolas" pitchFamily="34" charset="-120"/>
              </a:rPr>
              <a:t>first_two_lines()</a:t>
            </a:r>
            <a:pPr algn="l" indent="0" marL="0">
              <a:lnSpc>
                <a:spcPts val="3250"/>
              </a:lnSpc>
              <a:buNone/>
            </a:pPr>
            <a:r>
              <a:rPr lang="en-US" sz="2600" dirty="0">
                <a:solidFill>
                  <a:srgbClr val="384653"/>
                </a:solidFill>
                <a:latin typeface="Host Grotesk Medium" pitchFamily="34" charset="0"/>
                <a:ea typeface="Host Grotesk Medium" pitchFamily="34" charset="-122"/>
                <a:cs typeface="Host Grotesk Medium" pitchFamily="34" charset="-120"/>
              </a:rPr>
              <a:t> Function</a:t>
            </a:r>
            <a:endParaRPr lang="en-US" sz="2600" dirty="0"/>
          </a:p>
        </p:txBody>
      </p:sp>
      <p:sp>
        <p:nvSpPr>
          <p:cNvPr id="8" name="Text 5"/>
          <p:cNvSpPr/>
          <p:nvPr/>
        </p:nvSpPr>
        <p:spPr>
          <a:xfrm>
            <a:off x="1125736" y="2998232"/>
            <a:ext cx="5824418" cy="1346359"/>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To kick things off, let's define a function called </a:t>
            </a:r>
            <a:pPr algn="l" indent="0" marL="0">
              <a:lnSpc>
                <a:spcPts val="260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first_two_lines()</a:t>
            </a:r>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 This function will use a repeating pattern to print eight instances of "Spam," simulating the first two lines of a song.</a:t>
            </a:r>
            <a:endParaRPr lang="en-US" sz="1750" dirty="0"/>
          </a:p>
        </p:txBody>
      </p:sp>
      <p:sp>
        <p:nvSpPr>
          <p:cNvPr id="9" name="Shape 6"/>
          <p:cNvSpPr/>
          <p:nvPr/>
        </p:nvSpPr>
        <p:spPr>
          <a:xfrm>
            <a:off x="1125736" y="4595574"/>
            <a:ext cx="5824418" cy="1673304"/>
          </a:xfrm>
          <a:prstGeom prst="roundRect">
            <a:avLst>
              <a:gd name="adj" fmla="val 5600"/>
            </a:avLst>
          </a:prstGeom>
          <a:solidFill>
            <a:srgbClr val="EDECE8"/>
          </a:solidFill>
          <a:ln/>
        </p:spPr>
      </p:sp>
      <p:sp>
        <p:nvSpPr>
          <p:cNvPr id="10" name="Shape 7"/>
          <p:cNvSpPr/>
          <p:nvPr/>
        </p:nvSpPr>
        <p:spPr>
          <a:xfrm>
            <a:off x="1114663" y="4595574"/>
            <a:ext cx="5846564" cy="1673304"/>
          </a:xfrm>
          <a:prstGeom prst="roundRect">
            <a:avLst>
              <a:gd name="adj" fmla="val 2000"/>
            </a:avLst>
          </a:prstGeom>
          <a:solidFill>
            <a:srgbClr val="EDECE8"/>
          </a:solidFill>
          <a:ln/>
        </p:spPr>
      </p:sp>
      <p:sp>
        <p:nvSpPr>
          <p:cNvPr id="11" name="Text 8"/>
          <p:cNvSpPr/>
          <p:nvPr/>
        </p:nvSpPr>
        <p:spPr>
          <a:xfrm>
            <a:off x="1337667" y="4762857"/>
            <a:ext cx="5400556" cy="1338739"/>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def first_two_lines():
    repeat(spam, 4)
    repeat(spam, 4)
</a:t>
            </a:r>
            <a:endParaRPr lang="en-US" sz="1750" dirty="0"/>
          </a:p>
        </p:txBody>
      </p:sp>
      <p:sp>
        <p:nvSpPr>
          <p:cNvPr id="12" name="Text 9"/>
          <p:cNvSpPr/>
          <p:nvPr/>
        </p:nvSpPr>
        <p:spPr>
          <a:xfrm>
            <a:off x="1125736" y="6519863"/>
            <a:ext cx="5824418" cy="676989"/>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By calling </a:t>
            </a:r>
            <a:pPr algn="l" indent="0" marL="0">
              <a:lnSpc>
                <a:spcPts val="260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first_two_lines()</a:t>
            </a:r>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 you'll see "Spam, Spam, Spam, Spam, Spam, Spam, Spam, Spam" printed to your console.</a:t>
            </a:r>
            <a:endParaRPr lang="en-US" sz="1750" dirty="0"/>
          </a:p>
        </p:txBody>
      </p:sp>
      <p:sp>
        <p:nvSpPr>
          <p:cNvPr id="13" name="Shape 10"/>
          <p:cNvSpPr/>
          <p:nvPr/>
        </p:nvSpPr>
        <p:spPr>
          <a:xfrm>
            <a:off x="7426642" y="2162175"/>
            <a:ext cx="6422946" cy="5288161"/>
          </a:xfrm>
          <a:prstGeom prst="roundRect">
            <a:avLst>
              <a:gd name="adj" fmla="val 2767"/>
            </a:avLst>
          </a:prstGeom>
          <a:solidFill>
            <a:srgbClr val="FAF9F5"/>
          </a:solidFill>
          <a:ln w="30480">
            <a:solidFill>
              <a:srgbClr val="BFD3D8"/>
            </a:solidFill>
            <a:prstDash val="solid"/>
          </a:ln>
        </p:spPr>
      </p:sp>
      <p:pic>
        <p:nvPicPr>
          <p:cNvPr id="14" name="Image 1" descr="preencoded.png">    </p:cNvPr>
          <p:cNvPicPr>
            <a:picLocks noChangeAspect="1"/>
          </p:cNvPicPr>
          <p:nvPr/>
        </p:nvPicPr>
        <p:blipFill>
          <a:blip r:embed="rId2"/>
          <a:stretch>
            <a:fillRect/>
          </a:stretch>
        </p:blipFill>
        <p:spPr>
          <a:xfrm>
            <a:off x="7396162" y="2162175"/>
            <a:ext cx="121920" cy="5288161"/>
          </a:xfrm>
          <a:prstGeom prst="rect">
            <a:avLst/>
          </a:prstGeom>
        </p:spPr>
      </p:pic>
      <p:sp>
        <p:nvSpPr>
          <p:cNvPr id="15" name="Text 11"/>
          <p:cNvSpPr/>
          <p:nvPr/>
        </p:nvSpPr>
        <p:spPr>
          <a:xfrm>
            <a:off x="7771567" y="2415659"/>
            <a:ext cx="4683800" cy="448747"/>
          </a:xfrm>
          <a:prstGeom prst="rect">
            <a:avLst/>
          </a:prstGeom>
          <a:noFill/>
          <a:ln/>
        </p:spPr>
        <p:txBody>
          <a:bodyPr wrap="none" lIns="0" tIns="0" rIns="0" bIns="0" rtlCol="0" anchor="t"/>
          <a:lstStyle/>
          <a:p>
            <a:pPr algn="l" indent="0" marL="0">
              <a:lnSpc>
                <a:spcPts val="3250"/>
              </a:lnSpc>
              <a:buNone/>
            </a:pPr>
            <a:r>
              <a:rPr lang="en-US" sz="2600" dirty="0">
                <a:solidFill>
                  <a:srgbClr val="384653"/>
                </a:solidFill>
                <a:latin typeface="Host Grotesk Medium" pitchFamily="34" charset="0"/>
                <a:ea typeface="Host Grotesk Medium" pitchFamily="34" charset="-122"/>
                <a:cs typeface="Host Grotesk Medium" pitchFamily="34" charset="-120"/>
              </a:rPr>
              <a:t>The </a:t>
            </a:r>
            <a:pPr algn="l" indent="0" marL="0">
              <a:lnSpc>
                <a:spcPts val="3250"/>
              </a:lnSpc>
              <a:buNone/>
            </a:pPr>
            <a:r>
              <a:rPr lang="en-US" sz="2600" dirty="0">
                <a:solidFill>
                  <a:srgbClr val="384653"/>
                </a:solidFill>
                <a:highlight>
                  <a:srgbClr val="EDECE8"/>
                </a:highlight>
                <a:latin typeface="Consolas" pitchFamily="34" charset="0"/>
                <a:ea typeface="Consolas" pitchFamily="34" charset="-122"/>
                <a:cs typeface="Consolas" pitchFamily="34" charset="-120"/>
              </a:rPr>
              <a:t>last_three_lines()</a:t>
            </a:r>
            <a:pPr algn="l" indent="0" marL="0">
              <a:lnSpc>
                <a:spcPts val="3250"/>
              </a:lnSpc>
              <a:buNone/>
            </a:pPr>
            <a:r>
              <a:rPr lang="en-US" sz="2600" dirty="0">
                <a:solidFill>
                  <a:srgbClr val="384653"/>
                </a:solidFill>
                <a:latin typeface="Host Grotesk Medium" pitchFamily="34" charset="0"/>
                <a:ea typeface="Host Grotesk Medium" pitchFamily="34" charset="-122"/>
                <a:cs typeface="Host Grotesk Medium" pitchFamily="34" charset="-120"/>
              </a:rPr>
              <a:t> Function</a:t>
            </a:r>
            <a:endParaRPr lang="en-US" sz="2600" dirty="0"/>
          </a:p>
        </p:txBody>
      </p:sp>
      <p:sp>
        <p:nvSpPr>
          <p:cNvPr id="16" name="Text 12"/>
          <p:cNvSpPr/>
          <p:nvPr/>
        </p:nvSpPr>
        <p:spPr>
          <a:xfrm>
            <a:off x="7771567" y="2998232"/>
            <a:ext cx="5824537" cy="1011674"/>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Next, we create </a:t>
            </a:r>
            <a:pPr algn="l" indent="0" marL="0">
              <a:lnSpc>
                <a:spcPts val="260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last_three_lines()</a:t>
            </a:r>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 This function will print "Spam" twice, then a unique phrase, and finally "Spam" two more times, completing the song segment.</a:t>
            </a:r>
            <a:endParaRPr lang="en-US" sz="1750" dirty="0"/>
          </a:p>
        </p:txBody>
      </p:sp>
      <p:sp>
        <p:nvSpPr>
          <p:cNvPr id="17" name="Shape 13"/>
          <p:cNvSpPr/>
          <p:nvPr/>
        </p:nvSpPr>
        <p:spPr>
          <a:xfrm>
            <a:off x="7771567" y="4260890"/>
            <a:ext cx="5824537" cy="2007989"/>
          </a:xfrm>
          <a:prstGeom prst="roundRect">
            <a:avLst>
              <a:gd name="adj" fmla="val 4667"/>
            </a:avLst>
          </a:prstGeom>
          <a:solidFill>
            <a:srgbClr val="EDECE8"/>
          </a:solidFill>
          <a:ln/>
        </p:spPr>
      </p:sp>
      <p:sp>
        <p:nvSpPr>
          <p:cNvPr id="18" name="Shape 14"/>
          <p:cNvSpPr/>
          <p:nvPr/>
        </p:nvSpPr>
        <p:spPr>
          <a:xfrm>
            <a:off x="7760494" y="4260890"/>
            <a:ext cx="5846683" cy="2007989"/>
          </a:xfrm>
          <a:prstGeom prst="roundRect">
            <a:avLst>
              <a:gd name="adj" fmla="val 1667"/>
            </a:avLst>
          </a:prstGeom>
          <a:solidFill>
            <a:srgbClr val="EDECE8"/>
          </a:solidFill>
          <a:ln/>
        </p:spPr>
      </p:sp>
      <p:sp>
        <p:nvSpPr>
          <p:cNvPr id="19" name="Text 15"/>
          <p:cNvSpPr/>
          <p:nvPr/>
        </p:nvSpPr>
        <p:spPr>
          <a:xfrm>
            <a:off x="7983498" y="4428173"/>
            <a:ext cx="5400675" cy="1673423"/>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def last_three_lines():
    repeat(spam, 2)
    print('(Lovely Spam, Wonderful Spam!)')
    repeat(spam, 2)
</a:t>
            </a:r>
            <a:endParaRPr lang="en-US" sz="1750" dirty="0"/>
          </a:p>
        </p:txBody>
      </p:sp>
      <p:sp>
        <p:nvSpPr>
          <p:cNvPr id="20" name="Text 16"/>
          <p:cNvSpPr/>
          <p:nvPr/>
        </p:nvSpPr>
        <p:spPr>
          <a:xfrm>
            <a:off x="7771567" y="6519863"/>
            <a:ext cx="5824537" cy="676989"/>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Invoking </a:t>
            </a:r>
            <a:pPr algn="l" indent="0" marL="0">
              <a:lnSpc>
                <a:spcPts val="260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last_three_lines()</a:t>
            </a:r>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 results in "Spam, Spam, (Lovely Spam, Wonderful Spam!) Spam, Spam".</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3073" y="607338"/>
            <a:ext cx="9233773" cy="552212"/>
          </a:xfrm>
          <a:prstGeom prst="rect">
            <a:avLst/>
          </a:prstGeom>
          <a:noFill/>
          <a:ln/>
        </p:spPr>
        <p:txBody>
          <a:bodyPr wrap="none" lIns="0" tIns="0" rIns="0" bIns="0" rtlCol="0" anchor="t"/>
          <a:lstStyle/>
          <a:p>
            <a:pPr algn="l" indent="0" marL="0">
              <a:lnSpc>
                <a:spcPts val="4300"/>
              </a:lnSpc>
              <a:buNone/>
            </a:pPr>
            <a:r>
              <a:rPr lang="en-US" sz="3450" dirty="0">
                <a:solidFill>
                  <a:srgbClr val="2E3C4E"/>
                </a:solidFill>
                <a:latin typeface="Host Grotesk Medium" pitchFamily="34" charset="0"/>
                <a:ea typeface="Host Grotesk Medium" pitchFamily="34" charset="-122"/>
                <a:cs typeface="Host Grotesk Medium" pitchFamily="34" charset="-120"/>
              </a:rPr>
              <a:t>Orchestrating Functions for a Complete Verse</a:t>
            </a:r>
            <a:endParaRPr lang="en-US" sz="3450" dirty="0"/>
          </a:p>
        </p:txBody>
      </p:sp>
      <p:sp>
        <p:nvSpPr>
          <p:cNvPr id="3" name="Text 1"/>
          <p:cNvSpPr/>
          <p:nvPr/>
        </p:nvSpPr>
        <p:spPr>
          <a:xfrm>
            <a:off x="773073" y="1601272"/>
            <a:ext cx="13084254" cy="662464"/>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Now, let's combine our smaller functions to print an entire verse of our song. This demonstrates how functions can work together in a structured way.</a:t>
            </a:r>
            <a:endParaRPr lang="en-US" sz="1700" dirty="0"/>
          </a:p>
        </p:txBody>
      </p:sp>
      <p:sp>
        <p:nvSpPr>
          <p:cNvPr id="4" name="Shape 2"/>
          <p:cNvSpPr/>
          <p:nvPr/>
        </p:nvSpPr>
        <p:spPr>
          <a:xfrm>
            <a:off x="773073" y="2512219"/>
            <a:ext cx="13084254" cy="4202192"/>
          </a:xfrm>
          <a:prstGeom prst="roundRect">
            <a:avLst>
              <a:gd name="adj" fmla="val 2208"/>
            </a:avLst>
          </a:prstGeom>
          <a:solidFill>
            <a:srgbClr val="D9EDF2"/>
          </a:solidFill>
          <a:ln w="7620">
            <a:solidFill>
              <a:srgbClr val="BFD3D8"/>
            </a:solidFill>
            <a:prstDash val="solid"/>
          </a:ln>
        </p:spPr>
      </p:sp>
      <p:sp>
        <p:nvSpPr>
          <p:cNvPr id="5" name="Shape 3"/>
          <p:cNvSpPr/>
          <p:nvPr/>
        </p:nvSpPr>
        <p:spPr>
          <a:xfrm>
            <a:off x="780693" y="2519839"/>
            <a:ext cx="6534507" cy="4186952"/>
          </a:xfrm>
          <a:prstGeom prst="roundRect">
            <a:avLst>
              <a:gd name="adj" fmla="val 2216"/>
            </a:avLst>
          </a:prstGeom>
          <a:solidFill>
            <a:srgbClr val="D9EDF2"/>
          </a:solidFill>
          <a:ln/>
        </p:spPr>
      </p:sp>
      <p:sp>
        <p:nvSpPr>
          <p:cNvPr id="6" name="Text 4"/>
          <p:cNvSpPr/>
          <p:nvPr/>
        </p:nvSpPr>
        <p:spPr>
          <a:xfrm>
            <a:off x="1001554" y="2740700"/>
            <a:ext cx="3315414" cy="367903"/>
          </a:xfrm>
          <a:prstGeom prst="rect">
            <a:avLst/>
          </a:prstGeom>
          <a:noFill/>
          <a:ln/>
        </p:spPr>
        <p:txBody>
          <a:bodyPr wrap="none" lIns="0" tIns="0" rIns="0" bIns="0" rtlCol="0" anchor="t"/>
          <a:lstStyle/>
          <a:p>
            <a:pPr algn="l" indent="0" marL="0">
              <a:lnSpc>
                <a:spcPts val="2700"/>
              </a:lnSpc>
              <a:buNone/>
            </a:pPr>
            <a:r>
              <a:rPr lang="en-US" sz="2150" dirty="0">
                <a:solidFill>
                  <a:srgbClr val="384653"/>
                </a:solidFill>
                <a:latin typeface="Host Grotesk Medium" pitchFamily="34" charset="0"/>
                <a:ea typeface="Host Grotesk Medium" pitchFamily="34" charset="-122"/>
                <a:cs typeface="Host Grotesk Medium" pitchFamily="34" charset="-120"/>
              </a:rPr>
              <a:t>The </a:t>
            </a:r>
            <a:pPr algn="l" indent="0" marL="0">
              <a:lnSpc>
                <a:spcPts val="2700"/>
              </a:lnSpc>
              <a:buNone/>
            </a:pPr>
            <a:r>
              <a:rPr lang="en-US" sz="2150" dirty="0">
                <a:solidFill>
                  <a:srgbClr val="384653"/>
                </a:solidFill>
                <a:highlight>
                  <a:srgbClr val="EDECE8"/>
                </a:highlight>
                <a:latin typeface="Consolas" pitchFamily="34" charset="0"/>
                <a:ea typeface="Consolas" pitchFamily="34" charset="-122"/>
                <a:cs typeface="Consolas" pitchFamily="34" charset="-120"/>
              </a:rPr>
              <a:t>print_verse()</a:t>
            </a:r>
            <a:pPr algn="l" indent="0" marL="0">
              <a:lnSpc>
                <a:spcPts val="2700"/>
              </a:lnSpc>
              <a:buNone/>
            </a:pPr>
            <a:r>
              <a:rPr lang="en-US" sz="2150" dirty="0">
                <a:solidFill>
                  <a:srgbClr val="384653"/>
                </a:solidFill>
                <a:latin typeface="Host Grotesk Medium" pitchFamily="34" charset="0"/>
                <a:ea typeface="Host Grotesk Medium" pitchFamily="34" charset="-122"/>
                <a:cs typeface="Host Grotesk Medium" pitchFamily="34" charset="-120"/>
              </a:rPr>
              <a:t> Function</a:t>
            </a:r>
            <a:endParaRPr lang="en-US" sz="2150" dirty="0"/>
          </a:p>
        </p:txBody>
      </p:sp>
      <p:sp>
        <p:nvSpPr>
          <p:cNvPr id="7" name="Text 5"/>
          <p:cNvSpPr/>
          <p:nvPr/>
        </p:nvSpPr>
        <p:spPr>
          <a:xfrm>
            <a:off x="1001554" y="3241119"/>
            <a:ext cx="6092785" cy="692944"/>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The </a:t>
            </a:r>
            <a:pPr algn="l" indent="0" marL="0">
              <a:lnSpc>
                <a:spcPts val="260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print_verse()</a:t>
            </a:r>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 function orchestrates the calls to </a:t>
            </a:r>
            <a:pPr algn="l" indent="0" marL="0">
              <a:lnSpc>
                <a:spcPts val="260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first_two_lines()</a:t>
            </a:r>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 and </a:t>
            </a:r>
            <a:pPr algn="l" indent="0" marL="0">
              <a:lnSpc>
                <a:spcPts val="260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last_three_lines()</a:t>
            </a:r>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a:t>
            </a:r>
            <a:endParaRPr lang="en-US" sz="1700" dirty="0"/>
          </a:p>
        </p:txBody>
      </p:sp>
      <p:sp>
        <p:nvSpPr>
          <p:cNvPr id="8" name="Shape 6"/>
          <p:cNvSpPr/>
          <p:nvPr/>
        </p:nvSpPr>
        <p:spPr>
          <a:xfrm>
            <a:off x="1001554" y="4182547"/>
            <a:ext cx="6092785" cy="1656159"/>
          </a:xfrm>
          <a:prstGeom prst="roundRect">
            <a:avLst>
              <a:gd name="adj" fmla="val 5602"/>
            </a:avLst>
          </a:prstGeom>
          <a:solidFill>
            <a:srgbClr val="EDECE8"/>
          </a:solidFill>
          <a:ln/>
        </p:spPr>
      </p:sp>
      <p:sp>
        <p:nvSpPr>
          <p:cNvPr id="9" name="Shape 7"/>
          <p:cNvSpPr/>
          <p:nvPr/>
        </p:nvSpPr>
        <p:spPr>
          <a:xfrm>
            <a:off x="990600" y="4182547"/>
            <a:ext cx="6114693" cy="1656159"/>
          </a:xfrm>
          <a:prstGeom prst="roundRect">
            <a:avLst>
              <a:gd name="adj" fmla="val 2001"/>
            </a:avLst>
          </a:prstGeom>
          <a:solidFill>
            <a:srgbClr val="EDECE8"/>
          </a:solidFill>
          <a:ln/>
        </p:spPr>
      </p:sp>
      <p:sp>
        <p:nvSpPr>
          <p:cNvPr id="10" name="Text 8"/>
          <p:cNvSpPr/>
          <p:nvPr/>
        </p:nvSpPr>
        <p:spPr>
          <a:xfrm>
            <a:off x="1211461" y="4348162"/>
            <a:ext cx="5672971" cy="1324928"/>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def print_verse():
    first_two_lines()
    last_three_lines()
</a:t>
            </a:r>
            <a:endParaRPr lang="en-US" sz="1700" dirty="0"/>
          </a:p>
        </p:txBody>
      </p:sp>
      <p:sp>
        <p:nvSpPr>
          <p:cNvPr id="11" name="Shape 9"/>
          <p:cNvSpPr/>
          <p:nvPr/>
        </p:nvSpPr>
        <p:spPr>
          <a:xfrm>
            <a:off x="7315200" y="2519839"/>
            <a:ext cx="6534507" cy="4186952"/>
          </a:xfrm>
          <a:prstGeom prst="rect">
            <a:avLst/>
          </a:prstGeom>
          <a:solidFill>
            <a:srgbClr val="D9EDF2"/>
          </a:solidFill>
          <a:ln/>
        </p:spPr>
      </p:sp>
      <p:sp>
        <p:nvSpPr>
          <p:cNvPr id="12" name="Shape 10"/>
          <p:cNvSpPr/>
          <p:nvPr/>
        </p:nvSpPr>
        <p:spPr>
          <a:xfrm>
            <a:off x="7315200" y="2519839"/>
            <a:ext cx="30480" cy="4186952"/>
          </a:xfrm>
          <a:prstGeom prst="roundRect">
            <a:avLst>
              <a:gd name="adj" fmla="val 304377"/>
            </a:avLst>
          </a:prstGeom>
          <a:solidFill>
            <a:srgbClr val="BFD3D8"/>
          </a:solidFill>
          <a:ln/>
        </p:spPr>
      </p:sp>
      <p:sp>
        <p:nvSpPr>
          <p:cNvPr id="13" name="Text 11"/>
          <p:cNvSpPr/>
          <p:nvPr/>
        </p:nvSpPr>
        <p:spPr>
          <a:xfrm>
            <a:off x="7536061" y="2740700"/>
            <a:ext cx="2761059" cy="367903"/>
          </a:xfrm>
          <a:prstGeom prst="rect">
            <a:avLst/>
          </a:prstGeom>
          <a:noFill/>
          <a:ln/>
        </p:spPr>
        <p:txBody>
          <a:bodyPr wrap="none" lIns="0" tIns="0" rIns="0" bIns="0" rtlCol="0" anchor="t"/>
          <a:lstStyle/>
          <a:p>
            <a:pPr algn="l" indent="0" marL="0">
              <a:lnSpc>
                <a:spcPts val="2700"/>
              </a:lnSpc>
              <a:buNone/>
            </a:pPr>
            <a:r>
              <a:rPr lang="en-US" sz="2150" dirty="0">
                <a:solidFill>
                  <a:srgbClr val="384653"/>
                </a:solidFill>
                <a:latin typeface="Host Grotesk Medium" pitchFamily="34" charset="0"/>
                <a:ea typeface="Host Grotesk Medium" pitchFamily="34" charset="-122"/>
                <a:cs typeface="Host Grotesk Medium" pitchFamily="34" charset="-120"/>
              </a:rPr>
              <a:t>Calling </a:t>
            </a:r>
            <a:pPr algn="l" indent="0" marL="0">
              <a:lnSpc>
                <a:spcPts val="2700"/>
              </a:lnSpc>
              <a:buNone/>
            </a:pPr>
            <a:r>
              <a:rPr lang="en-US" sz="2150" dirty="0">
                <a:solidFill>
                  <a:srgbClr val="384653"/>
                </a:solidFill>
                <a:highlight>
                  <a:srgbClr val="EDECE8"/>
                </a:highlight>
                <a:latin typeface="Consolas" pitchFamily="34" charset="0"/>
                <a:ea typeface="Consolas" pitchFamily="34" charset="-122"/>
                <a:cs typeface="Consolas" pitchFamily="34" charset="-120"/>
              </a:rPr>
              <a:t>print_verse()</a:t>
            </a:r>
            <a:endParaRPr lang="en-US" sz="2150" dirty="0"/>
          </a:p>
        </p:txBody>
      </p:sp>
      <p:sp>
        <p:nvSpPr>
          <p:cNvPr id="14" name="Text 12"/>
          <p:cNvSpPr/>
          <p:nvPr/>
        </p:nvSpPr>
        <p:spPr>
          <a:xfrm>
            <a:off x="7536061" y="3241119"/>
            <a:ext cx="6092785" cy="677704"/>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When </a:t>
            </a:r>
            <a:pPr algn="l" indent="0" marL="0">
              <a:lnSpc>
                <a:spcPts val="260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print_verse()</a:t>
            </a:r>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 is called, it executes the entire sequence, printing:</a:t>
            </a:r>
            <a:endParaRPr lang="en-US" sz="1700" dirty="0"/>
          </a:p>
        </p:txBody>
      </p:sp>
      <p:sp>
        <p:nvSpPr>
          <p:cNvPr id="15" name="Shape 13"/>
          <p:cNvSpPr/>
          <p:nvPr/>
        </p:nvSpPr>
        <p:spPr>
          <a:xfrm>
            <a:off x="7536061" y="4167307"/>
            <a:ext cx="6092785" cy="2318623"/>
          </a:xfrm>
          <a:prstGeom prst="roundRect">
            <a:avLst>
              <a:gd name="adj" fmla="val 4001"/>
            </a:avLst>
          </a:prstGeom>
          <a:solidFill>
            <a:srgbClr val="EDECE8"/>
          </a:solidFill>
          <a:ln/>
        </p:spPr>
      </p:sp>
      <p:sp>
        <p:nvSpPr>
          <p:cNvPr id="16" name="Shape 14"/>
          <p:cNvSpPr/>
          <p:nvPr/>
        </p:nvSpPr>
        <p:spPr>
          <a:xfrm>
            <a:off x="7525107" y="4167307"/>
            <a:ext cx="6114693" cy="2318623"/>
          </a:xfrm>
          <a:prstGeom prst="roundRect">
            <a:avLst>
              <a:gd name="adj" fmla="val 1429"/>
            </a:avLst>
          </a:prstGeom>
          <a:solidFill>
            <a:srgbClr val="EDECE8"/>
          </a:solidFill>
          <a:ln/>
        </p:spPr>
      </p:sp>
      <p:sp>
        <p:nvSpPr>
          <p:cNvPr id="17" name="Text 15"/>
          <p:cNvSpPr/>
          <p:nvPr/>
        </p:nvSpPr>
        <p:spPr>
          <a:xfrm>
            <a:off x="7745968" y="4332923"/>
            <a:ext cx="5672971" cy="1987391"/>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highlight>
                  <a:srgbClr val="EDECE8"/>
                </a:highlight>
                <a:latin typeface="Consolas" pitchFamily="34" charset="0"/>
                <a:ea typeface="Consolas" pitchFamily="34" charset="-122"/>
                <a:cs typeface="Consolas" pitchFamily="34" charset="-120"/>
              </a:rPr>
              <a:t>Spam, Spam, Spam, Spam,
Spam, Spam, Spam, Spam,
Spam, Spam,
(Lovely Spam, Wonderful Spam!)
Spam, Spam,
</a:t>
            </a:r>
            <a:endParaRPr lang="en-US" sz="1700" dirty="0"/>
          </a:p>
        </p:txBody>
      </p:sp>
      <p:sp>
        <p:nvSpPr>
          <p:cNvPr id="18" name="Text 16"/>
          <p:cNvSpPr/>
          <p:nvPr/>
        </p:nvSpPr>
        <p:spPr>
          <a:xfrm>
            <a:off x="773073" y="6962894"/>
            <a:ext cx="13084254" cy="662464"/>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This hierarchical structure, where one function calls another, makes code easier to manage and understand, even though it could be achieved with fewer functions. It's all about illustrating how functions collaborate.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75228" y="559951"/>
            <a:ext cx="1442323" cy="366474"/>
          </a:xfrm>
          <a:prstGeom prst="roundRect">
            <a:avLst>
              <a:gd name="adj" fmla="val 18670"/>
            </a:avLst>
          </a:prstGeom>
          <a:solidFill>
            <a:srgbClr val="D9EDF2"/>
          </a:solidFill>
          <a:ln/>
        </p:spPr>
      </p:sp>
      <p:sp>
        <p:nvSpPr>
          <p:cNvPr id="3" name="Text 1"/>
          <p:cNvSpPr/>
          <p:nvPr/>
        </p:nvSpPr>
        <p:spPr>
          <a:xfrm>
            <a:off x="997387" y="621030"/>
            <a:ext cx="1198007" cy="244316"/>
          </a:xfrm>
          <a:prstGeom prst="rect">
            <a:avLst/>
          </a:prstGeom>
          <a:noFill/>
          <a:ln/>
        </p:spPr>
        <p:txBody>
          <a:bodyPr wrap="non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CONTROL FLOW</a:t>
            </a:r>
            <a:endParaRPr lang="en-US" sz="1250" dirty="0"/>
          </a:p>
        </p:txBody>
      </p:sp>
      <p:sp>
        <p:nvSpPr>
          <p:cNvPr id="4" name="Text 2"/>
          <p:cNvSpPr/>
          <p:nvPr/>
        </p:nvSpPr>
        <p:spPr>
          <a:xfrm>
            <a:off x="875228" y="1007864"/>
            <a:ext cx="4707374" cy="539591"/>
          </a:xfrm>
          <a:prstGeom prst="rect">
            <a:avLst/>
          </a:prstGeom>
          <a:noFill/>
          <a:ln/>
        </p:spPr>
        <p:txBody>
          <a:bodyPr wrap="none" lIns="0" tIns="0" rIns="0" bIns="0" rtlCol="0" anchor="t"/>
          <a:lstStyle/>
          <a:p>
            <a:pPr algn="l" indent="0" marL="0">
              <a:lnSpc>
                <a:spcPts val="4000"/>
              </a:lnSpc>
              <a:buNone/>
            </a:pPr>
            <a:r>
              <a:rPr lang="en-US" sz="3200" dirty="0">
                <a:solidFill>
                  <a:srgbClr val="2E3C4E"/>
                </a:solidFill>
                <a:latin typeface="Host Grotesk Medium" pitchFamily="34" charset="0"/>
                <a:ea typeface="Host Grotesk Medium" pitchFamily="34" charset="-122"/>
                <a:cs typeface="Host Grotesk Medium" pitchFamily="34" charset="-120"/>
              </a:rPr>
              <a:t>Repetition with </a:t>
            </a:r>
            <a:pPr algn="l" indent="0" marL="0">
              <a:lnSpc>
                <a:spcPts val="4000"/>
              </a:lnSpc>
              <a:buNone/>
            </a:pPr>
            <a:r>
              <a:rPr lang="en-US" sz="3200" dirty="0">
                <a:solidFill>
                  <a:srgbClr val="384653"/>
                </a:solidFill>
                <a:highlight>
                  <a:srgbClr val="EDECE8"/>
                </a:highlight>
                <a:latin typeface="Consolas" pitchFamily="34" charset="0"/>
                <a:ea typeface="Consolas" pitchFamily="34" charset="-122"/>
                <a:cs typeface="Consolas" pitchFamily="34" charset="-120"/>
              </a:rPr>
              <a:t>for</a:t>
            </a:r>
            <a:pPr algn="l" indent="0" marL="0">
              <a:lnSpc>
                <a:spcPts val="4000"/>
              </a:lnSpc>
              <a:buNone/>
            </a:pPr>
            <a:r>
              <a:rPr lang="en-US" sz="3200" dirty="0">
                <a:solidFill>
                  <a:srgbClr val="2E3C4E"/>
                </a:solidFill>
                <a:latin typeface="Host Grotesk Medium" pitchFamily="34" charset="0"/>
                <a:ea typeface="Host Grotesk Medium" pitchFamily="34" charset="-122"/>
                <a:cs typeface="Host Grotesk Medium" pitchFamily="34" charset="-120"/>
              </a:rPr>
              <a:t> Loops</a:t>
            </a:r>
            <a:endParaRPr lang="en-US" sz="3200" dirty="0"/>
          </a:p>
        </p:txBody>
      </p:sp>
      <p:sp>
        <p:nvSpPr>
          <p:cNvPr id="5" name="Text 3"/>
          <p:cNvSpPr/>
          <p:nvPr/>
        </p:nvSpPr>
        <p:spPr>
          <a:xfrm>
            <a:off x="875228" y="1852851"/>
            <a:ext cx="12879943" cy="618411"/>
          </a:xfrm>
          <a:prstGeom prst="rect">
            <a:avLst/>
          </a:prstGeom>
          <a:noFill/>
          <a:ln/>
        </p:spPr>
        <p:txBody>
          <a:bodyPr wrap="square" lIns="0" tIns="0" rIns="0" bIns="0" rtlCol="0" anchor="t"/>
          <a:lstStyle/>
          <a:p>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When you need to perform an action multiple times, Python's </a:t>
            </a:r>
            <a:pPr algn="l" indent="0" marL="0">
              <a:lnSpc>
                <a:spcPts val="2400"/>
              </a:lnSpc>
              <a:buNone/>
            </a:pPr>
            <a:r>
              <a:rPr lang="en-US" sz="1600" dirty="0">
                <a:solidFill>
                  <a:srgbClr val="384653"/>
                </a:solidFill>
                <a:highlight>
                  <a:srgbClr val="EDECE8"/>
                </a:highlight>
                <a:latin typeface="Consolas" pitchFamily="34" charset="0"/>
                <a:ea typeface="Consolas" pitchFamily="34" charset="-122"/>
                <a:cs typeface="Consolas" pitchFamily="34" charset="-120"/>
              </a:rPr>
              <a:t>for</a:t>
            </a:r>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 loops come to the rescue. They provide a concise way to repeat a block of code a specified number of times.</a:t>
            </a:r>
            <a:endParaRPr lang="en-US" sz="1600" dirty="0"/>
          </a:p>
        </p:txBody>
      </p:sp>
      <p:sp>
        <p:nvSpPr>
          <p:cNvPr id="6" name="Text 4"/>
          <p:cNvSpPr/>
          <p:nvPr/>
        </p:nvSpPr>
        <p:spPr>
          <a:xfrm>
            <a:off x="875228" y="2903934"/>
            <a:ext cx="3397925" cy="412194"/>
          </a:xfrm>
          <a:prstGeom prst="rect">
            <a:avLst/>
          </a:prstGeom>
          <a:noFill/>
          <a:ln/>
        </p:spPr>
        <p:txBody>
          <a:bodyPr wrap="none" lIns="0" tIns="0" rIns="0" bIns="0" rtlCol="0" anchor="t"/>
          <a:lstStyle/>
          <a:p>
            <a:pPr algn="l" indent="0" marL="0">
              <a:lnSpc>
                <a:spcPts val="3000"/>
              </a:lnSpc>
              <a:buNone/>
            </a:pPr>
            <a:r>
              <a:rPr lang="en-US" sz="2400" dirty="0">
                <a:solidFill>
                  <a:srgbClr val="2E3C4E"/>
                </a:solidFill>
                <a:latin typeface="Host Grotesk Medium" pitchFamily="34" charset="0"/>
                <a:ea typeface="Host Grotesk Medium" pitchFamily="34" charset="-122"/>
                <a:cs typeface="Host Grotesk Medium" pitchFamily="34" charset="-120"/>
              </a:rPr>
              <a:t>Basic </a:t>
            </a:r>
            <a:pPr algn="l" indent="0" marL="0">
              <a:lnSpc>
                <a:spcPts val="3000"/>
              </a:lnSpc>
              <a:buNone/>
            </a:pPr>
            <a:r>
              <a:rPr lang="en-US" sz="2400" dirty="0">
                <a:solidFill>
                  <a:srgbClr val="384653"/>
                </a:solidFill>
                <a:highlight>
                  <a:srgbClr val="EDECE8"/>
                </a:highlight>
                <a:latin typeface="Consolas" pitchFamily="34" charset="0"/>
                <a:ea typeface="Consolas" pitchFamily="34" charset="-122"/>
                <a:cs typeface="Consolas" pitchFamily="34" charset="-120"/>
              </a:rPr>
              <a:t>for</a:t>
            </a:r>
            <a:pPr algn="l" indent="0" marL="0">
              <a:lnSpc>
                <a:spcPts val="3000"/>
              </a:lnSpc>
              <a:buNone/>
            </a:pPr>
            <a:r>
              <a:rPr lang="en-US" sz="2400" dirty="0">
                <a:solidFill>
                  <a:srgbClr val="2E3C4E"/>
                </a:solidFill>
                <a:latin typeface="Host Grotesk Medium" pitchFamily="34" charset="0"/>
                <a:ea typeface="Host Grotesk Medium" pitchFamily="34" charset="-122"/>
                <a:cs typeface="Host Grotesk Medium" pitchFamily="34" charset="-120"/>
              </a:rPr>
              <a:t> Loop Structure</a:t>
            </a:r>
            <a:endParaRPr lang="en-US" sz="2400" dirty="0"/>
          </a:p>
        </p:txBody>
      </p:sp>
      <p:sp>
        <p:nvSpPr>
          <p:cNvPr id="7" name="Shape 5"/>
          <p:cNvSpPr/>
          <p:nvPr/>
        </p:nvSpPr>
        <p:spPr>
          <a:xfrm>
            <a:off x="875228" y="3545205"/>
            <a:ext cx="6860381" cy="1221462"/>
          </a:xfrm>
          <a:prstGeom prst="roundRect">
            <a:avLst>
              <a:gd name="adj" fmla="val 7002"/>
            </a:avLst>
          </a:prstGeom>
          <a:solidFill>
            <a:srgbClr val="EDECE8"/>
          </a:solidFill>
          <a:ln/>
        </p:spPr>
      </p:sp>
      <p:sp>
        <p:nvSpPr>
          <p:cNvPr id="8" name="Shape 6"/>
          <p:cNvSpPr/>
          <p:nvPr/>
        </p:nvSpPr>
        <p:spPr>
          <a:xfrm>
            <a:off x="865108" y="3545205"/>
            <a:ext cx="6880622" cy="1221462"/>
          </a:xfrm>
          <a:prstGeom prst="roundRect">
            <a:avLst>
              <a:gd name="adj" fmla="val 2501"/>
            </a:avLst>
          </a:prstGeom>
          <a:solidFill>
            <a:srgbClr val="EDECE8"/>
          </a:solidFill>
          <a:ln/>
        </p:spPr>
      </p:sp>
      <p:sp>
        <p:nvSpPr>
          <p:cNvPr id="9" name="Text 7"/>
          <p:cNvSpPr/>
          <p:nvPr/>
        </p:nvSpPr>
        <p:spPr>
          <a:xfrm>
            <a:off x="1068705" y="3697843"/>
            <a:ext cx="6473428" cy="916186"/>
          </a:xfrm>
          <a:prstGeom prst="rect">
            <a:avLst/>
          </a:prstGeom>
          <a:noFill/>
          <a:ln/>
        </p:spPr>
        <p:txBody>
          <a:bodyPr wrap="square" lIns="0" tIns="0" rIns="0" bIns="0" rtlCol="0" anchor="t"/>
          <a:lstStyle/>
          <a:p>
            <a:pPr algn="l" indent="0" marL="0">
              <a:lnSpc>
                <a:spcPts val="2400"/>
              </a:lnSpc>
              <a:buNone/>
            </a:pPr>
            <a:r>
              <a:rPr lang="en-US" sz="1600" dirty="0">
                <a:solidFill>
                  <a:srgbClr val="384653"/>
                </a:solidFill>
                <a:highlight>
                  <a:srgbClr val="EDECE8"/>
                </a:highlight>
                <a:latin typeface="Consolas" pitchFamily="34" charset="0"/>
                <a:ea typeface="Consolas" pitchFamily="34" charset="-122"/>
                <a:cs typeface="Consolas" pitchFamily="34" charset="-120"/>
              </a:rPr>
              <a:t>for i in range(2):
    print(i)
</a:t>
            </a:r>
            <a:endParaRPr lang="en-US" sz="1600" dirty="0"/>
          </a:p>
        </p:txBody>
      </p:sp>
      <p:sp>
        <p:nvSpPr>
          <p:cNvPr id="10" name="Text 8"/>
          <p:cNvSpPr/>
          <p:nvPr/>
        </p:nvSpPr>
        <p:spPr>
          <a:xfrm>
            <a:off x="875228" y="4995743"/>
            <a:ext cx="6860381" cy="313015"/>
          </a:xfrm>
          <a:prstGeom prst="rect">
            <a:avLst/>
          </a:prstGeom>
          <a:noFill/>
          <a:ln/>
        </p:spPr>
        <p:txBody>
          <a:bodyPr wrap="none" lIns="0" tIns="0" rIns="0" bIns="0" rtlCol="0" anchor="t"/>
          <a:lstStyle/>
          <a:p>
            <a:pPr algn="l" marL="342900" indent="-342900">
              <a:lnSpc>
                <a:spcPts val="2400"/>
              </a:lnSpc>
              <a:buSzPct val="100000"/>
              <a:buChar char="•"/>
            </a:pPr>
            <a:r>
              <a:rPr lang="en-US" sz="1600" dirty="0">
                <a:solidFill>
                  <a:srgbClr val="384653"/>
                </a:solidFill>
                <a:latin typeface="Roboto" pitchFamily="34" charset="0"/>
                <a:ea typeface="Roboto" pitchFamily="34" charset="-122"/>
                <a:cs typeface="Roboto" pitchFamily="34" charset="-120"/>
              </a:rPr>
              <a:t>The </a:t>
            </a:r>
            <a:pPr algn="l" indent="0" marL="0">
              <a:lnSpc>
                <a:spcPts val="2400"/>
              </a:lnSpc>
              <a:buNone/>
            </a:pPr>
            <a:r>
              <a:rPr lang="en-US" sz="1600" dirty="0">
                <a:solidFill>
                  <a:srgbClr val="384653"/>
                </a:solidFill>
                <a:highlight>
                  <a:srgbClr val="EDECE8"/>
                </a:highlight>
                <a:latin typeface="Consolas" pitchFamily="34" charset="0"/>
                <a:ea typeface="Consolas" pitchFamily="34" charset="-122"/>
                <a:cs typeface="Consolas" pitchFamily="34" charset="-120"/>
              </a:rPr>
              <a:t>for</a:t>
            </a:r>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 statement defines the loop.</a:t>
            </a:r>
            <a:endParaRPr lang="en-US" sz="1600" dirty="0"/>
          </a:p>
        </p:txBody>
      </p:sp>
      <p:sp>
        <p:nvSpPr>
          <p:cNvPr id="11" name="Text 9"/>
          <p:cNvSpPr/>
          <p:nvPr/>
        </p:nvSpPr>
        <p:spPr>
          <a:xfrm>
            <a:off x="875228" y="5379958"/>
            <a:ext cx="6860381" cy="313015"/>
          </a:xfrm>
          <a:prstGeom prst="rect">
            <a:avLst/>
          </a:prstGeom>
          <a:noFill/>
          <a:ln/>
        </p:spPr>
        <p:txBody>
          <a:bodyPr wrap="none" lIns="0" tIns="0" rIns="0" bIns="0" rtlCol="0" anchor="t"/>
          <a:lstStyle/>
          <a:p>
            <a:pPr algn="l" marL="342900" indent="-342900">
              <a:lnSpc>
                <a:spcPts val="2400"/>
              </a:lnSpc>
              <a:buSzPct val="100000"/>
              <a:buChar char="•"/>
            </a:pPr>
            <a:r>
              <a:rPr lang="en-US" sz="1600" dirty="0">
                <a:solidFill>
                  <a:srgbClr val="384653"/>
                </a:solidFill>
                <a:highlight>
                  <a:srgbClr val="EDECE8"/>
                </a:highlight>
                <a:latin typeface="Consolas" pitchFamily="34" charset="0"/>
                <a:ea typeface="Consolas" pitchFamily="34" charset="-122"/>
                <a:cs typeface="Consolas" pitchFamily="34" charset="-120"/>
              </a:rPr>
              <a:t>range(2)</a:t>
            </a:r>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 generates a sequence of numbers (0 and 1).</a:t>
            </a:r>
            <a:endParaRPr lang="en-US" sz="1600" dirty="0"/>
          </a:p>
        </p:txBody>
      </p:sp>
      <p:sp>
        <p:nvSpPr>
          <p:cNvPr id="12" name="Text 10"/>
          <p:cNvSpPr/>
          <p:nvPr/>
        </p:nvSpPr>
        <p:spPr>
          <a:xfrm>
            <a:off x="875228" y="5764173"/>
            <a:ext cx="6860381" cy="610791"/>
          </a:xfrm>
          <a:prstGeom prst="rect">
            <a:avLst/>
          </a:prstGeom>
          <a:noFill/>
          <a:ln/>
        </p:spPr>
        <p:txBody>
          <a:bodyPr wrap="square" lIns="0" tIns="0" rIns="0" bIns="0" rtlCol="0" anchor="t"/>
          <a:lstStyle/>
          <a:p>
            <a:pPr algn="l" marL="342900" indent="-342900">
              <a:lnSpc>
                <a:spcPts val="2400"/>
              </a:lnSpc>
              <a:buSzPct val="100000"/>
              <a:buChar char="•"/>
            </a:pPr>
            <a:r>
              <a:rPr lang="en-US" sz="1600" dirty="0">
                <a:solidFill>
                  <a:srgbClr val="384653"/>
                </a:solidFill>
                <a:latin typeface="Roboto" pitchFamily="34" charset="0"/>
                <a:ea typeface="Roboto" pitchFamily="34" charset="-122"/>
                <a:cs typeface="Roboto" pitchFamily="34" charset="-120"/>
              </a:rPr>
              <a:t>The body of the loop, indented by four spaces, executes for each number in the sequence.</a:t>
            </a:r>
            <a:endParaRPr lang="en-US" sz="1600" dirty="0"/>
          </a:p>
        </p:txBody>
      </p:sp>
      <p:sp>
        <p:nvSpPr>
          <p:cNvPr id="13" name="Text 11"/>
          <p:cNvSpPr/>
          <p:nvPr/>
        </p:nvSpPr>
        <p:spPr>
          <a:xfrm>
            <a:off x="875228" y="6558201"/>
            <a:ext cx="6860381" cy="931426"/>
          </a:xfrm>
          <a:prstGeom prst="rect">
            <a:avLst/>
          </a:prstGeom>
          <a:noFill/>
          <a:ln/>
        </p:spPr>
        <p:txBody>
          <a:bodyPr wrap="square" lIns="0" tIns="0" rIns="0" bIns="0" rtlCol="0" anchor="t"/>
          <a:lstStyle/>
          <a:p>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This example will output: </a:t>
            </a:r>
            <a:endParaRPr lang="en-US" sz="1600" dirty="0"/>
          </a:p>
          <a:p>
            <a:pPr algn="l" indent="0" marL="0">
              <a:lnSpc>
                <a:spcPts val="2400"/>
              </a:lnSpc>
              <a:buNone/>
            </a:pPr>
            <a:r>
              <a:rPr lang="en-US" sz="1600" dirty="0">
                <a:solidFill>
                  <a:srgbClr val="384653"/>
                </a:solidFill>
                <a:highlight>
                  <a:srgbClr val="EDECE8"/>
                </a:highlight>
                <a:latin typeface="Consolas" pitchFamily="34" charset="0"/>
                <a:ea typeface="Consolas" pitchFamily="34" charset="-122"/>
                <a:cs typeface="Consolas" pitchFamily="34" charset="-120"/>
              </a:rPr>
              <a:t>0</a:t>
            </a:r>
            <a:pPr algn="l" indent="0" marL="0">
              <a:lnSpc>
                <a:spcPts val="2400"/>
              </a:lnSpc>
              <a:buNone/>
            </a:pPr>
            <a:r>
              <a:rPr lang="en-US" sz="1600" dirty="0">
                <a:solidFill>
                  <a:srgbClr val="384653"/>
                </a:solidFill>
                <a:highlight>
                  <a:srgbClr val="EDECE8"/>
                </a:highlight>
                <a:latin typeface="Consolas" pitchFamily="34" charset="0"/>
                <a:ea typeface="Consolas" pitchFamily="34" charset="-122"/>
                <a:cs typeface="Consolas" pitchFamily="34" charset="-120"/>
              </a:rPr>
              <a:t>1</a:t>
            </a:r>
            <a:endParaRPr lang="en-US" sz="1600" dirty="0"/>
          </a:p>
        </p:txBody>
      </p:sp>
      <p:sp>
        <p:nvSpPr>
          <p:cNvPr id="14" name="Text 12"/>
          <p:cNvSpPr/>
          <p:nvPr/>
        </p:nvSpPr>
        <p:spPr>
          <a:xfrm>
            <a:off x="8239958" y="2903934"/>
            <a:ext cx="3261955" cy="381714"/>
          </a:xfrm>
          <a:prstGeom prst="rect">
            <a:avLst/>
          </a:prstGeom>
          <a:noFill/>
          <a:ln/>
        </p:spPr>
        <p:txBody>
          <a:bodyPr wrap="none" lIns="0" tIns="0" rIns="0" bIns="0" rtlCol="0" anchor="t"/>
          <a:lstStyle/>
          <a:p>
            <a:pPr algn="l" indent="0" marL="0">
              <a:lnSpc>
                <a:spcPts val="3000"/>
              </a:lnSpc>
              <a:buNone/>
            </a:pPr>
            <a:r>
              <a:rPr lang="en-US" sz="2400" dirty="0">
                <a:solidFill>
                  <a:srgbClr val="2E3C4E"/>
                </a:solidFill>
                <a:latin typeface="Host Grotesk Medium" pitchFamily="34" charset="0"/>
                <a:ea typeface="Host Grotesk Medium" pitchFamily="34" charset="-122"/>
                <a:cs typeface="Host Grotesk Medium" pitchFamily="34" charset="-120"/>
              </a:rPr>
              <a:t>Printing Multiple Verses</a:t>
            </a:r>
            <a:endParaRPr lang="en-US" sz="2400" dirty="0"/>
          </a:p>
        </p:txBody>
      </p:sp>
      <p:sp>
        <p:nvSpPr>
          <p:cNvPr id="15" name="Text 13"/>
          <p:cNvSpPr/>
          <p:nvPr/>
        </p:nvSpPr>
        <p:spPr>
          <a:xfrm>
            <a:off x="8239958" y="3489246"/>
            <a:ext cx="5522714" cy="618411"/>
          </a:xfrm>
          <a:prstGeom prst="rect">
            <a:avLst/>
          </a:prstGeom>
          <a:noFill/>
          <a:ln/>
        </p:spPr>
        <p:txBody>
          <a:bodyPr wrap="square" lIns="0" tIns="0" rIns="0" bIns="0" rtlCol="0" anchor="t"/>
          <a:lstStyle/>
          <a:p>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Let's use a </a:t>
            </a:r>
            <a:pPr algn="l" indent="0" marL="0">
              <a:lnSpc>
                <a:spcPts val="2400"/>
              </a:lnSpc>
              <a:buNone/>
            </a:pPr>
            <a:r>
              <a:rPr lang="en-US" sz="1600" dirty="0">
                <a:solidFill>
                  <a:srgbClr val="384653"/>
                </a:solidFill>
                <a:highlight>
                  <a:srgbClr val="EDECE8"/>
                </a:highlight>
                <a:latin typeface="Consolas" pitchFamily="34" charset="0"/>
                <a:ea typeface="Consolas" pitchFamily="34" charset="-122"/>
                <a:cs typeface="Consolas" pitchFamily="34" charset="-120"/>
              </a:rPr>
              <a:t>for</a:t>
            </a:r>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 loop to print our song verse twice, complete with verse numbers for clarity.</a:t>
            </a:r>
            <a:endParaRPr lang="en-US" sz="1600" dirty="0"/>
          </a:p>
        </p:txBody>
      </p:sp>
      <p:sp>
        <p:nvSpPr>
          <p:cNvPr id="16" name="Shape 14"/>
          <p:cNvSpPr/>
          <p:nvPr/>
        </p:nvSpPr>
        <p:spPr>
          <a:xfrm>
            <a:off x="8239958" y="4336733"/>
            <a:ext cx="5522714" cy="1832253"/>
          </a:xfrm>
          <a:prstGeom prst="roundRect">
            <a:avLst>
              <a:gd name="adj" fmla="val 4668"/>
            </a:avLst>
          </a:prstGeom>
          <a:solidFill>
            <a:srgbClr val="EDECE8"/>
          </a:solidFill>
          <a:ln/>
        </p:spPr>
      </p:sp>
      <p:sp>
        <p:nvSpPr>
          <p:cNvPr id="17" name="Shape 15"/>
          <p:cNvSpPr/>
          <p:nvPr/>
        </p:nvSpPr>
        <p:spPr>
          <a:xfrm>
            <a:off x="8229838" y="4336733"/>
            <a:ext cx="5542955" cy="1832253"/>
          </a:xfrm>
          <a:prstGeom prst="roundRect">
            <a:avLst>
              <a:gd name="adj" fmla="val 1667"/>
            </a:avLst>
          </a:prstGeom>
          <a:solidFill>
            <a:srgbClr val="EDECE8"/>
          </a:solidFill>
          <a:ln/>
        </p:spPr>
      </p:sp>
      <p:sp>
        <p:nvSpPr>
          <p:cNvPr id="18" name="Text 16"/>
          <p:cNvSpPr/>
          <p:nvPr/>
        </p:nvSpPr>
        <p:spPr>
          <a:xfrm>
            <a:off x="8433435" y="4489371"/>
            <a:ext cx="5135761" cy="1526977"/>
          </a:xfrm>
          <a:prstGeom prst="rect">
            <a:avLst/>
          </a:prstGeom>
          <a:noFill/>
          <a:ln/>
        </p:spPr>
        <p:txBody>
          <a:bodyPr wrap="square" lIns="0" tIns="0" rIns="0" bIns="0" rtlCol="0" anchor="t"/>
          <a:lstStyle/>
          <a:p>
            <a:pPr algn="l" indent="0" marL="0">
              <a:lnSpc>
                <a:spcPts val="2400"/>
              </a:lnSpc>
              <a:buNone/>
            </a:pPr>
            <a:r>
              <a:rPr lang="en-US" sz="1600" dirty="0">
                <a:solidFill>
                  <a:srgbClr val="384653"/>
                </a:solidFill>
                <a:highlight>
                  <a:srgbClr val="EDECE8"/>
                </a:highlight>
                <a:latin typeface="Consolas" pitchFamily="34" charset="0"/>
                <a:ea typeface="Consolas" pitchFamily="34" charset="-122"/>
                <a:cs typeface="Consolas" pitchFamily="34" charset="-120"/>
              </a:rPr>
              <a:t>for i in range(2):
    print("Verse", i)
    print_verse()
    print()
</a:t>
            </a:r>
            <a:endParaRPr lang="en-US" sz="1600" dirty="0"/>
          </a:p>
        </p:txBody>
      </p:sp>
      <p:sp>
        <p:nvSpPr>
          <p:cNvPr id="19" name="Text 17"/>
          <p:cNvSpPr/>
          <p:nvPr/>
        </p:nvSpPr>
        <p:spPr>
          <a:xfrm>
            <a:off x="8239958" y="6398062"/>
            <a:ext cx="5522714" cy="610791"/>
          </a:xfrm>
          <a:prstGeom prst="rect">
            <a:avLst/>
          </a:prstGeom>
          <a:noFill/>
          <a:ln/>
        </p:spPr>
        <p:txBody>
          <a:bodyPr wrap="square" lIns="0" tIns="0" rIns="0" bIns="0" rtlCol="0" anchor="t"/>
          <a:lstStyle/>
          <a:p>
            <a:pPr algn="l" indent="0" marL="0">
              <a:lnSpc>
                <a:spcPts val="2400"/>
              </a:lnSpc>
              <a:buNone/>
            </a:pPr>
            <a:r>
              <a:rPr lang="en-US" sz="1600" dirty="0">
                <a:solidFill>
                  <a:srgbClr val="384653"/>
                </a:solidFill>
                <a:latin typeface="Roboto" pitchFamily="34" charset="0"/>
                <a:ea typeface="Roboto" pitchFamily="34" charset="-122"/>
                <a:cs typeface="Roboto" pitchFamily="34" charset="-120"/>
              </a:rPr>
              <a:t>This will neatly print "Verse 0" followed by the song, then "Verse 1" and the song again.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56310"/>
            <a:ext cx="8567261"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Encapsulating Repetition within Functions</a:t>
            </a:r>
            <a:endParaRPr lang="en-US" sz="3550" dirty="0"/>
          </a:p>
        </p:txBody>
      </p:sp>
      <p:sp>
        <p:nvSpPr>
          <p:cNvPr id="3" name="Text 1"/>
          <p:cNvSpPr/>
          <p:nvPr/>
        </p:nvSpPr>
        <p:spPr>
          <a:xfrm>
            <a:off x="793790" y="1976914"/>
            <a:ext cx="13042821" cy="68794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Functions and loops are even more powerful when used together. You can embed a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for</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loop inside a function to create reusable patterns of repetition.</a:t>
            </a:r>
            <a:endParaRPr lang="en-US" sz="1750" dirty="0"/>
          </a:p>
        </p:txBody>
      </p:sp>
      <p:sp>
        <p:nvSpPr>
          <p:cNvPr id="4" name="Shape 2"/>
          <p:cNvSpPr/>
          <p:nvPr/>
        </p:nvSpPr>
        <p:spPr>
          <a:xfrm>
            <a:off x="793790" y="2920008"/>
            <a:ext cx="13042821" cy="4353163"/>
          </a:xfrm>
          <a:prstGeom prst="roundRect">
            <a:avLst>
              <a:gd name="adj" fmla="val 2188"/>
            </a:avLst>
          </a:prstGeom>
          <a:solidFill>
            <a:srgbClr val="FAF9F5"/>
          </a:solidFill>
          <a:ln w="30480">
            <a:solidFill>
              <a:srgbClr val="BFD3D8"/>
            </a:solidFill>
            <a:prstDash val="solid"/>
          </a:ln>
        </p:spPr>
      </p:sp>
      <p:sp>
        <p:nvSpPr>
          <p:cNvPr id="5" name="Text 3"/>
          <p:cNvSpPr/>
          <p:nvPr/>
        </p:nvSpPr>
        <p:spPr>
          <a:xfrm>
            <a:off x="1051084" y="3177302"/>
            <a:ext cx="4610338" cy="455771"/>
          </a:xfrm>
          <a:prstGeom prst="rect">
            <a:avLst/>
          </a:prstGeom>
          <a:noFill/>
          <a:ln/>
        </p:spPr>
        <p:txBody>
          <a:bodyPr wrap="none" lIns="0" tIns="0" rIns="0" bIns="0" rtlCol="0" anchor="t"/>
          <a:lstStyle/>
          <a:p>
            <a:pPr algn="l" indent="0" marL="0">
              <a:lnSpc>
                <a:spcPts val="3300"/>
              </a:lnSpc>
              <a:buNone/>
            </a:pPr>
            <a:r>
              <a:rPr lang="en-US" sz="2650" dirty="0">
                <a:solidFill>
                  <a:srgbClr val="384653"/>
                </a:solidFill>
                <a:latin typeface="Host Grotesk Medium" pitchFamily="34" charset="0"/>
                <a:ea typeface="Host Grotesk Medium" pitchFamily="34" charset="-122"/>
                <a:cs typeface="Host Grotesk Medium" pitchFamily="34" charset="-120"/>
              </a:rPr>
              <a:t>The </a:t>
            </a:r>
            <a:pPr algn="l" indent="0" marL="0">
              <a:lnSpc>
                <a:spcPts val="3300"/>
              </a:lnSpc>
              <a:buNone/>
            </a:pPr>
            <a:r>
              <a:rPr lang="en-US" sz="2650" dirty="0">
                <a:solidFill>
                  <a:srgbClr val="384653"/>
                </a:solidFill>
                <a:highlight>
                  <a:srgbClr val="EDECE8"/>
                </a:highlight>
                <a:latin typeface="Consolas" pitchFamily="34" charset="0"/>
                <a:ea typeface="Consolas" pitchFamily="34" charset="-122"/>
                <a:cs typeface="Consolas" pitchFamily="34" charset="-120"/>
              </a:rPr>
              <a:t>print_n_verses()</a:t>
            </a:r>
            <a:pPr algn="l" indent="0" marL="0">
              <a:lnSpc>
                <a:spcPts val="3300"/>
              </a:lnSpc>
              <a:buNone/>
            </a:pPr>
            <a:r>
              <a:rPr lang="en-US" sz="2650" dirty="0">
                <a:solidFill>
                  <a:srgbClr val="384653"/>
                </a:solidFill>
                <a:latin typeface="Host Grotesk Medium" pitchFamily="34" charset="0"/>
                <a:ea typeface="Host Grotesk Medium" pitchFamily="34" charset="-122"/>
                <a:cs typeface="Host Grotesk Medium" pitchFamily="34" charset="-120"/>
              </a:rPr>
              <a:t> Function</a:t>
            </a:r>
            <a:endParaRPr lang="en-US" sz="2650" dirty="0"/>
          </a:p>
        </p:txBody>
      </p:sp>
      <p:sp>
        <p:nvSpPr>
          <p:cNvPr id="6" name="Text 4"/>
          <p:cNvSpPr/>
          <p:nvPr/>
        </p:nvSpPr>
        <p:spPr>
          <a:xfrm>
            <a:off x="1051084" y="3769162"/>
            <a:ext cx="12528233" cy="34778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Consider the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print_n_verses(n)</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function. It takes an integer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n</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as a parameter, representing the number of verses to print.</a:t>
            </a:r>
            <a:endParaRPr lang="en-US" sz="1750" dirty="0"/>
          </a:p>
        </p:txBody>
      </p:sp>
      <p:sp>
        <p:nvSpPr>
          <p:cNvPr id="7" name="Shape 5"/>
          <p:cNvSpPr/>
          <p:nvPr/>
        </p:nvSpPr>
        <p:spPr>
          <a:xfrm>
            <a:off x="1051084" y="4372094"/>
            <a:ext cx="12528233" cy="2040850"/>
          </a:xfrm>
          <a:prstGeom prst="roundRect">
            <a:avLst>
              <a:gd name="adj" fmla="val 4668"/>
            </a:avLst>
          </a:prstGeom>
          <a:solidFill>
            <a:srgbClr val="EDECE8"/>
          </a:solidFill>
          <a:ln/>
        </p:spPr>
      </p:sp>
      <p:sp>
        <p:nvSpPr>
          <p:cNvPr id="8" name="Shape 6"/>
          <p:cNvSpPr/>
          <p:nvPr/>
        </p:nvSpPr>
        <p:spPr>
          <a:xfrm>
            <a:off x="1039773" y="4372094"/>
            <a:ext cx="12550854" cy="2040850"/>
          </a:xfrm>
          <a:prstGeom prst="roundRect">
            <a:avLst>
              <a:gd name="adj" fmla="val 1667"/>
            </a:avLst>
          </a:prstGeom>
          <a:solidFill>
            <a:srgbClr val="EDECE8"/>
          </a:solidFill>
          <a:ln/>
        </p:spPr>
      </p:sp>
      <p:sp>
        <p:nvSpPr>
          <p:cNvPr id="9" name="Text 7"/>
          <p:cNvSpPr/>
          <p:nvPr/>
        </p:nvSpPr>
        <p:spPr>
          <a:xfrm>
            <a:off x="1266587" y="4542115"/>
            <a:ext cx="12097226" cy="1700808"/>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def print_n_verses(n):
    for i in range(n):
        print_verse()
        print()
</a:t>
            </a:r>
            <a:endParaRPr lang="en-US" sz="1750" dirty="0"/>
          </a:p>
        </p:txBody>
      </p:sp>
      <p:sp>
        <p:nvSpPr>
          <p:cNvPr id="10" name="Text 8"/>
          <p:cNvSpPr/>
          <p:nvPr/>
        </p:nvSpPr>
        <p:spPr>
          <a:xfrm>
            <a:off x="1051084" y="6668095"/>
            <a:ext cx="12528233" cy="34778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Even if the loop variable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i</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isn't directly used within the loop's body, its presence in the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for</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header is mandatory.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382566" y="513278"/>
            <a:ext cx="475774" cy="239078"/>
          </a:xfrm>
          <a:prstGeom prst="roundRect">
            <a:avLst>
              <a:gd name="adj" fmla="val 17476"/>
            </a:avLst>
          </a:prstGeom>
          <a:noFill/>
          <a:ln w="7620">
            <a:solidFill>
              <a:srgbClr val="95CCDA"/>
            </a:solidFill>
            <a:prstDash val="solid"/>
          </a:ln>
        </p:spPr>
      </p:sp>
      <p:sp>
        <p:nvSpPr>
          <p:cNvPr id="3" name="Text 1"/>
          <p:cNvSpPr/>
          <p:nvPr/>
        </p:nvSpPr>
        <p:spPr>
          <a:xfrm>
            <a:off x="3464719" y="558165"/>
            <a:ext cx="311468" cy="149304"/>
          </a:xfrm>
          <a:prstGeom prst="rect">
            <a:avLst/>
          </a:prstGeom>
          <a:noFill/>
          <a:ln/>
        </p:spPr>
        <p:txBody>
          <a:bodyPr wrap="none" lIns="0" tIns="0" rIns="0" bIns="0" rtlCol="0" anchor="t"/>
          <a:lstStyle/>
          <a:p>
            <a:pPr algn="l" indent="0" marL="0">
              <a:lnSpc>
                <a:spcPts val="1150"/>
              </a:lnSpc>
              <a:buNone/>
            </a:pPr>
            <a:r>
              <a:rPr lang="en-US" sz="750" dirty="0">
                <a:solidFill>
                  <a:srgbClr val="95CCDA"/>
                </a:solidFill>
                <a:latin typeface="Roboto" pitchFamily="34" charset="0"/>
                <a:ea typeface="Roboto" pitchFamily="34" charset="-122"/>
                <a:cs typeface="Roboto" pitchFamily="34" charset="-120"/>
              </a:rPr>
              <a:t>SCOPE</a:t>
            </a:r>
            <a:endParaRPr lang="en-US" sz="750" dirty="0"/>
          </a:p>
        </p:txBody>
      </p:sp>
      <p:sp>
        <p:nvSpPr>
          <p:cNvPr id="4" name="Text 2"/>
          <p:cNvSpPr/>
          <p:nvPr/>
        </p:nvSpPr>
        <p:spPr>
          <a:xfrm>
            <a:off x="3382566" y="802005"/>
            <a:ext cx="4926568" cy="310872"/>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Variables and Parameters: The Local Scope</a:t>
            </a:r>
            <a:endParaRPr lang="en-US" sz="1950" dirty="0"/>
          </a:p>
        </p:txBody>
      </p:sp>
      <p:sp>
        <p:nvSpPr>
          <p:cNvPr id="5" name="Text 3"/>
          <p:cNvSpPr/>
          <p:nvPr/>
        </p:nvSpPr>
        <p:spPr>
          <a:xfrm>
            <a:off x="3382566" y="1299329"/>
            <a:ext cx="7865269" cy="372904"/>
          </a:xfrm>
          <a:prstGeom prst="rect">
            <a:avLst/>
          </a:prstGeom>
          <a:noFill/>
          <a:ln/>
        </p:spPr>
        <p:txBody>
          <a:bodyPr wrap="square" lIns="0" tIns="0" rIns="0" bIns="0" rtlCol="0" anchor="t"/>
          <a:lstStyle/>
          <a:p>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Understanding variable scope is crucial for writing robust programs. In Python, variables defined inside a function have a limited "lifespan" and accessibility.</a:t>
            </a:r>
            <a:endParaRPr lang="en-US" sz="950" dirty="0"/>
          </a:p>
        </p:txBody>
      </p:sp>
      <p:sp>
        <p:nvSpPr>
          <p:cNvPr id="6" name="Shape 4"/>
          <p:cNvSpPr/>
          <p:nvPr/>
        </p:nvSpPr>
        <p:spPr>
          <a:xfrm>
            <a:off x="7307580" y="1812012"/>
            <a:ext cx="15240" cy="5904309"/>
          </a:xfrm>
          <a:prstGeom prst="roundRect">
            <a:avLst>
              <a:gd name="adj" fmla="val 342703"/>
            </a:avLst>
          </a:prstGeom>
          <a:solidFill>
            <a:srgbClr val="BFD3D8"/>
          </a:solidFill>
          <a:ln/>
        </p:spPr>
      </p:sp>
      <p:sp>
        <p:nvSpPr>
          <p:cNvPr id="7" name="Shape 5"/>
          <p:cNvSpPr/>
          <p:nvPr/>
        </p:nvSpPr>
        <p:spPr>
          <a:xfrm>
            <a:off x="3367326" y="1812012"/>
            <a:ext cx="3932634" cy="2730818"/>
          </a:xfrm>
          <a:prstGeom prst="roundRect">
            <a:avLst>
              <a:gd name="adj" fmla="val 1913"/>
            </a:avLst>
          </a:prstGeom>
          <a:solidFill>
            <a:srgbClr val="D9EDF2"/>
          </a:solidFill>
          <a:ln w="7620">
            <a:solidFill>
              <a:srgbClr val="BFD3D8"/>
            </a:solidFill>
            <a:prstDash val="solid"/>
          </a:ln>
        </p:spPr>
      </p:sp>
      <p:sp>
        <p:nvSpPr>
          <p:cNvPr id="8" name="Text 6"/>
          <p:cNvSpPr/>
          <p:nvPr/>
        </p:nvSpPr>
        <p:spPr>
          <a:xfrm>
            <a:off x="5310426" y="1943933"/>
            <a:ext cx="1865233" cy="233124"/>
          </a:xfrm>
          <a:prstGeom prst="rect">
            <a:avLst/>
          </a:prstGeom>
          <a:noFill/>
          <a:ln/>
        </p:spPr>
        <p:txBody>
          <a:bodyPr wrap="none" lIns="0" tIns="0" rIns="0" bIns="0" rtlCol="0" anchor="t"/>
          <a:lstStyle/>
          <a:p>
            <a:pPr algn="r" indent="0" marL="0">
              <a:lnSpc>
                <a:spcPts val="1800"/>
              </a:lnSpc>
              <a:buNone/>
            </a:pPr>
            <a:r>
              <a:rPr lang="en-US" sz="1450" dirty="0">
                <a:solidFill>
                  <a:srgbClr val="384653"/>
                </a:solidFill>
                <a:latin typeface="Host Grotesk Medium" pitchFamily="34" charset="0"/>
                <a:ea typeface="Host Grotesk Medium" pitchFamily="34" charset="-122"/>
                <a:cs typeface="Host Grotesk Medium" pitchFamily="34" charset="-120"/>
              </a:rPr>
              <a:t>Local Variables</a:t>
            </a:r>
            <a:endParaRPr lang="en-US" sz="1450" dirty="0"/>
          </a:p>
        </p:txBody>
      </p:sp>
      <p:sp>
        <p:nvSpPr>
          <p:cNvPr id="9" name="Text 7"/>
          <p:cNvSpPr/>
          <p:nvPr/>
        </p:nvSpPr>
        <p:spPr>
          <a:xfrm>
            <a:off x="3499247" y="2251591"/>
            <a:ext cx="3676412" cy="559356"/>
          </a:xfrm>
          <a:prstGeom prst="rect">
            <a:avLst/>
          </a:prstGeom>
          <a:noFill/>
          <a:ln/>
        </p:spPr>
        <p:txBody>
          <a:bodyPr wrap="square" lIns="0" tIns="0" rIns="0" bIns="0" rtlCol="0" anchor="t"/>
          <a:lstStyle/>
          <a:p>
            <a:pPr algn="r" indent="0" marL="0">
              <a:lnSpc>
                <a:spcPts val="1450"/>
              </a:lnSpc>
              <a:buNone/>
            </a:pPr>
            <a:r>
              <a:rPr lang="en-US" sz="950" dirty="0">
                <a:solidFill>
                  <a:srgbClr val="384653"/>
                </a:solidFill>
                <a:latin typeface="Roboto" pitchFamily="34" charset="0"/>
                <a:ea typeface="Roboto" pitchFamily="34" charset="-122"/>
                <a:cs typeface="Roboto" pitchFamily="34" charset="-120"/>
              </a:rPr>
              <a:t>When you declare a variable within a function, it's considered </a:t>
            </a:r>
            <a:pPr algn="r" indent="0" marL="0">
              <a:lnSpc>
                <a:spcPts val="1450"/>
              </a:lnSpc>
              <a:buNone/>
            </a:pPr>
            <a:r>
              <a:rPr lang="en-US" sz="950" b="1" dirty="0">
                <a:solidFill>
                  <a:srgbClr val="384653"/>
                </a:solidFill>
                <a:latin typeface="Roboto" pitchFamily="34" charset="0"/>
                <a:ea typeface="Roboto" pitchFamily="34" charset="-122"/>
                <a:cs typeface="Roboto" pitchFamily="34" charset="-120"/>
              </a:rPr>
              <a:t>local</a:t>
            </a:r>
            <a:pPr algn="r" indent="0" marL="0">
              <a:lnSpc>
                <a:spcPts val="1450"/>
              </a:lnSpc>
              <a:buNone/>
            </a:pPr>
            <a:r>
              <a:rPr lang="en-US" sz="950" dirty="0">
                <a:solidFill>
                  <a:srgbClr val="384653"/>
                </a:solidFill>
                <a:latin typeface="Roboto" pitchFamily="34" charset="0"/>
                <a:ea typeface="Roboto" pitchFamily="34" charset="-122"/>
                <a:cs typeface="Roboto" pitchFamily="34" charset="-120"/>
              </a:rPr>
              <a:t>. This means it exists only while the function is executing. Once the function completes, the variable is destroyed.</a:t>
            </a:r>
            <a:endParaRPr lang="en-US" sz="950" dirty="0"/>
          </a:p>
        </p:txBody>
      </p:sp>
      <p:sp>
        <p:nvSpPr>
          <p:cNvPr id="10" name="Shape 8"/>
          <p:cNvSpPr/>
          <p:nvPr/>
        </p:nvSpPr>
        <p:spPr>
          <a:xfrm>
            <a:off x="3499247" y="2950726"/>
            <a:ext cx="3676412" cy="932259"/>
          </a:xfrm>
          <a:prstGeom prst="roundRect">
            <a:avLst>
              <a:gd name="adj" fmla="val 5602"/>
            </a:avLst>
          </a:prstGeom>
          <a:solidFill>
            <a:srgbClr val="EDECE8"/>
          </a:solidFill>
          <a:ln/>
        </p:spPr>
      </p:sp>
      <p:sp>
        <p:nvSpPr>
          <p:cNvPr id="11" name="Shape 9"/>
          <p:cNvSpPr/>
          <p:nvPr/>
        </p:nvSpPr>
        <p:spPr>
          <a:xfrm>
            <a:off x="3493056" y="2950726"/>
            <a:ext cx="3688794" cy="932259"/>
          </a:xfrm>
          <a:prstGeom prst="roundRect">
            <a:avLst>
              <a:gd name="adj" fmla="val 2001"/>
            </a:avLst>
          </a:prstGeom>
          <a:solidFill>
            <a:srgbClr val="EDECE8"/>
          </a:solidFill>
          <a:ln/>
        </p:spPr>
      </p:sp>
      <p:sp>
        <p:nvSpPr>
          <p:cNvPr id="12" name="Text 10"/>
          <p:cNvSpPr/>
          <p:nvPr/>
        </p:nvSpPr>
        <p:spPr>
          <a:xfrm>
            <a:off x="3617357" y="3043952"/>
            <a:ext cx="3440192" cy="745808"/>
          </a:xfrm>
          <a:prstGeom prst="rect">
            <a:avLst/>
          </a:prstGeom>
          <a:noFill/>
          <a:ln/>
        </p:spPr>
        <p:txBody>
          <a:bodyPr wrap="square" lIns="0" tIns="0" rIns="0" bIns="0" rtlCol="0" anchor="t"/>
          <a:lstStyle/>
          <a:p>
            <a:pPr algn="r"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def cat_twice(part1, part2):
    cat = part1 + part2
    print_twice(cat)
</a:t>
            </a:r>
            <a:endParaRPr lang="en-US" sz="950" dirty="0"/>
          </a:p>
        </p:txBody>
      </p:sp>
      <p:sp>
        <p:nvSpPr>
          <p:cNvPr id="13" name="Text 11"/>
          <p:cNvSpPr/>
          <p:nvPr/>
        </p:nvSpPr>
        <p:spPr>
          <a:xfrm>
            <a:off x="3499247" y="4022765"/>
            <a:ext cx="3676412" cy="388144"/>
          </a:xfrm>
          <a:prstGeom prst="rect">
            <a:avLst/>
          </a:prstGeom>
          <a:noFill/>
          <a:ln/>
        </p:spPr>
        <p:txBody>
          <a:bodyPr wrap="square" lIns="0" tIns="0" rIns="0" bIns="0" rtlCol="0" anchor="t"/>
          <a:lstStyle/>
          <a:p>
            <a:pPr algn="r" indent="0" marL="0">
              <a:lnSpc>
                <a:spcPts val="1450"/>
              </a:lnSpc>
              <a:buNone/>
            </a:pPr>
            <a:r>
              <a:rPr lang="en-US" sz="950" dirty="0">
                <a:solidFill>
                  <a:srgbClr val="384653"/>
                </a:solidFill>
                <a:latin typeface="Roboto" pitchFamily="34" charset="0"/>
                <a:ea typeface="Roboto" pitchFamily="34" charset="-122"/>
                <a:cs typeface="Roboto" pitchFamily="34" charset="-120"/>
              </a:rPr>
              <a:t>Here, </a:t>
            </a:r>
            <a:pPr algn="r"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cat</a:t>
            </a:r>
            <a:pPr algn="r" indent="0" marL="0">
              <a:lnSpc>
                <a:spcPts val="1450"/>
              </a:lnSpc>
              <a:buNone/>
            </a:pPr>
            <a:r>
              <a:rPr lang="en-US" sz="950" dirty="0">
                <a:solidFill>
                  <a:srgbClr val="384653"/>
                </a:solidFill>
                <a:latin typeface="Roboto" pitchFamily="34" charset="0"/>
                <a:ea typeface="Roboto" pitchFamily="34" charset="-122"/>
                <a:cs typeface="Roboto" pitchFamily="34" charset="-120"/>
              </a:rPr>
              <a:t> is a local variable. If you try to access </a:t>
            </a:r>
            <a:pPr algn="r"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cat</a:t>
            </a:r>
            <a:pPr algn="r" indent="0" marL="0">
              <a:lnSpc>
                <a:spcPts val="1450"/>
              </a:lnSpc>
              <a:buNone/>
            </a:pPr>
            <a:r>
              <a:rPr lang="en-US" sz="950" dirty="0">
                <a:solidFill>
                  <a:srgbClr val="384653"/>
                </a:solidFill>
                <a:latin typeface="Roboto" pitchFamily="34" charset="0"/>
                <a:ea typeface="Roboto" pitchFamily="34" charset="-122"/>
                <a:cs typeface="Roboto" pitchFamily="34" charset="-120"/>
              </a:rPr>
              <a:t> outside of </a:t>
            </a:r>
            <a:pPr algn="r"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cat_twice</a:t>
            </a:r>
            <a:pPr algn="r" indent="0" marL="0">
              <a:lnSpc>
                <a:spcPts val="1450"/>
              </a:lnSpc>
              <a:buNone/>
            </a:pPr>
            <a:r>
              <a:rPr lang="en-US" sz="950" dirty="0">
                <a:solidFill>
                  <a:srgbClr val="384653"/>
                </a:solidFill>
                <a:latin typeface="Roboto" pitchFamily="34" charset="0"/>
                <a:ea typeface="Roboto" pitchFamily="34" charset="-122"/>
                <a:cs typeface="Roboto" pitchFamily="34" charset="-120"/>
              </a:rPr>
              <a:t>, Python will raise a </a:t>
            </a:r>
            <a:pPr algn="r"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NameError</a:t>
            </a:r>
            <a:pPr algn="r" indent="0" marL="0">
              <a:lnSpc>
                <a:spcPts val="1450"/>
              </a:lnSpc>
              <a:buNone/>
            </a:pPr>
            <a:r>
              <a:rPr lang="en-US" sz="950" dirty="0">
                <a:solidFill>
                  <a:srgbClr val="384653"/>
                </a:solidFill>
                <a:latin typeface="Roboto" pitchFamily="34" charset="0"/>
                <a:ea typeface="Roboto" pitchFamily="34" charset="-122"/>
                <a:cs typeface="Roboto" pitchFamily="34" charset="-120"/>
              </a:rPr>
              <a:t>.</a:t>
            </a:r>
            <a:endParaRPr lang="en-US" sz="950" dirty="0"/>
          </a:p>
        </p:txBody>
      </p:sp>
      <p:sp>
        <p:nvSpPr>
          <p:cNvPr id="14" name="Shape 12"/>
          <p:cNvSpPr/>
          <p:nvPr/>
        </p:nvSpPr>
        <p:spPr>
          <a:xfrm>
            <a:off x="7330440" y="4791432"/>
            <a:ext cx="3932634" cy="2924889"/>
          </a:xfrm>
          <a:prstGeom prst="rect">
            <a:avLst/>
          </a:prstGeom>
          <a:solidFill>
            <a:srgbClr val="D9EDF2"/>
          </a:solidFill>
          <a:ln w="7620">
            <a:solidFill>
              <a:srgbClr val="BFD3D8"/>
            </a:solidFill>
            <a:prstDash val="solid"/>
          </a:ln>
        </p:spPr>
      </p:sp>
      <p:sp>
        <p:nvSpPr>
          <p:cNvPr id="15" name="Text 13"/>
          <p:cNvSpPr/>
          <p:nvPr/>
        </p:nvSpPr>
        <p:spPr>
          <a:xfrm>
            <a:off x="7454741" y="4923353"/>
            <a:ext cx="2241352" cy="233124"/>
          </a:xfrm>
          <a:prstGeom prst="rect">
            <a:avLst/>
          </a:prstGeom>
          <a:noFill/>
          <a:ln/>
        </p:spPr>
        <p:txBody>
          <a:bodyPr wrap="none" lIns="0" tIns="0" rIns="0" bIns="0" rtlCol="0" anchor="t"/>
          <a:lstStyle/>
          <a:p>
            <a:pPr algn="l" indent="0" marL="0">
              <a:lnSpc>
                <a:spcPts val="1800"/>
              </a:lnSpc>
              <a:buNone/>
            </a:pPr>
            <a:r>
              <a:rPr lang="en-US" sz="1450" dirty="0">
                <a:solidFill>
                  <a:srgbClr val="384653"/>
                </a:solidFill>
                <a:latin typeface="Host Grotesk Medium" pitchFamily="34" charset="0"/>
                <a:ea typeface="Host Grotesk Medium" pitchFamily="34" charset="-122"/>
                <a:cs typeface="Host Grotesk Medium" pitchFamily="34" charset="-120"/>
              </a:rPr>
              <a:t>Parameters Are Also Local</a:t>
            </a:r>
            <a:endParaRPr lang="en-US" sz="1450" dirty="0"/>
          </a:p>
        </p:txBody>
      </p:sp>
      <p:sp>
        <p:nvSpPr>
          <p:cNvPr id="16" name="Text 14"/>
          <p:cNvSpPr/>
          <p:nvPr/>
        </p:nvSpPr>
        <p:spPr>
          <a:xfrm>
            <a:off x="7454741" y="5231011"/>
            <a:ext cx="3676412" cy="566976"/>
          </a:xfrm>
          <a:prstGeom prst="rect">
            <a:avLst/>
          </a:prstGeom>
          <a:noFill/>
          <a:ln/>
        </p:spPr>
        <p:txBody>
          <a:bodyPr wrap="square" lIns="0" tIns="0" rIns="0" bIns="0" rtlCol="0" anchor="t"/>
          <a:lstStyle/>
          <a:p>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Similarly, function parameters like </a:t>
            </a:r>
            <a:pPr algn="l"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part1</a:t>
            </a:r>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 and </a:t>
            </a:r>
            <a:pPr algn="l"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part2</a:t>
            </a:r>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 in the </a:t>
            </a:r>
            <a:pPr algn="l"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cat_twice</a:t>
            </a:r>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 example are also local to that function. They only hold their values within the function's scope and cannot be accessed from outside.</a:t>
            </a:r>
            <a:endParaRPr lang="en-US" sz="950" dirty="0"/>
          </a:p>
        </p:txBody>
      </p:sp>
      <p:sp>
        <p:nvSpPr>
          <p:cNvPr id="17" name="Shape 15"/>
          <p:cNvSpPr/>
          <p:nvPr/>
        </p:nvSpPr>
        <p:spPr>
          <a:xfrm>
            <a:off x="7454741" y="5937766"/>
            <a:ext cx="3676412" cy="932259"/>
          </a:xfrm>
          <a:prstGeom prst="roundRect">
            <a:avLst>
              <a:gd name="adj" fmla="val 5602"/>
            </a:avLst>
          </a:prstGeom>
          <a:solidFill>
            <a:srgbClr val="EDECE8"/>
          </a:solidFill>
          <a:ln/>
        </p:spPr>
      </p:sp>
      <p:sp>
        <p:nvSpPr>
          <p:cNvPr id="18" name="Shape 16"/>
          <p:cNvSpPr/>
          <p:nvPr/>
        </p:nvSpPr>
        <p:spPr>
          <a:xfrm>
            <a:off x="7448550" y="5937766"/>
            <a:ext cx="3688794" cy="932259"/>
          </a:xfrm>
          <a:prstGeom prst="roundRect">
            <a:avLst>
              <a:gd name="adj" fmla="val 2001"/>
            </a:avLst>
          </a:prstGeom>
          <a:solidFill>
            <a:srgbClr val="EDECE8"/>
          </a:solidFill>
          <a:ln/>
        </p:spPr>
      </p:sp>
      <p:sp>
        <p:nvSpPr>
          <p:cNvPr id="19" name="Text 17"/>
          <p:cNvSpPr/>
          <p:nvPr/>
        </p:nvSpPr>
        <p:spPr>
          <a:xfrm>
            <a:off x="7572851" y="6030992"/>
            <a:ext cx="3440192" cy="745808"/>
          </a:xfrm>
          <a:prstGeom prst="rect">
            <a:avLst/>
          </a:prstGeom>
          <a:noFill/>
          <a:ln/>
        </p:spPr>
        <p:txBody>
          <a:bodyPr wrap="square" lIns="0" tIns="0" rIns="0" bIns="0" rtlCol="0" anchor="t"/>
          <a:lstStyle/>
          <a:p>
            <a:pPr algn="l"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line1 = 'Always look on the '
line2 = 'bright side of life.'
cat_twice(line1, line2)
</a:t>
            </a:r>
            <a:endParaRPr lang="en-US" sz="950" dirty="0"/>
          </a:p>
        </p:txBody>
      </p:sp>
      <p:sp>
        <p:nvSpPr>
          <p:cNvPr id="20" name="Text 18"/>
          <p:cNvSpPr/>
          <p:nvPr/>
        </p:nvSpPr>
        <p:spPr>
          <a:xfrm>
            <a:off x="7454741" y="7009805"/>
            <a:ext cx="3676412" cy="574596"/>
          </a:xfrm>
          <a:prstGeom prst="rect">
            <a:avLst/>
          </a:prstGeom>
          <a:noFill/>
          <a:ln/>
        </p:spPr>
        <p:txBody>
          <a:bodyPr wrap="square" lIns="0" tIns="0" rIns="0" bIns="0" rtlCol="0" anchor="t"/>
          <a:lstStyle/>
          <a:p>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This code will correctly print the concatenated lines. However, attempting to print </a:t>
            </a:r>
            <a:pPr algn="l"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part1</a:t>
            </a:r>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 or </a:t>
            </a:r>
            <a:pPr algn="l"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part2</a:t>
            </a:r>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 after the function call would result in a </a:t>
            </a:r>
            <a:pPr algn="l" indent="0" marL="0">
              <a:lnSpc>
                <a:spcPts val="145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NameError</a:t>
            </a:r>
            <a:pPr algn="l" indent="0" marL="0">
              <a:lnSpc>
                <a:spcPts val="1450"/>
              </a:lnSpc>
              <a:buNone/>
            </a:pPr>
            <a:r>
              <a:rPr lang="en-US" sz="950" dirty="0">
                <a:solidFill>
                  <a:srgbClr val="384653"/>
                </a:solidFill>
                <a:latin typeface="Roboto" pitchFamily="34" charset="0"/>
                <a:ea typeface="Roboto" pitchFamily="34" charset="-122"/>
                <a:cs typeface="Roboto" pitchFamily="34" charset="-120"/>
              </a:rPr>
              <a: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808083" y="480536"/>
            <a:ext cx="6007179" cy="435293"/>
          </a:xfrm>
          <a:prstGeom prst="rect">
            <a:avLst/>
          </a:prstGeom>
          <a:noFill/>
          <a:ln/>
        </p:spPr>
        <p:txBody>
          <a:bodyPr wrap="none" lIns="0" tIns="0" rIns="0" bIns="0" rtlCol="0" anchor="t"/>
          <a:lstStyle/>
          <a:p>
            <a:pPr algn="l" indent="0" marL="0">
              <a:lnSpc>
                <a:spcPts val="3400"/>
              </a:lnSpc>
              <a:buNone/>
            </a:pPr>
            <a:r>
              <a:rPr lang="en-US" sz="2700" dirty="0">
                <a:solidFill>
                  <a:srgbClr val="2E3C4E"/>
                </a:solidFill>
                <a:latin typeface="Host Grotesk Medium" pitchFamily="34" charset="0"/>
                <a:ea typeface="Host Grotesk Medium" pitchFamily="34" charset="-122"/>
                <a:cs typeface="Host Grotesk Medium" pitchFamily="34" charset="-120"/>
              </a:rPr>
              <a:t>Visualizing Execution: Stack Diagrams</a:t>
            </a:r>
            <a:endParaRPr lang="en-US" sz="2700" dirty="0"/>
          </a:p>
        </p:txBody>
      </p:sp>
      <p:sp>
        <p:nvSpPr>
          <p:cNvPr id="3" name="Text 1"/>
          <p:cNvSpPr/>
          <p:nvPr/>
        </p:nvSpPr>
        <p:spPr>
          <a:xfrm>
            <a:off x="1808083" y="1264087"/>
            <a:ext cx="11014234" cy="522446"/>
          </a:xfrm>
          <a:prstGeom prst="rect">
            <a:avLst/>
          </a:prstGeom>
          <a:noFill/>
          <a:ln/>
        </p:spPr>
        <p:txBody>
          <a:bodyPr wrap="square" lIns="0" tIns="0" rIns="0" bIns="0" rtlCol="0" anchor="t"/>
          <a:lstStyle/>
          <a:p>
            <a:pPr algn="l" indent="0" marL="0">
              <a:lnSpc>
                <a:spcPts val="2050"/>
              </a:lnSpc>
              <a:buNone/>
            </a:pPr>
            <a:r>
              <a:rPr lang="en-US" sz="1350" dirty="0">
                <a:solidFill>
                  <a:srgbClr val="384653"/>
                </a:solidFill>
                <a:latin typeface="Roboto" pitchFamily="34" charset="0"/>
                <a:ea typeface="Roboto" pitchFamily="34" charset="-122"/>
                <a:cs typeface="Roboto" pitchFamily="34" charset="-120"/>
              </a:rPr>
              <a:t>Stack diagrams offer a powerful visual aid for understanding function calls and variable scope. They map out the execution flow and the state of variables at different points in your program.</a:t>
            </a:r>
            <a:endParaRPr lang="en-US" sz="1350" dirty="0"/>
          </a:p>
        </p:txBody>
      </p:sp>
      <p:pic>
        <p:nvPicPr>
          <p:cNvPr id="4" name="Image 0" descr="preencoded.png">    </p:cNvPr>
          <p:cNvPicPr>
            <a:picLocks noChangeAspect="1"/>
          </p:cNvPicPr>
          <p:nvPr/>
        </p:nvPicPr>
        <p:blipFill>
          <a:blip r:embed="rId1"/>
          <a:stretch>
            <a:fillRect/>
          </a:stretch>
        </p:blipFill>
        <p:spPr>
          <a:xfrm>
            <a:off x="1808083" y="1982391"/>
            <a:ext cx="11014234" cy="5040630"/>
          </a:xfrm>
          <a:prstGeom prst="rect">
            <a:avLst/>
          </a:prstGeom>
        </p:spPr>
      </p:pic>
      <p:sp>
        <p:nvSpPr>
          <p:cNvPr id="5" name="Text 2"/>
          <p:cNvSpPr/>
          <p:nvPr/>
        </p:nvSpPr>
        <p:spPr>
          <a:xfrm>
            <a:off x="9876064" y="2743084"/>
            <a:ext cx="2436470" cy="304559"/>
          </a:xfrm>
          <a:prstGeom prst="rect">
            <a:avLst/>
          </a:prstGeom>
          <a:noFill/>
          <a:ln/>
        </p:spPr>
        <p:txBody>
          <a:bodyPr wrap="none" lIns="0" tIns="0" rIns="0" bIns="0" rtlCol="0" anchor="t"/>
          <a:lstStyle/>
          <a:p>
            <a:pPr algn="l" indent="0" marL="0">
              <a:lnSpc>
                <a:spcPts val="1650"/>
              </a:lnSpc>
              <a:buNone/>
            </a:pPr>
            <a:r>
              <a:rPr lang="en-US" sz="1350" dirty="0">
                <a:solidFill>
                  <a:srgbClr val="384653"/>
                </a:solidFill>
                <a:latin typeface="Host Grotesk Medium" pitchFamily="34" charset="0"/>
                <a:ea typeface="Host Grotesk Medium" pitchFamily="34" charset="-122"/>
                <a:cs typeface="Host Grotesk Medium" pitchFamily="34" charset="-120"/>
              </a:rPr>
              <a:t>Top Frame</a:t>
            </a:r>
            <a:endParaRPr lang="en-US" sz="1350" dirty="0"/>
          </a:p>
        </p:txBody>
      </p:sp>
      <p:sp>
        <p:nvSpPr>
          <p:cNvPr id="6" name="Text 3"/>
          <p:cNvSpPr/>
          <p:nvPr/>
        </p:nvSpPr>
        <p:spPr>
          <a:xfrm>
            <a:off x="9876064" y="3134273"/>
            <a:ext cx="2685532" cy="243647"/>
          </a:xfrm>
          <a:prstGeom prst="rect">
            <a:avLst/>
          </a:prstGeom>
          <a:noFill/>
          <a:ln/>
        </p:spPr>
        <p:txBody>
          <a:bodyPr wrap="none" lIns="0" tIns="0" rIns="0" bIns="0" rtlCol="0" anchor="t"/>
          <a:lstStyle/>
          <a:p>
            <a:pPr algn="l" indent="0" marL="0">
              <a:lnSpc>
                <a:spcPts val="1350"/>
              </a:lnSpc>
              <a:buNone/>
            </a:pPr>
            <a:r>
              <a:rPr lang="en-US" sz="1050" dirty="0">
                <a:solidFill>
                  <a:srgbClr val="384653"/>
                </a:solidFill>
                <a:latin typeface="Roboto" pitchFamily="34" charset="0"/>
                <a:ea typeface="Roboto" pitchFamily="34" charset="-122"/>
                <a:cs typeface="Roboto" pitchFamily="34" charset="-120"/>
              </a:rPr>
              <a:t>print_twice: string → print(? )</a:t>
            </a:r>
            <a:endParaRPr lang="en-US" sz="1050" dirty="0"/>
          </a:p>
        </p:txBody>
      </p:sp>
      <p:sp>
        <p:nvSpPr>
          <p:cNvPr id="7" name="Text 4"/>
          <p:cNvSpPr/>
          <p:nvPr/>
        </p:nvSpPr>
        <p:spPr>
          <a:xfrm>
            <a:off x="2101015" y="4399884"/>
            <a:ext cx="2436470" cy="304559"/>
          </a:xfrm>
          <a:prstGeom prst="rect">
            <a:avLst/>
          </a:prstGeom>
          <a:noFill/>
          <a:ln/>
        </p:spPr>
        <p:txBody>
          <a:bodyPr wrap="none" lIns="0" tIns="0" rIns="0" bIns="0" rtlCol="0" anchor="t"/>
          <a:lstStyle/>
          <a:p>
            <a:pPr algn="r" indent="0" marL="0">
              <a:lnSpc>
                <a:spcPts val="1650"/>
              </a:lnSpc>
              <a:buNone/>
            </a:pPr>
            <a:r>
              <a:rPr lang="en-US" sz="1350" dirty="0">
                <a:solidFill>
                  <a:srgbClr val="384653"/>
                </a:solidFill>
                <a:latin typeface="Host Grotesk Medium" pitchFamily="34" charset="0"/>
                <a:ea typeface="Host Grotesk Medium" pitchFamily="34" charset="-122"/>
                <a:cs typeface="Host Grotesk Medium" pitchFamily="34" charset="-120"/>
              </a:rPr>
              <a:t>Next Frame</a:t>
            </a:r>
            <a:endParaRPr lang="en-US" sz="1350" dirty="0"/>
          </a:p>
        </p:txBody>
      </p:sp>
      <p:sp>
        <p:nvSpPr>
          <p:cNvPr id="8" name="Text 5"/>
          <p:cNvSpPr/>
          <p:nvPr/>
        </p:nvSpPr>
        <p:spPr>
          <a:xfrm>
            <a:off x="2068529" y="4791073"/>
            <a:ext cx="2468957" cy="243647"/>
          </a:xfrm>
          <a:prstGeom prst="rect">
            <a:avLst/>
          </a:prstGeom>
          <a:noFill/>
          <a:ln/>
        </p:spPr>
        <p:txBody>
          <a:bodyPr wrap="none" lIns="0" tIns="0" rIns="0" bIns="0" rtlCol="0" anchor="t"/>
          <a:lstStyle/>
          <a:p>
            <a:pPr algn="r" indent="0" marL="0">
              <a:lnSpc>
                <a:spcPts val="1350"/>
              </a:lnSpc>
              <a:buNone/>
            </a:pPr>
            <a:r>
              <a:rPr lang="en-US" sz="1050" dirty="0">
                <a:solidFill>
                  <a:srgbClr val="384653"/>
                </a:solidFill>
                <a:latin typeface="Roboto" pitchFamily="34" charset="0"/>
                <a:ea typeface="Roboto" pitchFamily="34" charset="-122"/>
                <a:cs typeface="Roboto" pitchFamily="34" charset="-120"/>
              </a:rPr>
              <a:t>cat_twice: line1, line2, cat</a:t>
            </a:r>
            <a:endParaRPr lang="en-US" sz="1050" dirty="0"/>
          </a:p>
        </p:txBody>
      </p:sp>
      <p:sp>
        <p:nvSpPr>
          <p:cNvPr id="9" name="Text 6"/>
          <p:cNvSpPr/>
          <p:nvPr/>
        </p:nvSpPr>
        <p:spPr>
          <a:xfrm>
            <a:off x="9876064" y="5255355"/>
            <a:ext cx="2436470" cy="304559"/>
          </a:xfrm>
          <a:prstGeom prst="rect">
            <a:avLst/>
          </a:prstGeom>
          <a:noFill/>
          <a:ln/>
        </p:spPr>
        <p:txBody>
          <a:bodyPr wrap="none" lIns="0" tIns="0" rIns="0" bIns="0" rtlCol="0" anchor="t"/>
          <a:lstStyle/>
          <a:p>
            <a:pPr algn="l" indent="0" marL="0">
              <a:lnSpc>
                <a:spcPts val="1650"/>
              </a:lnSpc>
              <a:buNone/>
            </a:pPr>
            <a:r>
              <a:rPr lang="en-US" sz="1350" dirty="0">
                <a:solidFill>
                  <a:srgbClr val="384653"/>
                </a:solidFill>
                <a:latin typeface="Host Grotesk Medium" pitchFamily="34" charset="0"/>
                <a:ea typeface="Host Grotesk Medium" pitchFamily="34" charset="-122"/>
                <a:cs typeface="Host Grotesk Medium" pitchFamily="34" charset="-120"/>
              </a:rPr>
              <a:t>Core Frame</a:t>
            </a:r>
            <a:endParaRPr lang="en-US" sz="1350" dirty="0"/>
          </a:p>
        </p:txBody>
      </p:sp>
      <p:sp>
        <p:nvSpPr>
          <p:cNvPr id="10" name="Text 7"/>
          <p:cNvSpPr/>
          <p:nvPr/>
        </p:nvSpPr>
        <p:spPr>
          <a:xfrm>
            <a:off x="9876064" y="5646545"/>
            <a:ext cx="2685532" cy="243647"/>
          </a:xfrm>
          <a:prstGeom prst="rect">
            <a:avLst/>
          </a:prstGeom>
          <a:noFill/>
          <a:ln/>
        </p:spPr>
        <p:txBody>
          <a:bodyPr wrap="none" lIns="0" tIns="0" rIns="0" bIns="0" rtlCol="0" anchor="t"/>
          <a:lstStyle/>
          <a:p>
            <a:pPr algn="l" indent="0" marL="0">
              <a:lnSpc>
                <a:spcPts val="1350"/>
              </a:lnSpc>
              <a:buNone/>
            </a:pPr>
            <a:r>
              <a:rPr lang="en-US" sz="1050" dirty="0">
                <a:solidFill>
                  <a:srgbClr val="384653"/>
                </a:solidFill>
                <a:latin typeface="Roboto" pitchFamily="34" charset="0"/>
                <a:ea typeface="Roboto" pitchFamily="34" charset="-122"/>
                <a:cs typeface="Roboto" pitchFamily="34" charset="-120"/>
              </a:rPr>
              <a:t>__main__ (bottom of stack)</a:t>
            </a:r>
            <a:endParaRPr lang="en-US" sz="1050" dirty="0"/>
          </a:p>
        </p:txBody>
      </p:sp>
      <p:sp>
        <p:nvSpPr>
          <p:cNvPr id="11" name="Text 8"/>
          <p:cNvSpPr/>
          <p:nvPr/>
        </p:nvSpPr>
        <p:spPr>
          <a:xfrm>
            <a:off x="1808083" y="7218878"/>
            <a:ext cx="11014234" cy="530066"/>
          </a:xfrm>
          <a:prstGeom prst="rect">
            <a:avLst/>
          </a:prstGeom>
          <a:noFill/>
          <a:ln/>
        </p:spPr>
        <p:txBody>
          <a:bodyPr wrap="square" lIns="0" tIns="0" rIns="0" bIns="0" rtlCol="0" anchor="t"/>
          <a:lstStyle/>
          <a:p>
            <a:pPr algn="l" indent="0" marL="0">
              <a:lnSpc>
                <a:spcPts val="2050"/>
              </a:lnSpc>
              <a:buNone/>
            </a:pPr>
            <a:r>
              <a:rPr lang="en-US" sz="1350" dirty="0">
                <a:solidFill>
                  <a:srgbClr val="384653"/>
                </a:solidFill>
                <a:latin typeface="Roboto" pitchFamily="34" charset="0"/>
                <a:ea typeface="Roboto" pitchFamily="34" charset="-122"/>
                <a:cs typeface="Roboto" pitchFamily="34" charset="-120"/>
              </a:rPr>
              <a:t>Each "frame" in the diagram represents a function call, containing its parameters and local variables. The stack illustrates the call hierarchy, with </a:t>
            </a:r>
            <a:pPr algn="l" indent="0" marL="0">
              <a:lnSpc>
                <a:spcPts val="2050"/>
              </a:lnSpc>
              <a:buNone/>
            </a:pPr>
            <a:r>
              <a:rPr lang="en-US" sz="1350" dirty="0">
                <a:solidFill>
                  <a:srgbClr val="384653"/>
                </a:solidFill>
                <a:highlight>
                  <a:srgbClr val="EDECE8"/>
                </a:highlight>
                <a:latin typeface="Consolas" pitchFamily="34" charset="0"/>
                <a:ea typeface="Consolas" pitchFamily="34" charset="-122"/>
                <a:cs typeface="Consolas" pitchFamily="34" charset="-120"/>
              </a:rPr>
              <a:t>__main__</a:t>
            </a:r>
            <a:pPr algn="l" indent="0" marL="0">
              <a:lnSpc>
                <a:spcPts val="2050"/>
              </a:lnSpc>
              <a:buNone/>
            </a:pPr>
            <a:r>
              <a:rPr lang="en-US" sz="1350" dirty="0">
                <a:solidFill>
                  <a:srgbClr val="384653"/>
                </a:solidFill>
                <a:latin typeface="Roboto" pitchFamily="34" charset="0"/>
                <a:ea typeface="Roboto" pitchFamily="34" charset="-122"/>
                <a:cs typeface="Roboto" pitchFamily="34" charset="-120"/>
              </a:rPr>
              <a:t> at the base, representing the main program execution.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341953" y="521494"/>
            <a:ext cx="1075849" cy="354925"/>
          </a:xfrm>
          <a:prstGeom prst="roundRect">
            <a:avLst>
              <a:gd name="adj" fmla="val 17881"/>
            </a:avLst>
          </a:prstGeom>
          <a:noFill/>
          <a:ln w="7620">
            <a:solidFill>
              <a:srgbClr val="95CCDA"/>
            </a:solidFill>
            <a:prstDash val="solid"/>
          </a:ln>
        </p:spPr>
      </p:sp>
      <p:sp>
        <p:nvSpPr>
          <p:cNvPr id="3" name="Text 1"/>
          <p:cNvSpPr/>
          <p:nvPr/>
        </p:nvSpPr>
        <p:spPr>
          <a:xfrm>
            <a:off x="1462802" y="585668"/>
            <a:ext cx="834152" cy="226576"/>
          </a:xfrm>
          <a:prstGeom prst="rect">
            <a:avLst/>
          </a:prstGeom>
          <a:noFill/>
          <a:ln/>
        </p:spPr>
        <p:txBody>
          <a:bodyPr wrap="none" lIns="0" tIns="0" rIns="0" bIns="0" rtlCol="0" anchor="t"/>
          <a:lstStyle/>
          <a:p>
            <a:pPr algn="l" indent="0" marL="0">
              <a:lnSpc>
                <a:spcPts val="1750"/>
              </a:lnSpc>
              <a:buNone/>
            </a:pPr>
            <a:r>
              <a:rPr lang="en-US" sz="1150" dirty="0">
                <a:solidFill>
                  <a:srgbClr val="95CCDA"/>
                </a:solidFill>
                <a:latin typeface="Roboto" pitchFamily="34" charset="0"/>
                <a:ea typeface="Roboto" pitchFamily="34" charset="-122"/>
                <a:cs typeface="Roboto" pitchFamily="34" charset="-120"/>
              </a:rPr>
              <a:t>DEBUGGING</a:t>
            </a:r>
            <a:endParaRPr lang="en-US" sz="1150" dirty="0"/>
          </a:p>
        </p:txBody>
      </p:sp>
      <p:sp>
        <p:nvSpPr>
          <p:cNvPr id="4" name="Text 2"/>
          <p:cNvSpPr/>
          <p:nvPr/>
        </p:nvSpPr>
        <p:spPr>
          <a:xfrm>
            <a:off x="1341953" y="951905"/>
            <a:ext cx="4586407" cy="472202"/>
          </a:xfrm>
          <a:prstGeom prst="rect">
            <a:avLst/>
          </a:prstGeom>
          <a:noFill/>
          <a:ln/>
        </p:spPr>
        <p:txBody>
          <a:bodyPr wrap="none" lIns="0" tIns="0" rIns="0" bIns="0" rtlCol="0" anchor="t"/>
          <a:lstStyle/>
          <a:p>
            <a:pPr algn="l" indent="0" marL="0">
              <a:lnSpc>
                <a:spcPts val="3700"/>
              </a:lnSpc>
              <a:buNone/>
            </a:pPr>
            <a:r>
              <a:rPr lang="en-US" sz="2950" dirty="0">
                <a:solidFill>
                  <a:srgbClr val="2E3C4E"/>
                </a:solidFill>
                <a:latin typeface="Host Grotesk Medium" pitchFamily="34" charset="0"/>
                <a:ea typeface="Host Grotesk Medium" pitchFamily="34" charset="-122"/>
                <a:cs typeface="Host Grotesk Medium" pitchFamily="34" charset="-120"/>
              </a:rPr>
              <a:t>Understanding Tracebacks</a:t>
            </a:r>
            <a:endParaRPr lang="en-US" sz="2950" dirty="0"/>
          </a:p>
        </p:txBody>
      </p:sp>
      <p:sp>
        <p:nvSpPr>
          <p:cNvPr id="5" name="Text 3"/>
          <p:cNvSpPr/>
          <p:nvPr/>
        </p:nvSpPr>
        <p:spPr>
          <a:xfrm>
            <a:off x="1341953" y="1707356"/>
            <a:ext cx="11946493" cy="566499"/>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Errors are a natural part of programming. When a runtime error occurs, Python provides a </a:t>
            </a:r>
            <a:pPr algn="l" indent="0" marL="0">
              <a:lnSpc>
                <a:spcPts val="2200"/>
              </a:lnSpc>
              <a:buNone/>
            </a:pPr>
            <a:r>
              <a:rPr lang="en-US" sz="1450" b="1" dirty="0">
                <a:solidFill>
                  <a:srgbClr val="384653"/>
                </a:solidFill>
                <a:latin typeface="Roboto" pitchFamily="34" charset="0"/>
                <a:ea typeface="Roboto" pitchFamily="34" charset="-122"/>
                <a:cs typeface="Roboto" pitchFamily="34" charset="-120"/>
              </a:rPr>
              <a:t>traceback</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which is an invaluable debugging tool. It's a map that shows you the sequence of function calls leading up to the error.</a:t>
            </a:r>
            <a:endParaRPr lang="en-US" sz="1450" dirty="0"/>
          </a:p>
        </p:txBody>
      </p:sp>
      <p:sp>
        <p:nvSpPr>
          <p:cNvPr id="6" name="Shape 4"/>
          <p:cNvSpPr/>
          <p:nvPr/>
        </p:nvSpPr>
        <p:spPr>
          <a:xfrm>
            <a:off x="1341953" y="2769513"/>
            <a:ext cx="5878830" cy="4144447"/>
          </a:xfrm>
          <a:prstGeom prst="roundRect">
            <a:avLst>
              <a:gd name="adj" fmla="val 2648"/>
            </a:avLst>
          </a:prstGeom>
          <a:solidFill>
            <a:srgbClr val="FAF9F5"/>
          </a:solidFill>
          <a:ln/>
        </p:spPr>
      </p:sp>
      <p:pic>
        <p:nvPicPr>
          <p:cNvPr id="7" name="Image 0" descr="preencoded.png">    </p:cNvPr>
          <p:cNvPicPr>
            <a:picLocks noChangeAspect="1"/>
          </p:cNvPicPr>
          <p:nvPr/>
        </p:nvPicPr>
        <p:blipFill>
          <a:blip r:embed="rId1"/>
          <a:stretch>
            <a:fillRect/>
          </a:stretch>
        </p:blipFill>
        <p:spPr>
          <a:xfrm>
            <a:off x="1341953" y="2746653"/>
            <a:ext cx="5878830" cy="91440"/>
          </a:xfrm>
          <a:prstGeom prst="rect">
            <a:avLst/>
          </a:prstGeom>
        </p:spPr>
      </p:pic>
      <p:pic>
        <p:nvPicPr>
          <p:cNvPr id="8" name="Image 1" descr="preencoded.png">    </p:cNvPr>
          <p:cNvPicPr>
            <a:picLocks noChangeAspect="1"/>
          </p:cNvPicPr>
          <p:nvPr/>
        </p:nvPicPr>
        <p:blipFill>
          <a:blip r:embed="rId2"/>
          <a:stretch>
            <a:fillRect/>
          </a:stretch>
        </p:blipFill>
        <p:spPr>
          <a:xfrm>
            <a:off x="3998059" y="2486263"/>
            <a:ext cx="566618" cy="566618"/>
          </a:xfrm>
          <a:prstGeom prst="rect">
            <a:avLst/>
          </a:prstGeom>
        </p:spPr>
      </p:pic>
      <p:sp>
        <p:nvSpPr>
          <p:cNvPr id="9" name="Text 5"/>
          <p:cNvSpPr/>
          <p:nvPr/>
        </p:nvSpPr>
        <p:spPr>
          <a:xfrm>
            <a:off x="4168080" y="2627948"/>
            <a:ext cx="226576" cy="283250"/>
          </a:xfrm>
          <a:prstGeom prst="rect">
            <a:avLst/>
          </a:prstGeom>
          <a:noFill/>
          <a:ln/>
        </p:spPr>
        <p:txBody>
          <a:bodyPr wrap="none" lIns="0" tIns="0" rIns="0" bIns="0" rtlCol="0" anchor="t"/>
          <a:lstStyle/>
          <a:p>
            <a:pPr algn="l" indent="0" marL="0">
              <a:lnSpc>
                <a:spcPts val="2650"/>
              </a:lnSpc>
              <a:buNone/>
            </a:pPr>
            <a:r>
              <a:rPr lang="en-US" sz="1750" dirty="0">
                <a:solidFill>
                  <a:srgbClr val="000000"/>
                </a:solidFill>
                <a:latin typeface="Host Grotesk Medium" pitchFamily="34" charset="0"/>
                <a:ea typeface="Host Grotesk Medium" pitchFamily="34" charset="-122"/>
                <a:cs typeface="Host Grotesk Medium" pitchFamily="34" charset="-120"/>
              </a:rPr>
              <a:t>1</a:t>
            </a:r>
            <a:endParaRPr lang="en-US" sz="1750" dirty="0"/>
          </a:p>
        </p:txBody>
      </p:sp>
      <p:sp>
        <p:nvSpPr>
          <p:cNvPr id="10" name="Text 6"/>
          <p:cNvSpPr/>
          <p:nvPr/>
        </p:nvSpPr>
        <p:spPr>
          <a:xfrm>
            <a:off x="1553647" y="3241596"/>
            <a:ext cx="2360890" cy="310277"/>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Error in </a:t>
            </a:r>
            <a:pPr algn="l" indent="0" marL="0">
              <a:lnSpc>
                <a:spcPts val="2300"/>
              </a:lnSpc>
              <a:buNone/>
            </a:pPr>
            <a:r>
              <a:rPr lang="en-US" sz="1850" dirty="0">
                <a:solidFill>
                  <a:srgbClr val="384653"/>
                </a:solidFill>
                <a:highlight>
                  <a:srgbClr val="EDECE8"/>
                </a:highlight>
                <a:latin typeface="Consolas" pitchFamily="34" charset="0"/>
                <a:ea typeface="Consolas" pitchFamily="34" charset="-122"/>
                <a:cs typeface="Consolas" pitchFamily="34" charset="-120"/>
              </a:rPr>
              <a:t>print_twice()</a:t>
            </a:r>
            <a:endParaRPr lang="en-US" sz="1850" dirty="0"/>
          </a:p>
        </p:txBody>
      </p:sp>
      <p:sp>
        <p:nvSpPr>
          <p:cNvPr id="11" name="Text 7"/>
          <p:cNvSpPr/>
          <p:nvPr/>
        </p:nvSpPr>
        <p:spPr>
          <a:xfrm>
            <a:off x="1553647" y="3665101"/>
            <a:ext cx="5455444" cy="581739"/>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Let's introduce an error into our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print_twice()</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function by trying to print a non-existent variable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cat</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a:t>
            </a:r>
            <a:endParaRPr lang="en-US" sz="1450" dirty="0"/>
          </a:p>
        </p:txBody>
      </p:sp>
      <p:sp>
        <p:nvSpPr>
          <p:cNvPr id="12" name="Shape 8"/>
          <p:cNvSpPr/>
          <p:nvPr/>
        </p:nvSpPr>
        <p:spPr>
          <a:xfrm>
            <a:off x="1553647" y="4459248"/>
            <a:ext cx="5455444" cy="1416129"/>
          </a:xfrm>
          <a:prstGeom prst="roundRect">
            <a:avLst>
              <a:gd name="adj" fmla="val 5602"/>
            </a:avLst>
          </a:prstGeom>
          <a:solidFill>
            <a:srgbClr val="EDECE8"/>
          </a:solidFill>
          <a:ln/>
        </p:spPr>
      </p:sp>
      <p:sp>
        <p:nvSpPr>
          <p:cNvPr id="13" name="Shape 9"/>
          <p:cNvSpPr/>
          <p:nvPr/>
        </p:nvSpPr>
        <p:spPr>
          <a:xfrm>
            <a:off x="1544241" y="4459248"/>
            <a:ext cx="5474256" cy="1416129"/>
          </a:xfrm>
          <a:prstGeom prst="roundRect">
            <a:avLst>
              <a:gd name="adj" fmla="val 2001"/>
            </a:avLst>
          </a:prstGeom>
          <a:solidFill>
            <a:srgbClr val="EDECE8"/>
          </a:solidFill>
          <a:ln/>
        </p:spPr>
      </p:sp>
      <p:sp>
        <p:nvSpPr>
          <p:cNvPr id="14" name="Text 10"/>
          <p:cNvSpPr/>
          <p:nvPr/>
        </p:nvSpPr>
        <p:spPr>
          <a:xfrm>
            <a:off x="1733074" y="4600813"/>
            <a:ext cx="5096589" cy="1132999"/>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def print_twice(string):
    print(cat) # NameError
    print(cat)
</a:t>
            </a:r>
            <a:endParaRPr lang="en-US" sz="1450" dirty="0"/>
          </a:p>
        </p:txBody>
      </p:sp>
      <p:sp>
        <p:nvSpPr>
          <p:cNvPr id="15" name="Shape 11"/>
          <p:cNvSpPr/>
          <p:nvPr/>
        </p:nvSpPr>
        <p:spPr>
          <a:xfrm>
            <a:off x="7409617" y="2769513"/>
            <a:ext cx="5878830" cy="4144447"/>
          </a:xfrm>
          <a:prstGeom prst="roundRect">
            <a:avLst>
              <a:gd name="adj" fmla="val 2648"/>
            </a:avLst>
          </a:prstGeom>
          <a:solidFill>
            <a:srgbClr val="FAF9F5"/>
          </a:solidFill>
          <a:ln/>
        </p:spPr>
      </p:sp>
      <p:pic>
        <p:nvPicPr>
          <p:cNvPr id="16" name="Image 2" descr="preencoded.png">    </p:cNvPr>
          <p:cNvPicPr>
            <a:picLocks noChangeAspect="1"/>
          </p:cNvPicPr>
          <p:nvPr/>
        </p:nvPicPr>
        <p:blipFill>
          <a:blip r:embed="rId3"/>
          <a:stretch>
            <a:fillRect/>
          </a:stretch>
        </p:blipFill>
        <p:spPr>
          <a:xfrm>
            <a:off x="7409617" y="2746653"/>
            <a:ext cx="5878830" cy="91440"/>
          </a:xfrm>
          <a:prstGeom prst="rect">
            <a:avLst/>
          </a:prstGeom>
        </p:spPr>
      </p:pic>
      <p:pic>
        <p:nvPicPr>
          <p:cNvPr id="17" name="Image 3" descr="preencoded.png">    </p:cNvPr>
          <p:cNvPicPr>
            <a:picLocks noChangeAspect="1"/>
          </p:cNvPicPr>
          <p:nvPr/>
        </p:nvPicPr>
        <p:blipFill>
          <a:blip r:embed="rId4"/>
          <a:stretch>
            <a:fillRect/>
          </a:stretch>
        </p:blipFill>
        <p:spPr>
          <a:xfrm>
            <a:off x="10065722" y="2486263"/>
            <a:ext cx="566618" cy="566618"/>
          </a:xfrm>
          <a:prstGeom prst="rect">
            <a:avLst/>
          </a:prstGeom>
        </p:spPr>
      </p:pic>
      <p:sp>
        <p:nvSpPr>
          <p:cNvPr id="18" name="Text 12"/>
          <p:cNvSpPr/>
          <p:nvPr/>
        </p:nvSpPr>
        <p:spPr>
          <a:xfrm>
            <a:off x="10235744" y="2627948"/>
            <a:ext cx="226576" cy="283250"/>
          </a:xfrm>
          <a:prstGeom prst="rect">
            <a:avLst/>
          </a:prstGeom>
          <a:noFill/>
          <a:ln/>
        </p:spPr>
        <p:txBody>
          <a:bodyPr wrap="none" lIns="0" tIns="0" rIns="0" bIns="0" rtlCol="0" anchor="t"/>
          <a:lstStyle/>
          <a:p>
            <a:pPr algn="l" indent="0" marL="0">
              <a:lnSpc>
                <a:spcPts val="2650"/>
              </a:lnSpc>
              <a:buNone/>
            </a:pPr>
            <a:r>
              <a:rPr lang="en-US" sz="1750" dirty="0">
                <a:solidFill>
                  <a:srgbClr val="000000"/>
                </a:solidFill>
                <a:latin typeface="Host Grotesk Medium" pitchFamily="34" charset="0"/>
                <a:ea typeface="Host Grotesk Medium" pitchFamily="34" charset="-122"/>
                <a:cs typeface="Host Grotesk Medium" pitchFamily="34" charset="-120"/>
              </a:rPr>
              <a:t>2</a:t>
            </a:r>
            <a:endParaRPr lang="en-US" sz="1750" dirty="0"/>
          </a:p>
        </p:txBody>
      </p:sp>
      <p:sp>
        <p:nvSpPr>
          <p:cNvPr id="19" name="Text 13"/>
          <p:cNvSpPr/>
          <p:nvPr/>
        </p:nvSpPr>
        <p:spPr>
          <a:xfrm>
            <a:off x="7621310" y="3241596"/>
            <a:ext cx="2594372" cy="295037"/>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Executing with the Error</a:t>
            </a:r>
            <a:endParaRPr lang="en-US" sz="1850" dirty="0"/>
          </a:p>
        </p:txBody>
      </p:sp>
      <p:sp>
        <p:nvSpPr>
          <p:cNvPr id="20" name="Text 14"/>
          <p:cNvSpPr/>
          <p:nvPr/>
        </p:nvSpPr>
        <p:spPr>
          <a:xfrm>
            <a:off x="7621310" y="3649861"/>
            <a:ext cx="5455444" cy="574119"/>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When we call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cat_twice(line1, line2)</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with this faulty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print_twice</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a traceback is generated.</a:t>
            </a:r>
            <a:endParaRPr lang="en-US" sz="1450" dirty="0"/>
          </a:p>
        </p:txBody>
      </p:sp>
      <p:sp>
        <p:nvSpPr>
          <p:cNvPr id="21" name="Shape 15"/>
          <p:cNvSpPr/>
          <p:nvPr/>
        </p:nvSpPr>
        <p:spPr>
          <a:xfrm>
            <a:off x="7621310" y="4436388"/>
            <a:ext cx="5455444" cy="2265878"/>
          </a:xfrm>
          <a:prstGeom prst="roundRect">
            <a:avLst>
              <a:gd name="adj" fmla="val 3501"/>
            </a:avLst>
          </a:prstGeom>
          <a:solidFill>
            <a:srgbClr val="EDECE8"/>
          </a:solidFill>
          <a:ln/>
        </p:spPr>
      </p:sp>
      <p:sp>
        <p:nvSpPr>
          <p:cNvPr id="22" name="Shape 16"/>
          <p:cNvSpPr/>
          <p:nvPr/>
        </p:nvSpPr>
        <p:spPr>
          <a:xfrm>
            <a:off x="7611904" y="4436388"/>
            <a:ext cx="5474256" cy="2265878"/>
          </a:xfrm>
          <a:prstGeom prst="roundRect">
            <a:avLst>
              <a:gd name="adj" fmla="val 1250"/>
            </a:avLst>
          </a:prstGeom>
          <a:solidFill>
            <a:srgbClr val="EDECE8"/>
          </a:solidFill>
          <a:ln/>
        </p:spPr>
      </p:sp>
      <p:sp>
        <p:nvSpPr>
          <p:cNvPr id="23" name="Text 17"/>
          <p:cNvSpPr/>
          <p:nvPr/>
        </p:nvSpPr>
        <p:spPr>
          <a:xfrm>
            <a:off x="7800737" y="4577953"/>
            <a:ext cx="5096589" cy="198274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Traceback (most recent call last):
File :2 Cell In[21], line 3 in cat_twice
    print_twice(cat)
Cell In[26], line 2 in print_twice
    print(cat) # NameError
NameError: name 'cat' is not defined
</a:t>
            </a:r>
            <a:endParaRPr lang="en-US" sz="1450" dirty="0"/>
          </a:p>
        </p:txBody>
      </p:sp>
      <p:sp>
        <p:nvSpPr>
          <p:cNvPr id="24" name="Text 18"/>
          <p:cNvSpPr/>
          <p:nvPr/>
        </p:nvSpPr>
        <p:spPr>
          <a:xfrm>
            <a:off x="1341953" y="7126367"/>
            <a:ext cx="11946493" cy="581739"/>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The traceback reads from bottom to top, indicating the function where the error originated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print_twice</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and then the function that called it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cat_twice</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and so on. This mirrors the structure of a stack diagram, helping you pinpoint the problem.</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43583"/>
            <a:ext cx="7786807"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The Power of Functions: Why Bother?</a:t>
            </a:r>
            <a:endParaRPr lang="en-US" sz="3550" dirty="0"/>
          </a:p>
        </p:txBody>
      </p:sp>
      <p:sp>
        <p:nvSpPr>
          <p:cNvPr id="3" name="Text 1"/>
          <p:cNvSpPr/>
          <p:nvPr/>
        </p:nvSpPr>
        <p:spPr>
          <a:xfrm>
            <a:off x="793790" y="2064187"/>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While they might seem like extra work at first, functions are fundamental to good programming practice. They offer numerous advantages that make your code clearer, more efficient, and easier to maintain.</a:t>
            </a:r>
            <a:endParaRPr lang="en-US" sz="1750" dirty="0"/>
          </a:p>
        </p:txBody>
      </p:sp>
      <p:sp>
        <p:nvSpPr>
          <p:cNvPr id="4" name="Shape 2"/>
          <p:cNvSpPr/>
          <p:nvPr/>
        </p:nvSpPr>
        <p:spPr>
          <a:xfrm>
            <a:off x="793790" y="2999661"/>
            <a:ext cx="6407944" cy="1979771"/>
          </a:xfrm>
          <a:prstGeom prst="roundRect">
            <a:avLst>
              <a:gd name="adj" fmla="val 27497"/>
            </a:avLst>
          </a:prstGeom>
          <a:solidFill>
            <a:srgbClr val="D9EDF2"/>
          </a:solidFill>
          <a:ln w="7620">
            <a:solidFill>
              <a:srgbClr val="BFD3D8"/>
            </a:solidFill>
            <a:prstDash val="solid"/>
          </a:ln>
        </p:spPr>
      </p:sp>
      <p:sp>
        <p:nvSpPr>
          <p:cNvPr id="5" name="Text 3"/>
          <p:cNvSpPr/>
          <p:nvPr/>
        </p:nvSpPr>
        <p:spPr>
          <a:xfrm>
            <a:off x="1028224" y="3234095"/>
            <a:ext cx="3210878"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Readability &amp; Debugging</a:t>
            </a:r>
            <a:endParaRPr lang="en-US" sz="2200" dirty="0"/>
          </a:p>
        </p:txBody>
      </p:sp>
      <p:sp>
        <p:nvSpPr>
          <p:cNvPr id="6" name="Text 4"/>
          <p:cNvSpPr/>
          <p:nvPr/>
        </p:nvSpPr>
        <p:spPr>
          <a:xfrm>
            <a:off x="1028224" y="3724513"/>
            <a:ext cx="5939076"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Functions allow you to name groups of statements, significantly improving code readability and simplifying the debugging process by breaking down complex problems.</a:t>
            </a:r>
            <a:endParaRPr lang="en-US" sz="1750" dirty="0"/>
          </a:p>
        </p:txBody>
      </p:sp>
      <p:sp>
        <p:nvSpPr>
          <p:cNvPr id="7" name="Shape 5"/>
          <p:cNvSpPr/>
          <p:nvPr/>
        </p:nvSpPr>
        <p:spPr>
          <a:xfrm>
            <a:off x="7428548" y="2999661"/>
            <a:ext cx="6408063" cy="1979771"/>
          </a:xfrm>
          <a:prstGeom prst="roundRect">
            <a:avLst>
              <a:gd name="adj" fmla="val 27497"/>
            </a:avLst>
          </a:prstGeom>
          <a:solidFill>
            <a:srgbClr val="D9EDF2"/>
          </a:solidFill>
          <a:ln w="7620">
            <a:solidFill>
              <a:srgbClr val="BFD3D8"/>
            </a:solidFill>
            <a:prstDash val="solid"/>
          </a:ln>
        </p:spPr>
      </p:sp>
      <p:sp>
        <p:nvSpPr>
          <p:cNvPr id="8" name="Text 6"/>
          <p:cNvSpPr/>
          <p:nvPr/>
        </p:nvSpPr>
        <p:spPr>
          <a:xfrm>
            <a:off x="7662982" y="323409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Eliminating Repetition</a:t>
            </a:r>
            <a:endParaRPr lang="en-US" sz="2200" dirty="0"/>
          </a:p>
        </p:txBody>
      </p:sp>
      <p:sp>
        <p:nvSpPr>
          <p:cNvPr id="9" name="Text 7"/>
          <p:cNvSpPr/>
          <p:nvPr/>
        </p:nvSpPr>
        <p:spPr>
          <a:xfrm>
            <a:off x="7662982" y="3724513"/>
            <a:ext cx="5939195"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Functions prevent "code duplication." If you need to change a piece of logic, you only update it in one place, reducing errors and saving time.</a:t>
            </a:r>
            <a:endParaRPr lang="en-US" sz="1750" dirty="0"/>
          </a:p>
        </p:txBody>
      </p:sp>
      <p:sp>
        <p:nvSpPr>
          <p:cNvPr id="10" name="Shape 8"/>
          <p:cNvSpPr/>
          <p:nvPr/>
        </p:nvSpPr>
        <p:spPr>
          <a:xfrm>
            <a:off x="793790" y="5206246"/>
            <a:ext cx="6407944" cy="1979771"/>
          </a:xfrm>
          <a:prstGeom prst="roundRect">
            <a:avLst>
              <a:gd name="adj" fmla="val 27497"/>
            </a:avLst>
          </a:prstGeom>
          <a:solidFill>
            <a:srgbClr val="D9EDF2"/>
          </a:solidFill>
          <a:ln w="7620">
            <a:solidFill>
              <a:srgbClr val="BFD3D8"/>
            </a:solidFill>
            <a:prstDash val="solid"/>
          </a:ln>
        </p:spPr>
      </p:sp>
      <p:sp>
        <p:nvSpPr>
          <p:cNvPr id="11" name="Text 9"/>
          <p:cNvSpPr/>
          <p:nvPr/>
        </p:nvSpPr>
        <p:spPr>
          <a:xfrm>
            <a:off x="1028224" y="54406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Modular Debugging</a:t>
            </a:r>
            <a:endParaRPr lang="en-US" sz="2200" dirty="0"/>
          </a:p>
        </p:txBody>
      </p:sp>
      <p:sp>
        <p:nvSpPr>
          <p:cNvPr id="12" name="Text 10"/>
          <p:cNvSpPr/>
          <p:nvPr/>
        </p:nvSpPr>
        <p:spPr>
          <a:xfrm>
            <a:off x="1028224" y="5931098"/>
            <a:ext cx="5939076"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Complex programs become manageable by dividing them into smaller, testable functions. You can debug each part independently before assembling the whole.</a:t>
            </a:r>
            <a:endParaRPr lang="en-US" sz="1750" dirty="0"/>
          </a:p>
        </p:txBody>
      </p:sp>
      <p:sp>
        <p:nvSpPr>
          <p:cNvPr id="13" name="Shape 11"/>
          <p:cNvSpPr/>
          <p:nvPr/>
        </p:nvSpPr>
        <p:spPr>
          <a:xfrm>
            <a:off x="7428548" y="5206246"/>
            <a:ext cx="6408063" cy="1979771"/>
          </a:xfrm>
          <a:prstGeom prst="roundRect">
            <a:avLst>
              <a:gd name="adj" fmla="val 27497"/>
            </a:avLst>
          </a:prstGeom>
          <a:solidFill>
            <a:srgbClr val="D9EDF2"/>
          </a:solidFill>
          <a:ln w="7620">
            <a:solidFill>
              <a:srgbClr val="BFD3D8"/>
            </a:solidFill>
            <a:prstDash val="solid"/>
          </a:ln>
        </p:spPr>
      </p:sp>
      <p:sp>
        <p:nvSpPr>
          <p:cNvPr id="14" name="Text 12"/>
          <p:cNvSpPr/>
          <p:nvPr/>
        </p:nvSpPr>
        <p:spPr>
          <a:xfrm>
            <a:off x="7662982" y="54406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Code Reusability</a:t>
            </a:r>
            <a:endParaRPr lang="en-US" sz="2200" dirty="0"/>
          </a:p>
        </p:txBody>
      </p:sp>
      <p:sp>
        <p:nvSpPr>
          <p:cNvPr id="15" name="Text 13"/>
          <p:cNvSpPr/>
          <p:nvPr/>
        </p:nvSpPr>
        <p:spPr>
          <a:xfrm>
            <a:off x="7662982" y="5931098"/>
            <a:ext cx="5939195"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Well-designed functions are like building blocks. Once written and debugged, they can be reused across many different programs, boosting productivity.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2026-01-15T05:18:27Z</dcterms:created>
  <dcterms:modified xsi:type="dcterms:W3CDTF">2026-01-15T05:18:27Z</dcterms:modified>
</cp:coreProperties>
</file>