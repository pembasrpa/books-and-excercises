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Host Grotesk Medium"/>
      <p:regular r:id="rId22"/>
    </p:embeddedFont>
    <p:embeddedFont>
      <p:font typeface="Host Grotesk Medium"/>
      <p:regular r:id="rId23"/>
    </p:embeddedFont>
    <p:embeddedFont>
      <p:font typeface="Host Grotesk Medium"/>
      <p:regular r:id="rId24"/>
    </p:embeddedFont>
    <p:embeddedFont>
      <p:font typeface="Host Grotesk Medium"/>
      <p:regular r:id="rId25"/>
    </p:embeddedFont>
    <p:embeddedFont>
      <p:font typeface="Roboto"/>
      <p:regular r:id="rId26"/>
    </p:embeddedFont>
    <p:embeddedFont>
      <p:font typeface="Roboto"/>
      <p:regular r:id="rId27"/>
    </p:embeddedFont>
    <p:embeddedFont>
      <p:font typeface="Roboto"/>
      <p:regular r:id="rId28"/>
    </p:embeddedFont>
    <p:embeddedFont>
      <p:font typeface="Roboto"/>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slideLayout" Target="../slideLayouts/slideLayout1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6.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93375"/>
            <a:ext cx="10828734"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Text Analysis and Generation with Python</a:t>
            </a:r>
            <a:endParaRPr lang="en-US" sz="4450" dirty="0"/>
          </a:p>
        </p:txBody>
      </p:sp>
      <p:sp>
        <p:nvSpPr>
          <p:cNvPr id="3" name="Text 1"/>
          <p:cNvSpPr/>
          <p:nvPr/>
        </p:nvSpPr>
        <p:spPr>
          <a:xfrm>
            <a:off x="793790" y="4355783"/>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Explore the fascinating world of text analysis and Markov generation using Python's core data structures. This chapter dives into the statistical relationships between words in a document, laying the groundwork for understanding language models.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7879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CHAPTER 12</a:t>
            </a:r>
            <a:endParaRPr lang="en-US" sz="2200" dirty="0"/>
          </a:p>
        </p:txBody>
      </p:sp>
      <p:sp>
        <p:nvSpPr>
          <p:cNvPr id="3" name="Text 1"/>
          <p:cNvSpPr/>
          <p:nvPr/>
        </p:nvSpPr>
        <p:spPr>
          <a:xfrm>
            <a:off x="793790" y="2473285"/>
            <a:ext cx="11762661" cy="1417677"/>
          </a:xfrm>
          <a:prstGeom prst="rect">
            <a:avLst/>
          </a:prstGeom>
          <a:noFill/>
          <a:ln/>
        </p:spPr>
        <p:txBody>
          <a:bodyPr wrap="none" lIns="0" tIns="0" rIns="0" bIns="0" rtlCol="0" anchor="t"/>
          <a:lstStyle/>
          <a:p>
            <a:pPr algn="l" indent="0" marL="0">
              <a:lnSpc>
                <a:spcPts val="11150"/>
              </a:lnSpc>
              <a:buNone/>
            </a:pPr>
            <a:r>
              <a:rPr lang="en-US" sz="8900" dirty="0">
                <a:solidFill>
                  <a:srgbClr val="2E3C4E"/>
                </a:solidFill>
                <a:latin typeface="Host Grotesk Medium" pitchFamily="34" charset="0"/>
                <a:ea typeface="Host Grotesk Medium" pitchFamily="34" charset="-122"/>
                <a:cs typeface="Host Grotesk Medium" pitchFamily="34" charset="-120"/>
              </a:rPr>
              <a:t>Unveiling Text Patterns</a:t>
            </a:r>
            <a:endParaRPr lang="en-US" sz="8900" dirty="0"/>
          </a:p>
        </p:txBody>
      </p:sp>
      <p:sp>
        <p:nvSpPr>
          <p:cNvPr id="4" name="Shape 2"/>
          <p:cNvSpPr/>
          <p:nvPr/>
        </p:nvSpPr>
        <p:spPr>
          <a:xfrm>
            <a:off x="793790" y="4231124"/>
            <a:ext cx="510302" cy="510302"/>
          </a:xfrm>
          <a:prstGeom prst="roundRect">
            <a:avLst>
              <a:gd name="adj" fmla="val 18669"/>
            </a:avLst>
          </a:prstGeom>
          <a:solidFill>
            <a:srgbClr val="D9EDF2"/>
          </a:solidFill>
          <a:ln w="7620">
            <a:solidFill>
              <a:srgbClr val="BFD3D8"/>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8860" y="4316135"/>
            <a:ext cx="340162" cy="340162"/>
          </a:xfrm>
          <a:prstGeom prst="rect">
            <a:avLst/>
          </a:prstGeom>
        </p:spPr>
      </p:pic>
      <p:sp>
        <p:nvSpPr>
          <p:cNvPr id="6" name="Text 3"/>
          <p:cNvSpPr/>
          <p:nvPr/>
        </p:nvSpPr>
        <p:spPr>
          <a:xfrm>
            <a:off x="1530906" y="427362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Text Analysis</a:t>
            </a:r>
            <a:endParaRPr lang="en-US" sz="2650" dirty="0"/>
          </a:p>
        </p:txBody>
      </p:sp>
      <p:sp>
        <p:nvSpPr>
          <p:cNvPr id="7" name="Text 4"/>
          <p:cNvSpPr/>
          <p:nvPr/>
        </p:nvSpPr>
        <p:spPr>
          <a:xfrm>
            <a:off x="1530906" y="4835009"/>
            <a:ext cx="564249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Describing statistical relationships between words, like the probability of one word following another.</a:t>
            </a:r>
            <a:endParaRPr lang="en-US" sz="1750" dirty="0"/>
          </a:p>
        </p:txBody>
      </p:sp>
      <p:sp>
        <p:nvSpPr>
          <p:cNvPr id="8" name="Shape 5"/>
          <p:cNvSpPr/>
          <p:nvPr/>
        </p:nvSpPr>
        <p:spPr>
          <a:xfrm>
            <a:off x="7456884" y="4231124"/>
            <a:ext cx="510302" cy="510302"/>
          </a:xfrm>
          <a:prstGeom prst="roundRect">
            <a:avLst>
              <a:gd name="adj" fmla="val 18669"/>
            </a:avLst>
          </a:prstGeom>
          <a:solidFill>
            <a:srgbClr val="D9EDF2"/>
          </a:solidFill>
          <a:ln w="7620">
            <a:solidFill>
              <a:srgbClr val="BFD3D8"/>
            </a:solidFill>
            <a:prstDash val="solid"/>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1955" y="4316135"/>
            <a:ext cx="340162" cy="340162"/>
          </a:xfrm>
          <a:prstGeom prst="rect">
            <a:avLst/>
          </a:prstGeom>
        </p:spPr>
      </p:pic>
      <p:sp>
        <p:nvSpPr>
          <p:cNvPr id="10" name="Text 6"/>
          <p:cNvSpPr/>
          <p:nvPr/>
        </p:nvSpPr>
        <p:spPr>
          <a:xfrm>
            <a:off x="8194000" y="427362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Markov Generation</a:t>
            </a:r>
            <a:endParaRPr lang="en-US" sz="2650" dirty="0"/>
          </a:p>
        </p:txBody>
      </p:sp>
      <p:sp>
        <p:nvSpPr>
          <p:cNvPr id="11" name="Text 7"/>
          <p:cNvSpPr/>
          <p:nvPr/>
        </p:nvSpPr>
        <p:spPr>
          <a:xfrm>
            <a:off x="8194000" y="4835009"/>
            <a:ext cx="5642610"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Generating new text that mimics the word and phrase patterns of original content.</a:t>
            </a:r>
            <a:endParaRPr lang="en-US" sz="1750" dirty="0"/>
          </a:p>
        </p:txBody>
      </p:sp>
      <p:sp>
        <p:nvSpPr>
          <p:cNvPr id="12" name="Text 8"/>
          <p:cNvSpPr/>
          <p:nvPr/>
        </p:nvSpPr>
        <p:spPr>
          <a:xfrm>
            <a:off x="793790" y="5770483"/>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These algorithms form the fundamental building blocks of large language models (LLMs), the technology behind modern chatbots.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31915" y="694015"/>
            <a:ext cx="6596658" cy="496610"/>
          </a:xfrm>
          <a:prstGeom prst="rect">
            <a:avLst/>
          </a:prstGeom>
          <a:noFill/>
          <a:ln/>
        </p:spPr>
        <p:txBody>
          <a:bodyPr wrap="none" lIns="0" tIns="0" rIns="0" bIns="0" rtlCol="0" anchor="t"/>
          <a:lstStyle/>
          <a:p>
            <a:pPr algn="l" indent="0" marL="0">
              <a:lnSpc>
                <a:spcPts val="3900"/>
              </a:lnSpc>
              <a:buNone/>
            </a:pPr>
            <a:r>
              <a:rPr lang="en-US" sz="3100" dirty="0">
                <a:solidFill>
                  <a:srgbClr val="2E3C4E"/>
                </a:solidFill>
                <a:latin typeface="Host Grotesk Medium" pitchFamily="34" charset="0"/>
                <a:ea typeface="Host Grotesk Medium" pitchFamily="34" charset="-122"/>
                <a:cs typeface="Host Grotesk Medium" pitchFamily="34" charset="-120"/>
              </a:rPr>
              <a:t>Counting Unique Words: A First Step</a:t>
            </a:r>
            <a:endParaRPr lang="en-US" sz="3100" dirty="0"/>
          </a:p>
        </p:txBody>
      </p:sp>
      <p:sp>
        <p:nvSpPr>
          <p:cNvPr id="3" name="Text 1"/>
          <p:cNvSpPr/>
          <p:nvPr/>
        </p:nvSpPr>
        <p:spPr>
          <a:xfrm>
            <a:off x="1031915" y="1587937"/>
            <a:ext cx="12566571" cy="298013"/>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Our journey into text analysis begins by counting the unique words in Robert Louis Stevenson's "The Strange Case of Dr. Jekyll and Mr. Hyde."</a:t>
            </a:r>
            <a:endParaRPr lang="en-US" sz="1550" dirty="0"/>
          </a:p>
        </p:txBody>
      </p:sp>
      <p:sp>
        <p:nvSpPr>
          <p:cNvPr id="4" name="Shape 2"/>
          <p:cNvSpPr/>
          <p:nvPr/>
        </p:nvSpPr>
        <p:spPr>
          <a:xfrm>
            <a:off x="7303770" y="2109430"/>
            <a:ext cx="22860" cy="4904542"/>
          </a:xfrm>
          <a:prstGeom prst="roundRect">
            <a:avLst>
              <a:gd name="adj" fmla="val 365031"/>
            </a:avLst>
          </a:prstGeom>
          <a:solidFill>
            <a:srgbClr val="BFD3D8"/>
          </a:solidFill>
          <a:ln/>
        </p:spPr>
      </p:sp>
      <p:sp>
        <p:nvSpPr>
          <p:cNvPr id="5" name="Shape 3"/>
          <p:cNvSpPr/>
          <p:nvPr/>
        </p:nvSpPr>
        <p:spPr>
          <a:xfrm>
            <a:off x="6940748" y="2321481"/>
            <a:ext cx="397312" cy="22860"/>
          </a:xfrm>
          <a:prstGeom prst="roundRect">
            <a:avLst>
              <a:gd name="adj" fmla="val 365031"/>
            </a:avLst>
          </a:prstGeom>
          <a:solidFill>
            <a:srgbClr val="BFD3D8"/>
          </a:solidFill>
          <a:ln/>
        </p:spPr>
      </p:sp>
      <p:pic>
        <p:nvPicPr>
          <p:cNvPr id="6" name="Image 0" descr="preencoded.png">    </p:cNvPr>
          <p:cNvPicPr>
            <a:picLocks noChangeAspect="1"/>
          </p:cNvPicPr>
          <p:nvPr/>
        </p:nvPicPr>
        <p:blipFill>
          <a:blip r:embed="rId1"/>
          <a:stretch>
            <a:fillRect/>
          </a:stretch>
        </p:blipFill>
        <p:spPr>
          <a:xfrm>
            <a:off x="7240726" y="2258437"/>
            <a:ext cx="148947" cy="148947"/>
          </a:xfrm>
          <a:prstGeom prst="rect">
            <a:avLst/>
          </a:prstGeom>
        </p:spPr>
      </p:pic>
      <p:sp>
        <p:nvSpPr>
          <p:cNvPr id="7" name="Text 4"/>
          <p:cNvSpPr/>
          <p:nvPr/>
        </p:nvSpPr>
        <p:spPr>
          <a:xfrm>
            <a:off x="4037171" y="2177653"/>
            <a:ext cx="2483406" cy="310396"/>
          </a:xfrm>
          <a:prstGeom prst="rect">
            <a:avLst/>
          </a:prstGeom>
          <a:noFill/>
          <a:ln/>
        </p:spPr>
        <p:txBody>
          <a:bodyPr wrap="none" lIns="0" tIns="0" rIns="0" bIns="0" rtlCol="0" anchor="t"/>
          <a:lstStyle/>
          <a:p>
            <a:pPr algn="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Read the File</a:t>
            </a:r>
            <a:endParaRPr lang="en-US" sz="1950" dirty="0"/>
          </a:p>
        </p:txBody>
      </p:sp>
      <p:sp>
        <p:nvSpPr>
          <p:cNvPr id="8" name="Text 5"/>
          <p:cNvSpPr/>
          <p:nvPr/>
        </p:nvSpPr>
        <p:spPr>
          <a:xfrm>
            <a:off x="1031915" y="2607231"/>
            <a:ext cx="5488662" cy="298013"/>
          </a:xfrm>
          <a:prstGeom prst="rect">
            <a:avLst/>
          </a:prstGeom>
          <a:noFill/>
          <a:ln/>
        </p:spPr>
        <p:txBody>
          <a:bodyPr wrap="none" lIns="0" tIns="0" rIns="0" bIns="0" rtlCol="0" anchor="t"/>
          <a:lstStyle/>
          <a:p>
            <a:pPr algn="r" indent="0" marL="0">
              <a:lnSpc>
                <a:spcPts val="2300"/>
              </a:lnSpc>
              <a:buNone/>
            </a:pPr>
            <a:r>
              <a:rPr lang="en-US" sz="1550" dirty="0">
                <a:solidFill>
                  <a:srgbClr val="384653"/>
                </a:solidFill>
                <a:latin typeface="Roboto" pitchFamily="34" charset="0"/>
                <a:ea typeface="Roboto" pitchFamily="34" charset="-122"/>
                <a:cs typeface="Roboto" pitchFamily="34" charset="-120"/>
              </a:rPr>
              <a:t>Open 'dr_jekyll.txt' line by line.</a:t>
            </a:r>
            <a:endParaRPr lang="en-US" sz="1550" dirty="0"/>
          </a:p>
        </p:txBody>
      </p:sp>
      <p:sp>
        <p:nvSpPr>
          <p:cNvPr id="9" name="Shape 6"/>
          <p:cNvSpPr/>
          <p:nvPr/>
        </p:nvSpPr>
        <p:spPr>
          <a:xfrm>
            <a:off x="7292340" y="3513415"/>
            <a:ext cx="397312" cy="22860"/>
          </a:xfrm>
          <a:prstGeom prst="roundRect">
            <a:avLst>
              <a:gd name="adj" fmla="val 365031"/>
            </a:avLst>
          </a:prstGeom>
          <a:solidFill>
            <a:srgbClr val="BFD3D8"/>
          </a:solidFill>
          <a:ln/>
        </p:spPr>
      </p:sp>
      <p:pic>
        <p:nvPicPr>
          <p:cNvPr id="10" name="Image 1" descr="preencoded.png">    </p:cNvPr>
          <p:cNvPicPr>
            <a:picLocks noChangeAspect="1"/>
          </p:cNvPicPr>
          <p:nvPr/>
        </p:nvPicPr>
        <p:blipFill>
          <a:blip r:embed="rId2"/>
          <a:stretch>
            <a:fillRect/>
          </a:stretch>
        </p:blipFill>
        <p:spPr>
          <a:xfrm>
            <a:off x="7240726" y="3450372"/>
            <a:ext cx="148947" cy="148947"/>
          </a:xfrm>
          <a:prstGeom prst="rect">
            <a:avLst/>
          </a:prstGeom>
        </p:spPr>
      </p:pic>
      <p:sp>
        <p:nvSpPr>
          <p:cNvPr id="11" name="Text 7"/>
          <p:cNvSpPr/>
          <p:nvPr/>
        </p:nvSpPr>
        <p:spPr>
          <a:xfrm>
            <a:off x="8109823" y="3369588"/>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Split into Words</a:t>
            </a:r>
            <a:endParaRPr lang="en-US" sz="1950" dirty="0"/>
          </a:p>
        </p:txBody>
      </p:sp>
      <p:sp>
        <p:nvSpPr>
          <p:cNvPr id="12" name="Text 8"/>
          <p:cNvSpPr/>
          <p:nvPr/>
        </p:nvSpPr>
        <p:spPr>
          <a:xfrm>
            <a:off x="8109823" y="3799165"/>
            <a:ext cx="5488662" cy="305633"/>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Use </a:t>
            </a:r>
            <a:pPr algn="l" indent="0" marL="0">
              <a:lnSpc>
                <a:spcPts val="230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line.split()</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to break each line into individual words.</a:t>
            </a:r>
            <a:endParaRPr lang="en-US" sz="1550" dirty="0"/>
          </a:p>
        </p:txBody>
      </p:sp>
      <p:sp>
        <p:nvSpPr>
          <p:cNvPr id="13" name="Shape 9"/>
          <p:cNvSpPr/>
          <p:nvPr/>
        </p:nvSpPr>
        <p:spPr>
          <a:xfrm>
            <a:off x="6940748" y="4540806"/>
            <a:ext cx="397312" cy="22860"/>
          </a:xfrm>
          <a:prstGeom prst="roundRect">
            <a:avLst>
              <a:gd name="adj" fmla="val 365031"/>
            </a:avLst>
          </a:prstGeom>
          <a:solidFill>
            <a:srgbClr val="BFD3D8"/>
          </a:solidFill>
          <a:ln/>
        </p:spPr>
      </p:sp>
      <p:pic>
        <p:nvPicPr>
          <p:cNvPr id="14" name="Image 2" descr="preencoded.png">    </p:cNvPr>
          <p:cNvPicPr>
            <a:picLocks noChangeAspect="1"/>
          </p:cNvPicPr>
          <p:nvPr/>
        </p:nvPicPr>
        <p:blipFill>
          <a:blip r:embed="rId3"/>
          <a:stretch>
            <a:fillRect/>
          </a:stretch>
        </p:blipFill>
        <p:spPr>
          <a:xfrm>
            <a:off x="7240726" y="4477762"/>
            <a:ext cx="148947" cy="148947"/>
          </a:xfrm>
          <a:prstGeom prst="rect">
            <a:avLst/>
          </a:prstGeom>
        </p:spPr>
      </p:pic>
      <p:sp>
        <p:nvSpPr>
          <p:cNvPr id="15" name="Text 10"/>
          <p:cNvSpPr/>
          <p:nvPr/>
        </p:nvSpPr>
        <p:spPr>
          <a:xfrm>
            <a:off x="4037171" y="4396978"/>
            <a:ext cx="2483406" cy="310396"/>
          </a:xfrm>
          <a:prstGeom prst="rect">
            <a:avLst/>
          </a:prstGeom>
          <a:noFill/>
          <a:ln/>
        </p:spPr>
        <p:txBody>
          <a:bodyPr wrap="none" lIns="0" tIns="0" rIns="0" bIns="0" rtlCol="0" anchor="t"/>
          <a:lstStyle/>
          <a:p>
            <a:pPr algn="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Store Unique Words</a:t>
            </a:r>
            <a:endParaRPr lang="en-US" sz="1950" dirty="0"/>
          </a:p>
        </p:txBody>
      </p:sp>
      <p:sp>
        <p:nvSpPr>
          <p:cNvPr id="16" name="Text 11"/>
          <p:cNvSpPr/>
          <p:nvPr/>
        </p:nvSpPr>
        <p:spPr>
          <a:xfrm>
            <a:off x="1031915" y="4826556"/>
            <a:ext cx="5488662" cy="603647"/>
          </a:xfrm>
          <a:prstGeom prst="rect">
            <a:avLst/>
          </a:prstGeom>
          <a:noFill/>
          <a:ln/>
        </p:spPr>
        <p:txBody>
          <a:bodyPr wrap="square" lIns="0" tIns="0" rIns="0" bIns="0" rtlCol="0" anchor="t"/>
          <a:lstStyle/>
          <a:p>
            <a:pPr algn="r" indent="0" marL="0">
              <a:lnSpc>
                <a:spcPts val="2300"/>
              </a:lnSpc>
              <a:buNone/>
            </a:pPr>
            <a:r>
              <a:rPr lang="en-US" sz="1550" dirty="0">
                <a:solidFill>
                  <a:srgbClr val="384653"/>
                </a:solidFill>
                <a:latin typeface="Roboto" pitchFamily="34" charset="0"/>
                <a:ea typeface="Roboto" pitchFamily="34" charset="-122"/>
                <a:cs typeface="Roboto" pitchFamily="34" charset="-120"/>
              </a:rPr>
              <a:t>Add each unique word as a key in a dictionary (e.g., </a:t>
            </a:r>
            <a:pPr algn="r" indent="0" marL="0">
              <a:lnSpc>
                <a:spcPts val="230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unique_words[word] = 1</a:t>
            </a:r>
            <a:pPr algn="r" indent="0" marL="0">
              <a:lnSpc>
                <a:spcPts val="2300"/>
              </a:lnSpc>
              <a:buNone/>
            </a:pPr>
            <a:r>
              <a:rPr lang="en-US" sz="1550" dirty="0">
                <a:solidFill>
                  <a:srgbClr val="384653"/>
                </a:solidFill>
                <a:latin typeface="Roboto" pitchFamily="34" charset="0"/>
                <a:ea typeface="Roboto" pitchFamily="34" charset="-122"/>
                <a:cs typeface="Roboto" pitchFamily="34" charset="-120"/>
              </a:rPr>
              <a:t>).</a:t>
            </a:r>
            <a:endParaRPr lang="en-US" sz="1550" dirty="0"/>
          </a:p>
        </p:txBody>
      </p:sp>
      <p:sp>
        <p:nvSpPr>
          <p:cNvPr id="17" name="Shape 12"/>
          <p:cNvSpPr/>
          <p:nvPr/>
        </p:nvSpPr>
        <p:spPr>
          <a:xfrm>
            <a:off x="7292340" y="5568315"/>
            <a:ext cx="397312" cy="22860"/>
          </a:xfrm>
          <a:prstGeom prst="roundRect">
            <a:avLst>
              <a:gd name="adj" fmla="val 365031"/>
            </a:avLst>
          </a:prstGeom>
          <a:solidFill>
            <a:srgbClr val="BFD3D8"/>
          </a:solidFill>
          <a:ln/>
        </p:spPr>
      </p:sp>
      <p:pic>
        <p:nvPicPr>
          <p:cNvPr id="18" name="Image 3" descr="preencoded.png">    </p:cNvPr>
          <p:cNvPicPr>
            <a:picLocks noChangeAspect="1"/>
          </p:cNvPicPr>
          <p:nvPr/>
        </p:nvPicPr>
        <p:blipFill>
          <a:blip r:embed="rId4"/>
          <a:stretch>
            <a:fillRect/>
          </a:stretch>
        </p:blipFill>
        <p:spPr>
          <a:xfrm>
            <a:off x="7240726" y="5505271"/>
            <a:ext cx="148947" cy="148947"/>
          </a:xfrm>
          <a:prstGeom prst="rect">
            <a:avLst/>
          </a:prstGeom>
        </p:spPr>
      </p:pic>
      <p:sp>
        <p:nvSpPr>
          <p:cNvPr id="19" name="Text 13"/>
          <p:cNvSpPr/>
          <p:nvPr/>
        </p:nvSpPr>
        <p:spPr>
          <a:xfrm>
            <a:off x="8109823" y="5424488"/>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Count</a:t>
            </a:r>
            <a:endParaRPr lang="en-US" sz="1950" dirty="0"/>
          </a:p>
        </p:txBody>
      </p:sp>
      <p:sp>
        <p:nvSpPr>
          <p:cNvPr id="20" name="Text 14"/>
          <p:cNvSpPr/>
          <p:nvPr/>
        </p:nvSpPr>
        <p:spPr>
          <a:xfrm>
            <a:off x="8109823" y="5854065"/>
            <a:ext cx="5488662" cy="596027"/>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The length of the dictionary reveals the total number of unique words.</a:t>
            </a:r>
            <a:endParaRPr lang="en-US" sz="1550" dirty="0"/>
          </a:p>
        </p:txBody>
      </p:sp>
      <p:sp>
        <p:nvSpPr>
          <p:cNvPr id="21" name="Text 15"/>
          <p:cNvSpPr/>
          <p:nvPr/>
        </p:nvSpPr>
        <p:spPr>
          <a:xfrm>
            <a:off x="1031915" y="7237452"/>
            <a:ext cx="12566571" cy="298013"/>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Initial count for "Dr. Jekyll and Mr. Hyde": approximately 6040 unique words.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71657"/>
            <a:ext cx="9425821"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The Challenge of Punctuation and Formatting</a:t>
            </a:r>
            <a:endParaRPr lang="en-US" sz="3550" dirty="0"/>
          </a:p>
        </p:txBody>
      </p:sp>
      <p:sp>
        <p:nvSpPr>
          <p:cNvPr id="3" name="Text 1"/>
          <p:cNvSpPr/>
          <p:nvPr/>
        </p:nvSpPr>
        <p:spPr>
          <a:xfrm>
            <a:off x="793790" y="1892260"/>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 raw word count often includes invalid entries due to punctuation and formatting.</a:t>
            </a:r>
            <a:endParaRPr lang="en-US" sz="1750" dirty="0"/>
          </a:p>
        </p:txBody>
      </p:sp>
      <p:sp>
        <p:nvSpPr>
          <p:cNvPr id="4" name="Text 2"/>
          <p:cNvSpPr/>
          <p:nvPr/>
        </p:nvSpPr>
        <p:spPr>
          <a:xfrm>
            <a:off x="793790" y="271438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Raw Longest Words</a:t>
            </a:r>
            <a:endParaRPr lang="en-US" sz="2200" dirty="0"/>
          </a:p>
        </p:txBody>
      </p:sp>
      <p:sp>
        <p:nvSpPr>
          <p:cNvPr id="5" name="Text 3"/>
          <p:cNvSpPr/>
          <p:nvPr/>
        </p:nvSpPr>
        <p:spPr>
          <a:xfrm>
            <a:off x="793790" y="3295531"/>
            <a:ext cx="6244709" cy="347782"/>
          </a:xfrm>
          <a:prstGeom prst="rect">
            <a:avLst/>
          </a:prstGeom>
          <a:noFill/>
          <a:ln/>
        </p:spPr>
        <p:txBody>
          <a:bodyPr wrap="non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'chocolate-coloured'</a:t>
            </a:r>
            <a:endParaRPr lang="en-US" sz="1750" dirty="0"/>
          </a:p>
        </p:txBody>
      </p:sp>
      <p:sp>
        <p:nvSpPr>
          <p:cNvPr id="6" name="Text 4"/>
          <p:cNvSpPr/>
          <p:nvPr/>
        </p:nvSpPr>
        <p:spPr>
          <a:xfrm>
            <a:off x="793790" y="3722608"/>
            <a:ext cx="6244709" cy="347782"/>
          </a:xfrm>
          <a:prstGeom prst="rect">
            <a:avLst/>
          </a:prstGeom>
          <a:noFill/>
          <a:ln/>
        </p:spPr>
        <p:txBody>
          <a:bodyPr wrap="non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'superiors—behold!”'</a:t>
            </a:r>
            <a:endParaRPr lang="en-US" sz="1750" dirty="0"/>
          </a:p>
        </p:txBody>
      </p:sp>
      <p:sp>
        <p:nvSpPr>
          <p:cNvPr id="7" name="Text 5"/>
          <p:cNvSpPr/>
          <p:nvPr/>
        </p:nvSpPr>
        <p:spPr>
          <a:xfrm>
            <a:off x="793790" y="4149685"/>
            <a:ext cx="6244709" cy="347782"/>
          </a:xfrm>
          <a:prstGeom prst="rect">
            <a:avLst/>
          </a:prstGeom>
          <a:noFill/>
          <a:ln/>
        </p:spPr>
        <p:txBody>
          <a:bodyPr wrap="non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'coolness—frightened'</a:t>
            </a:r>
            <a:endParaRPr lang="en-US" sz="1750" dirty="0"/>
          </a:p>
        </p:txBody>
      </p:sp>
      <p:sp>
        <p:nvSpPr>
          <p:cNvPr id="8" name="Text 6"/>
          <p:cNvSpPr/>
          <p:nvPr/>
        </p:nvSpPr>
        <p:spPr>
          <a:xfrm>
            <a:off x="793790" y="4576762"/>
            <a:ext cx="6244709" cy="347782"/>
          </a:xfrm>
          <a:prstGeom prst="rect">
            <a:avLst/>
          </a:prstGeom>
          <a:noFill/>
          <a:ln/>
        </p:spPr>
        <p:txBody>
          <a:bodyPr wrap="non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'gentleman—something'</a:t>
            </a:r>
            <a:endParaRPr lang="en-US" sz="1750" dirty="0"/>
          </a:p>
        </p:txBody>
      </p:sp>
      <p:sp>
        <p:nvSpPr>
          <p:cNvPr id="9" name="Text 7"/>
          <p:cNvSpPr/>
          <p:nvPr/>
        </p:nvSpPr>
        <p:spPr>
          <a:xfrm>
            <a:off x="793790" y="5003840"/>
            <a:ext cx="6244709" cy="347782"/>
          </a:xfrm>
          <a:prstGeom prst="rect">
            <a:avLst/>
          </a:prstGeom>
          <a:noFill/>
          <a:ln/>
        </p:spPr>
        <p:txBody>
          <a:bodyPr wrap="none" lIns="0" tIns="0" rIns="0" bIns="0" rtlCol="0" anchor="t"/>
          <a:lstStyle/>
          <a:p>
            <a:pPr algn="l" marL="342900" indent="-342900">
              <a:lnSpc>
                <a:spcPts val="2650"/>
              </a:lnSpc>
              <a:buSzPct val="100000"/>
              <a:buChar char="•"/>
            </a:pPr>
            <a:r>
              <a:rPr lang="en-US" sz="1750" dirty="0">
                <a:solidFill>
                  <a:srgbClr val="384653"/>
                </a:solidFill>
                <a:highlight>
                  <a:srgbClr val="EDECE8"/>
                </a:highlight>
                <a:latin typeface="Consolas" pitchFamily="34" charset="0"/>
                <a:ea typeface="Consolas" pitchFamily="34" charset="-122"/>
                <a:cs typeface="Consolas" pitchFamily="34" charset="-120"/>
              </a:rPr>
              <a:t>'pocket-handkerchief.'</a:t>
            </a:r>
            <a:endParaRPr lang="en-US" sz="1750" dirty="0"/>
          </a:p>
        </p:txBody>
      </p:sp>
      <p:sp>
        <p:nvSpPr>
          <p:cNvPr id="10" name="Text 8"/>
          <p:cNvSpPr/>
          <p:nvPr/>
        </p:nvSpPr>
        <p:spPr>
          <a:xfrm>
            <a:off x="793790" y="5555694"/>
            <a:ext cx="6244709"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These examples highlight the need for cleaning: hyphenated words, words with dashes, and words ending with punctuation.</a:t>
            </a:r>
            <a:endParaRPr lang="en-US" sz="1750" dirty="0"/>
          </a:p>
        </p:txBody>
      </p:sp>
      <p:sp>
        <p:nvSpPr>
          <p:cNvPr id="11" name="Text 9"/>
          <p:cNvSpPr/>
          <p:nvPr/>
        </p:nvSpPr>
        <p:spPr>
          <a:xfrm>
            <a:off x="7599521" y="271438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Issues Identified</a:t>
            </a:r>
            <a:endParaRPr lang="en-US" sz="2200" dirty="0"/>
          </a:p>
        </p:txBody>
      </p:sp>
      <p:sp>
        <p:nvSpPr>
          <p:cNvPr id="12" name="Shape 10"/>
          <p:cNvSpPr/>
          <p:nvPr/>
        </p:nvSpPr>
        <p:spPr>
          <a:xfrm>
            <a:off x="7599521" y="3323868"/>
            <a:ext cx="6244709" cy="1776055"/>
          </a:xfrm>
          <a:prstGeom prst="roundRect">
            <a:avLst>
              <a:gd name="adj" fmla="val 8238"/>
            </a:avLst>
          </a:prstGeom>
          <a:solidFill>
            <a:srgbClr val="FAF9F5"/>
          </a:solidFill>
          <a:ln w="30480">
            <a:solidFill>
              <a:srgbClr val="BFD3D8"/>
            </a:solidFill>
            <a:prstDash val="solid"/>
          </a:ln>
        </p:spPr>
      </p:sp>
      <p:pic>
        <p:nvPicPr>
          <p:cNvPr id="13" name="Image 0" descr="preencoded.png">    </p:cNvPr>
          <p:cNvPicPr>
            <a:picLocks noChangeAspect="1"/>
          </p:cNvPicPr>
          <p:nvPr/>
        </p:nvPicPr>
        <p:blipFill>
          <a:blip r:embed="rId1"/>
          <a:stretch>
            <a:fillRect/>
          </a:stretch>
        </p:blipFill>
        <p:spPr>
          <a:xfrm>
            <a:off x="7569041" y="3323868"/>
            <a:ext cx="121920" cy="1776055"/>
          </a:xfrm>
          <a:prstGeom prst="rect">
            <a:avLst/>
          </a:prstGeom>
        </p:spPr>
      </p:pic>
      <p:sp>
        <p:nvSpPr>
          <p:cNvPr id="14" name="Text 11"/>
          <p:cNvSpPr/>
          <p:nvPr/>
        </p:nvSpPr>
        <p:spPr>
          <a:xfrm>
            <a:off x="7948255" y="358116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Dashes</a:t>
            </a:r>
            <a:endParaRPr lang="en-US" sz="2200" dirty="0"/>
          </a:p>
        </p:txBody>
      </p:sp>
      <p:sp>
        <p:nvSpPr>
          <p:cNvPr id="15" name="Text 12"/>
          <p:cNvSpPr/>
          <p:nvPr/>
        </p:nvSpPr>
        <p:spPr>
          <a:xfrm>
            <a:off x="7948255" y="4162306"/>
            <a:ext cx="563868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Separating words inappropriately (e.g., "coolness—frightened").</a:t>
            </a:r>
            <a:endParaRPr lang="en-US" sz="1750" dirty="0"/>
          </a:p>
        </p:txBody>
      </p:sp>
      <p:sp>
        <p:nvSpPr>
          <p:cNvPr id="16" name="Shape 13"/>
          <p:cNvSpPr/>
          <p:nvPr/>
        </p:nvSpPr>
        <p:spPr>
          <a:xfrm>
            <a:off x="7599521" y="5326737"/>
            <a:ext cx="6244709" cy="1776055"/>
          </a:xfrm>
          <a:prstGeom prst="roundRect">
            <a:avLst>
              <a:gd name="adj" fmla="val 8238"/>
            </a:avLst>
          </a:prstGeom>
          <a:solidFill>
            <a:srgbClr val="FAF9F5"/>
          </a:solidFill>
          <a:ln w="30480">
            <a:solidFill>
              <a:srgbClr val="BFD3D8"/>
            </a:solidFill>
            <a:prstDash val="solid"/>
          </a:ln>
        </p:spPr>
      </p:sp>
      <p:pic>
        <p:nvPicPr>
          <p:cNvPr id="17" name="Image 1" descr="preencoded.png">    </p:cNvPr>
          <p:cNvPicPr>
            <a:picLocks noChangeAspect="1"/>
          </p:cNvPicPr>
          <p:nvPr/>
        </p:nvPicPr>
        <p:blipFill>
          <a:blip r:embed="rId2"/>
          <a:stretch>
            <a:fillRect/>
          </a:stretch>
        </p:blipFill>
        <p:spPr>
          <a:xfrm>
            <a:off x="7569041" y="5326737"/>
            <a:ext cx="121920" cy="1776055"/>
          </a:xfrm>
          <a:prstGeom prst="rect">
            <a:avLst/>
          </a:prstGeom>
        </p:spPr>
      </p:pic>
      <p:sp>
        <p:nvSpPr>
          <p:cNvPr id="18" name="Text 14"/>
          <p:cNvSpPr/>
          <p:nvPr/>
        </p:nvSpPr>
        <p:spPr>
          <a:xfrm>
            <a:off x="7948255" y="558403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Punctuation</a:t>
            </a:r>
            <a:endParaRPr lang="en-US" sz="2200" dirty="0"/>
          </a:p>
        </p:txBody>
      </p:sp>
      <p:sp>
        <p:nvSpPr>
          <p:cNvPr id="19" name="Text 15"/>
          <p:cNvSpPr/>
          <p:nvPr/>
        </p:nvSpPr>
        <p:spPr>
          <a:xfrm>
            <a:off x="7948255" y="6165175"/>
            <a:ext cx="563868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Attached to words (e.g., periods, exclamation points, quotes).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14914" y="818674"/>
            <a:ext cx="6852523" cy="482203"/>
          </a:xfrm>
          <a:prstGeom prst="rect">
            <a:avLst/>
          </a:prstGeom>
          <a:noFill/>
          <a:ln/>
        </p:spPr>
        <p:txBody>
          <a:bodyPr wrap="none" lIns="0" tIns="0" rIns="0" bIns="0" rtlCol="0" anchor="t"/>
          <a:lstStyle/>
          <a:p>
            <a:pPr algn="l" indent="0" marL="0">
              <a:lnSpc>
                <a:spcPts val="3750"/>
              </a:lnSpc>
              <a:buNone/>
            </a:pPr>
            <a:r>
              <a:rPr lang="en-US" sz="3000" dirty="0">
                <a:solidFill>
                  <a:srgbClr val="2E3C4E"/>
                </a:solidFill>
                <a:latin typeface="Host Grotesk Medium" pitchFamily="34" charset="0"/>
                <a:ea typeface="Host Grotesk Medium" pitchFamily="34" charset="-122"/>
                <a:cs typeface="Host Grotesk Medium" pitchFamily="34" charset="-120"/>
              </a:rPr>
              <a:t>Cleaning the Text: A Two-Step Process</a:t>
            </a:r>
            <a:endParaRPr lang="en-US" sz="3000" dirty="0"/>
          </a:p>
        </p:txBody>
      </p:sp>
      <p:sp>
        <p:nvSpPr>
          <p:cNvPr id="3" name="Text 1"/>
          <p:cNvSpPr/>
          <p:nvPr/>
        </p:nvSpPr>
        <p:spPr>
          <a:xfrm>
            <a:off x="1214914" y="1686639"/>
            <a:ext cx="12200453" cy="289322"/>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To accurately identify words, we implement a two-step cleaning strategy.</a:t>
            </a:r>
            <a:endParaRPr lang="en-US" sz="1500" dirty="0"/>
          </a:p>
        </p:txBody>
      </p:sp>
      <p:pic>
        <p:nvPicPr>
          <p:cNvPr id="4" name="Image 0" descr="preencoded.png">    </p:cNvPr>
          <p:cNvPicPr>
            <a:picLocks noChangeAspect="1"/>
          </p:cNvPicPr>
          <p:nvPr/>
        </p:nvPicPr>
        <p:blipFill>
          <a:blip r:embed="rId1"/>
          <a:stretch>
            <a:fillRect/>
          </a:stretch>
        </p:blipFill>
        <p:spPr>
          <a:xfrm>
            <a:off x="1214914" y="2771537"/>
            <a:ext cx="3938230" cy="1143000"/>
          </a:xfrm>
          <a:prstGeom prst="rect">
            <a:avLst/>
          </a:prstGeom>
        </p:spPr>
      </p:pic>
      <p:sp>
        <p:nvSpPr>
          <p:cNvPr id="5" name="Text 2"/>
          <p:cNvSpPr/>
          <p:nvPr/>
        </p:nvSpPr>
        <p:spPr>
          <a:xfrm>
            <a:off x="1407795" y="3543062"/>
            <a:ext cx="3552468" cy="723186"/>
          </a:xfrm>
          <a:prstGeom prst="rect">
            <a:avLst/>
          </a:prstGeom>
          <a:noFill/>
          <a:ln/>
        </p:spPr>
        <p:txBody>
          <a:bodyPr wrap="square" lIns="0" tIns="0" rIns="0" bIns="0" rtlCol="0" anchor="t"/>
          <a:lstStyle/>
          <a:p>
            <a:pPr algn="l" indent="0" marL="0">
              <a:lnSpc>
                <a:spcPts val="2800"/>
              </a:lnSpc>
              <a:buNone/>
            </a:pPr>
            <a:r>
              <a:rPr lang="en-US" sz="2250" dirty="0">
                <a:solidFill>
                  <a:srgbClr val="384653"/>
                </a:solidFill>
                <a:latin typeface="Host Grotesk Medium" pitchFamily="34" charset="0"/>
                <a:ea typeface="Host Grotesk Medium" pitchFamily="34" charset="-122"/>
                <a:cs typeface="Host Grotesk Medium" pitchFamily="34" charset="-120"/>
              </a:rPr>
              <a:t>Replace Dashes with Spaces</a:t>
            </a:r>
            <a:endParaRPr lang="en-US" sz="2250" dirty="0"/>
          </a:p>
        </p:txBody>
      </p:sp>
      <p:sp>
        <p:nvSpPr>
          <p:cNvPr id="6" name="Text 3"/>
          <p:cNvSpPr/>
          <p:nvPr/>
        </p:nvSpPr>
        <p:spPr>
          <a:xfrm>
            <a:off x="1407795" y="4381976"/>
            <a:ext cx="3552468" cy="1461849"/>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Use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replace('—', ' ')</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to turn long dashes into spaces, allowing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split()</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to separate words correctly. This ensures hyphenated words are handled as intended, while words joined by dashes are split.</a:t>
            </a:r>
            <a:endParaRPr lang="en-US" sz="1500" dirty="0"/>
          </a:p>
        </p:txBody>
      </p:sp>
      <p:sp>
        <p:nvSpPr>
          <p:cNvPr id="7" name="Shape 4"/>
          <p:cNvSpPr/>
          <p:nvPr/>
        </p:nvSpPr>
        <p:spPr>
          <a:xfrm>
            <a:off x="1407795" y="6060758"/>
            <a:ext cx="3552468" cy="1157288"/>
          </a:xfrm>
          <a:prstGeom prst="roundRect">
            <a:avLst>
              <a:gd name="adj" fmla="val 7000"/>
            </a:avLst>
          </a:prstGeom>
          <a:solidFill>
            <a:srgbClr val="EDECE8"/>
          </a:solidFill>
          <a:ln/>
        </p:spPr>
      </p:sp>
      <p:sp>
        <p:nvSpPr>
          <p:cNvPr id="8" name="Shape 5"/>
          <p:cNvSpPr/>
          <p:nvPr/>
        </p:nvSpPr>
        <p:spPr>
          <a:xfrm>
            <a:off x="1398151" y="6060758"/>
            <a:ext cx="3571756" cy="1157288"/>
          </a:xfrm>
          <a:prstGeom prst="roundRect">
            <a:avLst>
              <a:gd name="adj" fmla="val 2500"/>
            </a:avLst>
          </a:prstGeom>
          <a:solidFill>
            <a:srgbClr val="EDECE8"/>
          </a:solidFill>
          <a:ln/>
        </p:spPr>
      </p:sp>
      <p:sp>
        <p:nvSpPr>
          <p:cNvPr id="9" name="Text 6"/>
          <p:cNvSpPr/>
          <p:nvPr/>
        </p:nvSpPr>
        <p:spPr>
          <a:xfrm>
            <a:off x="1591032" y="6205418"/>
            <a:ext cx="3185993" cy="867966"/>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def split_line(line):
  return line.replace('—', ' ').split()
</a:t>
            </a:r>
            <a:endParaRPr lang="en-US" sz="1500" dirty="0"/>
          </a:p>
        </p:txBody>
      </p:sp>
      <p:pic>
        <p:nvPicPr>
          <p:cNvPr id="10" name="Image 1" descr="preencoded.png">    </p:cNvPr>
          <p:cNvPicPr>
            <a:picLocks noChangeAspect="1"/>
          </p:cNvPicPr>
          <p:nvPr/>
        </p:nvPicPr>
        <p:blipFill>
          <a:blip r:embed="rId2"/>
          <a:stretch>
            <a:fillRect/>
          </a:stretch>
        </p:blipFill>
        <p:spPr>
          <a:xfrm>
            <a:off x="5346025" y="2482215"/>
            <a:ext cx="3938230" cy="1143000"/>
          </a:xfrm>
          <a:prstGeom prst="rect">
            <a:avLst/>
          </a:prstGeom>
        </p:spPr>
      </p:pic>
      <p:sp>
        <p:nvSpPr>
          <p:cNvPr id="11" name="Text 7"/>
          <p:cNvSpPr/>
          <p:nvPr/>
        </p:nvSpPr>
        <p:spPr>
          <a:xfrm>
            <a:off x="5538907" y="3253740"/>
            <a:ext cx="2893338" cy="361593"/>
          </a:xfrm>
          <a:prstGeom prst="rect">
            <a:avLst/>
          </a:prstGeom>
          <a:noFill/>
          <a:ln/>
        </p:spPr>
        <p:txBody>
          <a:bodyPr wrap="none" lIns="0" tIns="0" rIns="0" bIns="0" rtlCol="0" anchor="t"/>
          <a:lstStyle/>
          <a:p>
            <a:pPr algn="l" indent="0" marL="0">
              <a:lnSpc>
                <a:spcPts val="2800"/>
              </a:lnSpc>
              <a:buNone/>
            </a:pPr>
            <a:r>
              <a:rPr lang="en-US" sz="2250" dirty="0">
                <a:solidFill>
                  <a:srgbClr val="384653"/>
                </a:solidFill>
                <a:latin typeface="Host Grotesk Medium" pitchFamily="34" charset="0"/>
                <a:ea typeface="Host Grotesk Medium" pitchFamily="34" charset="-122"/>
                <a:cs typeface="Host Grotesk Medium" pitchFamily="34" charset="-120"/>
              </a:rPr>
              <a:t>Strip Punctuation</a:t>
            </a:r>
            <a:endParaRPr lang="en-US" sz="2250" dirty="0"/>
          </a:p>
        </p:txBody>
      </p:sp>
      <p:sp>
        <p:nvSpPr>
          <p:cNvPr id="12" name="Text 8"/>
          <p:cNvSpPr/>
          <p:nvPr/>
        </p:nvSpPr>
        <p:spPr>
          <a:xfrm>
            <a:off x="5538907" y="3731062"/>
            <a:ext cx="3552468" cy="1461849"/>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After splitting, use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strip()</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to remove punctuation from the beginning and end of each word. This requires identifying relevant punctuation marks using the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unicodedata</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module.</a:t>
            </a:r>
            <a:endParaRPr lang="en-US" sz="1500" dirty="0"/>
          </a:p>
        </p:txBody>
      </p:sp>
      <p:sp>
        <p:nvSpPr>
          <p:cNvPr id="13" name="Shape 9"/>
          <p:cNvSpPr/>
          <p:nvPr/>
        </p:nvSpPr>
        <p:spPr>
          <a:xfrm>
            <a:off x="5538907" y="5409843"/>
            <a:ext cx="3552468" cy="1446609"/>
          </a:xfrm>
          <a:prstGeom prst="roundRect">
            <a:avLst>
              <a:gd name="adj" fmla="val 5600"/>
            </a:avLst>
          </a:prstGeom>
          <a:solidFill>
            <a:srgbClr val="EDECE8"/>
          </a:solidFill>
          <a:ln/>
        </p:spPr>
      </p:sp>
      <p:sp>
        <p:nvSpPr>
          <p:cNvPr id="14" name="Shape 10"/>
          <p:cNvSpPr/>
          <p:nvPr/>
        </p:nvSpPr>
        <p:spPr>
          <a:xfrm>
            <a:off x="5529263" y="5409843"/>
            <a:ext cx="3571756" cy="1446609"/>
          </a:xfrm>
          <a:prstGeom prst="roundRect">
            <a:avLst>
              <a:gd name="adj" fmla="val 2000"/>
            </a:avLst>
          </a:prstGeom>
          <a:solidFill>
            <a:srgbClr val="EDECE8"/>
          </a:solidFill>
          <a:ln/>
        </p:spPr>
      </p:sp>
      <p:sp>
        <p:nvSpPr>
          <p:cNvPr id="15" name="Text 11"/>
          <p:cNvSpPr/>
          <p:nvPr/>
        </p:nvSpPr>
        <p:spPr>
          <a:xfrm>
            <a:off x="5722144" y="5554504"/>
            <a:ext cx="3185993" cy="1157288"/>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import unicodedata
unicodedata.category('.') # 'Po' (Punctuation, other)
</a:t>
            </a:r>
            <a:endParaRPr lang="en-US" sz="1500" dirty="0"/>
          </a:p>
        </p:txBody>
      </p:sp>
      <p:pic>
        <p:nvPicPr>
          <p:cNvPr id="16" name="Image 2" descr="preencoded.png">    </p:cNvPr>
          <p:cNvPicPr>
            <a:picLocks noChangeAspect="1"/>
          </p:cNvPicPr>
          <p:nvPr/>
        </p:nvPicPr>
        <p:blipFill>
          <a:blip r:embed="rId3"/>
          <a:stretch>
            <a:fillRect/>
          </a:stretch>
        </p:blipFill>
        <p:spPr>
          <a:xfrm>
            <a:off x="9477137" y="2192893"/>
            <a:ext cx="3938230" cy="1143000"/>
          </a:xfrm>
          <a:prstGeom prst="rect">
            <a:avLst/>
          </a:prstGeom>
        </p:spPr>
      </p:pic>
      <p:sp>
        <p:nvSpPr>
          <p:cNvPr id="17" name="Text 12"/>
          <p:cNvSpPr/>
          <p:nvPr/>
        </p:nvSpPr>
        <p:spPr>
          <a:xfrm>
            <a:off x="9670018" y="2964418"/>
            <a:ext cx="2893338" cy="361593"/>
          </a:xfrm>
          <a:prstGeom prst="rect">
            <a:avLst/>
          </a:prstGeom>
          <a:noFill/>
          <a:ln/>
        </p:spPr>
        <p:txBody>
          <a:bodyPr wrap="none" lIns="0" tIns="0" rIns="0" bIns="0" rtlCol="0" anchor="t"/>
          <a:lstStyle/>
          <a:p>
            <a:pPr algn="l" indent="0" marL="0">
              <a:lnSpc>
                <a:spcPts val="2800"/>
              </a:lnSpc>
              <a:buNone/>
            </a:pPr>
            <a:r>
              <a:rPr lang="en-US" sz="2250" dirty="0">
                <a:solidFill>
                  <a:srgbClr val="384653"/>
                </a:solidFill>
                <a:latin typeface="Host Grotesk Medium" pitchFamily="34" charset="0"/>
                <a:ea typeface="Host Grotesk Medium" pitchFamily="34" charset="-122"/>
                <a:cs typeface="Host Grotesk Medium" pitchFamily="34" charset="-120"/>
              </a:rPr>
              <a:t>Convert to Lowercase</a:t>
            </a:r>
            <a:endParaRPr lang="en-US" sz="2250" dirty="0"/>
          </a:p>
        </p:txBody>
      </p:sp>
      <p:sp>
        <p:nvSpPr>
          <p:cNvPr id="18" name="Text 13"/>
          <p:cNvSpPr/>
          <p:nvPr/>
        </p:nvSpPr>
        <p:spPr>
          <a:xfrm>
            <a:off x="9670018" y="3441740"/>
            <a:ext cx="3552468" cy="1157288"/>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Finally, convert all words to lowercase to ensure "The" and "the" are counted as the same word, standardizing the text for analysis.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2495" y="573881"/>
            <a:ext cx="7832050" cy="544235"/>
          </a:xfrm>
          <a:prstGeom prst="rect">
            <a:avLst/>
          </a:prstGeom>
          <a:noFill/>
          <a:ln/>
        </p:spPr>
        <p:txBody>
          <a:bodyPr wrap="none" lIns="0" tIns="0" rIns="0" bIns="0" rtlCol="0" anchor="t"/>
          <a:lstStyle/>
          <a:p>
            <a:pPr algn="l" indent="0" marL="0">
              <a:lnSpc>
                <a:spcPts val="3950"/>
              </a:lnSpc>
              <a:buNone/>
            </a:pPr>
            <a:r>
              <a:rPr lang="en-US" sz="3150" dirty="0">
                <a:solidFill>
                  <a:srgbClr val="2E3C4E"/>
                </a:solidFill>
                <a:latin typeface="Host Grotesk Medium" pitchFamily="34" charset="0"/>
                <a:ea typeface="Host Grotesk Medium" pitchFamily="34" charset="-122"/>
                <a:cs typeface="Host Grotesk Medium" pitchFamily="34" charset="-120"/>
              </a:rPr>
              <a:t>Refining Word Definitions with </a:t>
            </a:r>
            <a:pPr algn="l" indent="0" marL="0">
              <a:lnSpc>
                <a:spcPts val="3950"/>
              </a:lnSpc>
              <a:buNone/>
            </a:pPr>
            <a:r>
              <a:rPr lang="en-US" sz="3150" dirty="0">
                <a:solidFill>
                  <a:srgbClr val="384653"/>
                </a:solidFill>
                <a:highlight>
                  <a:srgbClr val="EDECE8"/>
                </a:highlight>
                <a:latin typeface="Consolas" pitchFamily="34" charset="0"/>
                <a:ea typeface="Consolas" pitchFamily="34" charset="-122"/>
                <a:cs typeface="Consolas" pitchFamily="34" charset="-120"/>
              </a:rPr>
              <a:t>clean_word</a:t>
            </a:r>
            <a:endParaRPr lang="en-US" sz="3150" dirty="0"/>
          </a:p>
        </p:txBody>
      </p:sp>
      <p:sp>
        <p:nvSpPr>
          <p:cNvPr id="3" name="Text 1"/>
          <p:cNvSpPr/>
          <p:nvPr/>
        </p:nvSpPr>
        <p:spPr>
          <a:xfrm>
            <a:off x="912495" y="1522928"/>
            <a:ext cx="12805410" cy="303609"/>
          </a:xfrm>
          <a:prstGeom prst="rect">
            <a:avLst/>
          </a:prstGeom>
          <a:noFill/>
          <a:ln/>
        </p:spPr>
        <p:txBody>
          <a:bodyPr wrap="non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The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clean_word</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function ensures each word is accurately processed.</a:t>
            </a:r>
            <a:endParaRPr lang="en-US" sz="1550" dirty="0"/>
          </a:p>
        </p:txBody>
      </p:sp>
      <p:sp>
        <p:nvSpPr>
          <p:cNvPr id="4" name="Text 2"/>
          <p:cNvSpPr/>
          <p:nvPr/>
        </p:nvSpPr>
        <p:spPr>
          <a:xfrm>
            <a:off x="912495" y="2256592"/>
            <a:ext cx="3036808" cy="379571"/>
          </a:xfrm>
          <a:prstGeom prst="rect">
            <a:avLst/>
          </a:prstGeom>
          <a:noFill/>
          <a:ln/>
        </p:spPr>
        <p:txBody>
          <a:bodyPr wrap="none" lIns="0" tIns="0" rIns="0" bIns="0" rtlCol="0" anchor="t"/>
          <a:lstStyle/>
          <a:p>
            <a:pPr algn="l" indent="0" marL="0">
              <a:lnSpc>
                <a:spcPts val="2950"/>
              </a:lnSpc>
              <a:buNone/>
            </a:pPr>
            <a:r>
              <a:rPr lang="en-US" sz="2350" dirty="0">
                <a:solidFill>
                  <a:srgbClr val="2E3C4E"/>
                </a:solidFill>
                <a:latin typeface="Host Grotesk Medium" pitchFamily="34" charset="0"/>
                <a:ea typeface="Host Grotesk Medium" pitchFamily="34" charset="-122"/>
                <a:cs typeface="Host Grotesk Medium" pitchFamily="34" charset="-120"/>
              </a:rPr>
              <a:t>Function Definition</a:t>
            </a:r>
            <a:endParaRPr lang="en-US" sz="2350" dirty="0"/>
          </a:p>
        </p:txBody>
      </p:sp>
      <p:sp>
        <p:nvSpPr>
          <p:cNvPr id="5" name="Shape 3"/>
          <p:cNvSpPr/>
          <p:nvPr/>
        </p:nvSpPr>
        <p:spPr>
          <a:xfrm>
            <a:off x="912495" y="2863810"/>
            <a:ext cx="6155769" cy="1214438"/>
          </a:xfrm>
          <a:prstGeom prst="roundRect">
            <a:avLst>
              <a:gd name="adj" fmla="val 7002"/>
            </a:avLst>
          </a:prstGeom>
          <a:solidFill>
            <a:srgbClr val="EDECE8"/>
          </a:solidFill>
          <a:ln/>
        </p:spPr>
      </p:sp>
      <p:sp>
        <p:nvSpPr>
          <p:cNvPr id="6" name="Shape 4"/>
          <p:cNvSpPr/>
          <p:nvPr/>
        </p:nvSpPr>
        <p:spPr>
          <a:xfrm>
            <a:off x="902375" y="2863810"/>
            <a:ext cx="6176010" cy="1214438"/>
          </a:xfrm>
          <a:prstGeom prst="roundRect">
            <a:avLst>
              <a:gd name="adj" fmla="val 2501"/>
            </a:avLst>
          </a:prstGeom>
          <a:solidFill>
            <a:srgbClr val="EDECE8"/>
          </a:solidFill>
          <a:ln/>
        </p:spPr>
      </p:sp>
      <p:sp>
        <p:nvSpPr>
          <p:cNvPr id="7" name="Text 5"/>
          <p:cNvSpPr/>
          <p:nvPr/>
        </p:nvSpPr>
        <p:spPr>
          <a:xfrm>
            <a:off x="1104781" y="3015615"/>
            <a:ext cx="5771198" cy="910828"/>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def clean_word(word):
  return word.strip(punctuation).lower()
</a:t>
            </a:r>
            <a:endParaRPr lang="en-US" sz="1550" dirty="0"/>
          </a:p>
        </p:txBody>
      </p:sp>
      <p:sp>
        <p:nvSpPr>
          <p:cNvPr id="8" name="Text 6"/>
          <p:cNvSpPr/>
          <p:nvPr/>
        </p:nvSpPr>
        <p:spPr>
          <a:xfrm>
            <a:off x="912495" y="4305895"/>
            <a:ext cx="6155769" cy="607219"/>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This function combines stripping punctuation from both ends and converting the word to lowercase.</a:t>
            </a:r>
            <a:endParaRPr lang="en-US" sz="1550" dirty="0"/>
          </a:p>
        </p:txBody>
      </p:sp>
      <p:sp>
        <p:nvSpPr>
          <p:cNvPr id="9" name="Text 7"/>
          <p:cNvSpPr/>
          <p:nvPr/>
        </p:nvSpPr>
        <p:spPr>
          <a:xfrm>
            <a:off x="7569756" y="2256592"/>
            <a:ext cx="3036808" cy="379571"/>
          </a:xfrm>
          <a:prstGeom prst="rect">
            <a:avLst/>
          </a:prstGeom>
          <a:noFill/>
          <a:ln/>
        </p:spPr>
        <p:txBody>
          <a:bodyPr wrap="none" lIns="0" tIns="0" rIns="0" bIns="0" rtlCol="0" anchor="t"/>
          <a:lstStyle/>
          <a:p>
            <a:pPr algn="l" indent="0" marL="0">
              <a:lnSpc>
                <a:spcPts val="2950"/>
              </a:lnSpc>
              <a:buNone/>
            </a:pPr>
            <a:r>
              <a:rPr lang="en-US" sz="2350" dirty="0">
                <a:solidFill>
                  <a:srgbClr val="2E3C4E"/>
                </a:solidFill>
                <a:latin typeface="Host Grotesk Medium" pitchFamily="34" charset="0"/>
                <a:ea typeface="Host Grotesk Medium" pitchFamily="34" charset="-122"/>
                <a:cs typeface="Host Grotesk Medium" pitchFamily="34" charset="-120"/>
              </a:rPr>
              <a:t>Examples</a:t>
            </a:r>
            <a:endParaRPr lang="en-US" sz="2350" dirty="0"/>
          </a:p>
        </p:txBody>
      </p:sp>
      <p:sp>
        <p:nvSpPr>
          <p:cNvPr id="10" name="Text 8"/>
          <p:cNvSpPr/>
          <p:nvPr/>
        </p:nvSpPr>
        <p:spPr>
          <a:xfrm>
            <a:off x="7569756" y="2838569"/>
            <a:ext cx="6155769"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clean_word('“Behold!”')</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becomes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'behold'</a:t>
            </a:r>
            <a:endParaRPr lang="en-US" sz="1550" dirty="0"/>
          </a:p>
        </p:txBody>
      </p:sp>
      <p:sp>
        <p:nvSpPr>
          <p:cNvPr id="11" name="Text 9"/>
          <p:cNvSpPr/>
          <p:nvPr/>
        </p:nvSpPr>
        <p:spPr>
          <a:xfrm>
            <a:off x="7569756" y="3213021"/>
            <a:ext cx="6155769" cy="607219"/>
          </a:xfrm>
          <a:prstGeom prst="rect">
            <a:avLst/>
          </a:prstGeom>
          <a:noFill/>
          <a:ln/>
        </p:spPr>
        <p:txBody>
          <a:bodyPr wrap="squar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clean_word('pocket-handkerchief')</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remains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'pocket-handkerchief'</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a:t>
            </a:r>
            <a:pPr algn="l" indent="0" marL="0">
              <a:lnSpc>
                <a:spcPts val="2350"/>
              </a:lnSpc>
              <a:buNone/>
            </a:pPr>
            <a:r>
              <a:rPr lang="en-US" sz="1550" dirty="0">
                <a:solidFill>
                  <a:srgbClr val="384653"/>
                </a:solidFill>
                <a:highlight>
                  <a:srgbClr val="EDECE8"/>
                </a:highlight>
                <a:latin typeface="Consolas" pitchFamily="34" charset="0"/>
                <a:ea typeface="Consolas" pitchFamily="34" charset="-122"/>
                <a:cs typeface="Consolas" pitchFamily="34" charset="-120"/>
              </a:rPr>
              <a:t>strip</a:t>
            </a:r>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 preserves internal hyphens).</a:t>
            </a:r>
            <a:endParaRPr lang="en-US" sz="1550" dirty="0"/>
          </a:p>
        </p:txBody>
      </p:sp>
      <p:sp>
        <p:nvSpPr>
          <p:cNvPr id="12" name="Text 10"/>
          <p:cNvSpPr/>
          <p:nvPr/>
        </p:nvSpPr>
        <p:spPr>
          <a:xfrm>
            <a:off x="7569756" y="4002405"/>
            <a:ext cx="6155769" cy="607219"/>
          </a:xfrm>
          <a:prstGeom prst="rect">
            <a:avLst/>
          </a:prstGeom>
          <a:noFill/>
          <a:ln/>
        </p:spPr>
        <p:txBody>
          <a:bodyPr wrap="squar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After cleaning, the unique word count for "Dr. Jekyll and Mr. Hyde" is reduced to approximately 4005.</a:t>
            </a:r>
            <a:endParaRPr lang="en-US" sz="1550" dirty="0"/>
          </a:p>
        </p:txBody>
      </p:sp>
      <p:sp>
        <p:nvSpPr>
          <p:cNvPr id="13" name="Text 11"/>
          <p:cNvSpPr/>
          <p:nvPr/>
        </p:nvSpPr>
        <p:spPr>
          <a:xfrm>
            <a:off x="912495" y="5322927"/>
            <a:ext cx="12805410" cy="303609"/>
          </a:xfrm>
          <a:prstGeom prst="rect">
            <a:avLst/>
          </a:prstGeom>
          <a:noFill/>
          <a:ln/>
        </p:spPr>
        <p:txBody>
          <a:bodyPr wrap="none" lIns="0" tIns="0" rIns="0" bIns="0" rtlCol="0" anchor="t"/>
          <a:lstStyle/>
          <a:p>
            <a:pPr algn="l" indent="0" marL="0">
              <a:lnSpc>
                <a:spcPts val="2350"/>
              </a:lnSpc>
              <a:buNone/>
            </a:pPr>
            <a:r>
              <a:rPr lang="en-US" sz="1550" dirty="0">
                <a:solidFill>
                  <a:srgbClr val="384653"/>
                </a:solidFill>
                <a:latin typeface="Roboto" pitchFamily="34" charset="0"/>
                <a:ea typeface="Roboto" pitchFamily="34" charset="-122"/>
                <a:cs typeface="Roboto" pitchFamily="34" charset="-120"/>
              </a:rPr>
              <a:t>The updated list of longest words now reflects cleaner data, free from extraneous punctuation:</a:t>
            </a:r>
            <a:endParaRPr lang="en-US" sz="1550" dirty="0"/>
          </a:p>
        </p:txBody>
      </p:sp>
      <p:sp>
        <p:nvSpPr>
          <p:cNvPr id="14" name="Text 12"/>
          <p:cNvSpPr/>
          <p:nvPr/>
        </p:nvSpPr>
        <p:spPr>
          <a:xfrm>
            <a:off x="912495" y="5854184"/>
            <a:ext cx="12805410"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'circumscription'</a:t>
            </a:r>
            <a:endParaRPr lang="en-US" sz="1550" dirty="0"/>
          </a:p>
        </p:txBody>
      </p:sp>
      <p:sp>
        <p:nvSpPr>
          <p:cNvPr id="15" name="Text 13"/>
          <p:cNvSpPr/>
          <p:nvPr/>
        </p:nvSpPr>
        <p:spPr>
          <a:xfrm>
            <a:off x="912495" y="6228636"/>
            <a:ext cx="12805410"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'unimpressionable'</a:t>
            </a:r>
            <a:endParaRPr lang="en-US" sz="1550" dirty="0"/>
          </a:p>
        </p:txBody>
      </p:sp>
      <p:sp>
        <p:nvSpPr>
          <p:cNvPr id="16" name="Text 14"/>
          <p:cNvSpPr/>
          <p:nvPr/>
        </p:nvSpPr>
        <p:spPr>
          <a:xfrm>
            <a:off x="912495" y="6603087"/>
            <a:ext cx="12805410"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'fellow-creatures'</a:t>
            </a:r>
            <a:endParaRPr lang="en-US" sz="1550" dirty="0"/>
          </a:p>
        </p:txBody>
      </p:sp>
      <p:sp>
        <p:nvSpPr>
          <p:cNvPr id="17" name="Text 15"/>
          <p:cNvSpPr/>
          <p:nvPr/>
        </p:nvSpPr>
        <p:spPr>
          <a:xfrm>
            <a:off x="912495" y="6977539"/>
            <a:ext cx="12805410"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'chocolate-coloured'</a:t>
            </a:r>
            <a:endParaRPr lang="en-US" sz="1550" dirty="0"/>
          </a:p>
        </p:txBody>
      </p:sp>
      <p:sp>
        <p:nvSpPr>
          <p:cNvPr id="18" name="Text 16"/>
          <p:cNvSpPr/>
          <p:nvPr/>
        </p:nvSpPr>
        <p:spPr>
          <a:xfrm>
            <a:off x="912495" y="7351990"/>
            <a:ext cx="12805410" cy="303609"/>
          </a:xfrm>
          <a:prstGeom prst="rect">
            <a:avLst/>
          </a:prstGeom>
          <a:noFill/>
          <a:ln/>
        </p:spPr>
        <p:txBody>
          <a:bodyPr wrap="none" lIns="0" tIns="0" rIns="0" bIns="0" rtlCol="0" anchor="t"/>
          <a:lstStyle/>
          <a:p>
            <a:pPr algn="l" marL="342900" indent="-342900">
              <a:lnSpc>
                <a:spcPts val="2350"/>
              </a:lnSpc>
              <a:buSzPct val="100000"/>
              <a:buChar char="•"/>
            </a:pPr>
            <a:r>
              <a:rPr lang="en-US" sz="1550" dirty="0">
                <a:solidFill>
                  <a:srgbClr val="384653"/>
                </a:solidFill>
                <a:highlight>
                  <a:srgbClr val="EDECE8"/>
                </a:highlight>
                <a:latin typeface="Consolas" pitchFamily="34" charset="0"/>
                <a:ea typeface="Consolas" pitchFamily="34" charset="-122"/>
                <a:cs typeface="Consolas" pitchFamily="34" charset="-120"/>
              </a:rPr>
              <a:t>'pocket-handkerchief'</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870591" y="473393"/>
            <a:ext cx="4449366" cy="430411"/>
          </a:xfrm>
          <a:prstGeom prst="rect">
            <a:avLst/>
          </a:prstGeom>
          <a:noFill/>
          <a:ln/>
        </p:spPr>
        <p:txBody>
          <a:bodyPr wrap="none" lIns="0" tIns="0" rIns="0" bIns="0" rtlCol="0" anchor="t"/>
          <a:lstStyle/>
          <a:p>
            <a:pPr algn="l" indent="0" marL="0">
              <a:lnSpc>
                <a:spcPts val="3350"/>
              </a:lnSpc>
              <a:buNone/>
            </a:pPr>
            <a:r>
              <a:rPr lang="en-US" sz="2700" dirty="0">
                <a:solidFill>
                  <a:srgbClr val="2E3C4E"/>
                </a:solidFill>
                <a:latin typeface="Host Grotesk Medium" pitchFamily="34" charset="0"/>
                <a:ea typeface="Host Grotesk Medium" pitchFamily="34" charset="-122"/>
                <a:cs typeface="Host Grotesk Medium" pitchFamily="34" charset="-120"/>
              </a:rPr>
              <a:t>Analyzing Word Frequencies</a:t>
            </a:r>
            <a:endParaRPr lang="en-US" sz="2700" dirty="0"/>
          </a:p>
        </p:txBody>
      </p:sp>
      <p:sp>
        <p:nvSpPr>
          <p:cNvPr id="3" name="Text 1"/>
          <p:cNvSpPr/>
          <p:nvPr/>
        </p:nvSpPr>
        <p:spPr>
          <a:xfrm>
            <a:off x="1870591" y="1248013"/>
            <a:ext cx="1088909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Understanding which words appear most often provides insight into the text's core themes and style.</a:t>
            </a:r>
            <a:endParaRPr lang="en-US" sz="1350" dirty="0"/>
          </a:p>
        </p:txBody>
      </p:sp>
      <p:sp>
        <p:nvSpPr>
          <p:cNvPr id="4" name="Shape 2"/>
          <p:cNvSpPr/>
          <p:nvPr/>
        </p:nvSpPr>
        <p:spPr>
          <a:xfrm>
            <a:off x="1870591" y="1699855"/>
            <a:ext cx="10889099" cy="2998470"/>
          </a:xfrm>
          <a:prstGeom prst="roundRect">
            <a:avLst>
              <a:gd name="adj" fmla="val 2411"/>
            </a:avLst>
          </a:prstGeom>
          <a:solidFill>
            <a:srgbClr val="D9EDF2"/>
          </a:solidFill>
          <a:ln w="7620">
            <a:solidFill>
              <a:srgbClr val="BFD3D8"/>
            </a:solidFill>
            <a:prstDash val="solid"/>
          </a:ln>
        </p:spPr>
      </p:sp>
      <p:sp>
        <p:nvSpPr>
          <p:cNvPr id="5" name="Shape 3"/>
          <p:cNvSpPr/>
          <p:nvPr/>
        </p:nvSpPr>
        <p:spPr>
          <a:xfrm>
            <a:off x="1878211" y="1707475"/>
            <a:ext cx="5436870" cy="2983230"/>
          </a:xfrm>
          <a:prstGeom prst="roundRect">
            <a:avLst>
              <a:gd name="adj" fmla="val 2424"/>
            </a:avLst>
          </a:prstGeom>
          <a:solidFill>
            <a:srgbClr val="D9EDF2"/>
          </a:solidFill>
          <a:ln/>
        </p:spPr>
      </p:sp>
      <p:sp>
        <p:nvSpPr>
          <p:cNvPr id="6" name="Text 4"/>
          <p:cNvSpPr/>
          <p:nvPr/>
        </p:nvSpPr>
        <p:spPr>
          <a:xfrm>
            <a:off x="2050256" y="1879521"/>
            <a:ext cx="2196941" cy="268843"/>
          </a:xfrm>
          <a:prstGeom prst="rect">
            <a:avLst/>
          </a:prstGeom>
          <a:noFill/>
          <a:ln/>
        </p:spPr>
        <p:txBody>
          <a:bodyPr wrap="none" lIns="0" tIns="0" rIns="0" bIns="0" rtlCol="0" anchor="t"/>
          <a:lstStyle/>
          <a:p>
            <a:pPr algn="l" indent="0" marL="0">
              <a:lnSpc>
                <a:spcPts val="2100"/>
              </a:lnSpc>
              <a:buNone/>
            </a:pPr>
            <a:r>
              <a:rPr lang="en-US" sz="1650" dirty="0">
                <a:solidFill>
                  <a:srgbClr val="384653"/>
                </a:solidFill>
                <a:latin typeface="Host Grotesk Medium" pitchFamily="34" charset="0"/>
                <a:ea typeface="Host Grotesk Medium" pitchFamily="34" charset="-122"/>
                <a:cs typeface="Host Grotesk Medium" pitchFamily="34" charset="-120"/>
              </a:rPr>
              <a:t>Counting Occurrences</a:t>
            </a:r>
            <a:endParaRPr lang="en-US" sz="1650" dirty="0"/>
          </a:p>
        </p:txBody>
      </p:sp>
      <p:sp>
        <p:nvSpPr>
          <p:cNvPr id="7" name="Text 5"/>
          <p:cNvSpPr/>
          <p:nvPr/>
        </p:nvSpPr>
        <p:spPr>
          <a:xfrm>
            <a:off x="2050256" y="2251591"/>
            <a:ext cx="5092779" cy="524113"/>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Iterate through each cleaned word and increment its count in the </a:t>
            </a:r>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word_counter</a:t>
            </a:r>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 dictionary.</a:t>
            </a:r>
            <a:endParaRPr lang="en-US" sz="1350" dirty="0"/>
          </a:p>
        </p:txBody>
      </p:sp>
      <p:sp>
        <p:nvSpPr>
          <p:cNvPr id="8" name="Shape 6"/>
          <p:cNvSpPr/>
          <p:nvPr/>
        </p:nvSpPr>
        <p:spPr>
          <a:xfrm>
            <a:off x="2050256" y="2969300"/>
            <a:ext cx="5092779" cy="1549360"/>
          </a:xfrm>
          <a:prstGeom prst="roundRect">
            <a:avLst>
              <a:gd name="adj" fmla="val 4667"/>
            </a:avLst>
          </a:prstGeom>
          <a:solidFill>
            <a:srgbClr val="EDECE8"/>
          </a:solidFill>
          <a:ln/>
        </p:spPr>
      </p:sp>
      <p:sp>
        <p:nvSpPr>
          <p:cNvPr id="9" name="Shape 7"/>
          <p:cNvSpPr/>
          <p:nvPr/>
        </p:nvSpPr>
        <p:spPr>
          <a:xfrm>
            <a:off x="2041684" y="2969300"/>
            <a:ext cx="5109924" cy="1549360"/>
          </a:xfrm>
          <a:prstGeom prst="roundRect">
            <a:avLst>
              <a:gd name="adj" fmla="val 1667"/>
            </a:avLst>
          </a:prstGeom>
          <a:solidFill>
            <a:srgbClr val="EDECE8"/>
          </a:solidFill>
          <a:ln/>
        </p:spPr>
      </p:sp>
      <p:sp>
        <p:nvSpPr>
          <p:cNvPr id="10" name="Text 8"/>
          <p:cNvSpPr/>
          <p:nvPr/>
        </p:nvSpPr>
        <p:spPr>
          <a:xfrm>
            <a:off x="2213729" y="3098363"/>
            <a:ext cx="4765834" cy="1291233"/>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if word not in word_counter:
  word_counter[word] = 1
else:
  word_counter[word] += 1
</a:t>
            </a:r>
            <a:endParaRPr lang="en-US" sz="1350" dirty="0"/>
          </a:p>
        </p:txBody>
      </p:sp>
      <p:sp>
        <p:nvSpPr>
          <p:cNvPr id="11" name="Shape 9"/>
          <p:cNvSpPr/>
          <p:nvPr/>
        </p:nvSpPr>
        <p:spPr>
          <a:xfrm>
            <a:off x="7315081" y="1707475"/>
            <a:ext cx="5436989" cy="2983230"/>
          </a:xfrm>
          <a:prstGeom prst="rect">
            <a:avLst/>
          </a:prstGeom>
          <a:solidFill>
            <a:srgbClr val="D9EDF2"/>
          </a:solidFill>
          <a:ln/>
        </p:spPr>
      </p:sp>
      <p:sp>
        <p:nvSpPr>
          <p:cNvPr id="12" name="Shape 10"/>
          <p:cNvSpPr/>
          <p:nvPr/>
        </p:nvSpPr>
        <p:spPr>
          <a:xfrm>
            <a:off x="7315081" y="1707475"/>
            <a:ext cx="22860" cy="2983230"/>
          </a:xfrm>
          <a:prstGeom prst="roundRect">
            <a:avLst>
              <a:gd name="adj" fmla="val 316305"/>
            </a:avLst>
          </a:prstGeom>
          <a:solidFill>
            <a:srgbClr val="BFD3D8"/>
          </a:solidFill>
          <a:ln/>
        </p:spPr>
      </p:sp>
      <p:sp>
        <p:nvSpPr>
          <p:cNvPr id="13" name="Text 11"/>
          <p:cNvSpPr/>
          <p:nvPr/>
        </p:nvSpPr>
        <p:spPr>
          <a:xfrm>
            <a:off x="7487126" y="1879521"/>
            <a:ext cx="2151936" cy="268843"/>
          </a:xfrm>
          <a:prstGeom prst="rect">
            <a:avLst/>
          </a:prstGeom>
          <a:noFill/>
          <a:ln/>
        </p:spPr>
        <p:txBody>
          <a:bodyPr wrap="none" lIns="0" tIns="0" rIns="0" bIns="0" rtlCol="0" anchor="t"/>
          <a:lstStyle/>
          <a:p>
            <a:pPr algn="l" indent="0" marL="0">
              <a:lnSpc>
                <a:spcPts val="2100"/>
              </a:lnSpc>
              <a:buNone/>
            </a:pPr>
            <a:r>
              <a:rPr lang="en-US" sz="1650" dirty="0">
                <a:solidFill>
                  <a:srgbClr val="384653"/>
                </a:solidFill>
                <a:latin typeface="Host Grotesk Medium" pitchFamily="34" charset="0"/>
                <a:ea typeface="Host Grotesk Medium" pitchFamily="34" charset="-122"/>
                <a:cs typeface="Host Grotesk Medium" pitchFamily="34" charset="-120"/>
              </a:rPr>
              <a:t>Sorting for Insight</a:t>
            </a:r>
            <a:endParaRPr lang="en-US" sz="1650" dirty="0"/>
          </a:p>
        </p:txBody>
      </p:sp>
      <p:sp>
        <p:nvSpPr>
          <p:cNvPr id="14" name="Text 12"/>
          <p:cNvSpPr/>
          <p:nvPr/>
        </p:nvSpPr>
        <p:spPr>
          <a:xfrm>
            <a:off x="7487126" y="2251591"/>
            <a:ext cx="5092898" cy="524113"/>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Sort the </a:t>
            </a:r>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word_counter</a:t>
            </a:r>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 items by frequency in descending order to identify the most common words.</a:t>
            </a:r>
            <a:endParaRPr lang="en-US" sz="1350" dirty="0"/>
          </a:p>
        </p:txBody>
      </p:sp>
      <p:sp>
        <p:nvSpPr>
          <p:cNvPr id="15" name="Shape 13"/>
          <p:cNvSpPr/>
          <p:nvPr/>
        </p:nvSpPr>
        <p:spPr>
          <a:xfrm>
            <a:off x="7487126" y="2969300"/>
            <a:ext cx="5092898" cy="1291114"/>
          </a:xfrm>
          <a:prstGeom prst="roundRect">
            <a:avLst>
              <a:gd name="adj" fmla="val 5600"/>
            </a:avLst>
          </a:prstGeom>
          <a:solidFill>
            <a:srgbClr val="EDECE8"/>
          </a:solidFill>
          <a:ln/>
        </p:spPr>
      </p:sp>
      <p:sp>
        <p:nvSpPr>
          <p:cNvPr id="16" name="Shape 14"/>
          <p:cNvSpPr/>
          <p:nvPr/>
        </p:nvSpPr>
        <p:spPr>
          <a:xfrm>
            <a:off x="7478554" y="2969300"/>
            <a:ext cx="5110043" cy="1291114"/>
          </a:xfrm>
          <a:prstGeom prst="roundRect">
            <a:avLst>
              <a:gd name="adj" fmla="val 2000"/>
            </a:avLst>
          </a:prstGeom>
          <a:solidFill>
            <a:srgbClr val="EDECE8"/>
          </a:solidFill>
          <a:ln/>
        </p:spPr>
      </p:sp>
      <p:sp>
        <p:nvSpPr>
          <p:cNvPr id="17" name="Text 15"/>
          <p:cNvSpPr/>
          <p:nvPr/>
        </p:nvSpPr>
        <p:spPr>
          <a:xfrm>
            <a:off x="7650599" y="3098363"/>
            <a:ext cx="4765953" cy="1032986"/>
          </a:xfrm>
          <a:prstGeom prst="rect">
            <a:avLst/>
          </a:prstGeom>
          <a:noFill/>
          <a:ln/>
        </p:spPr>
        <p:txBody>
          <a:bodyPr wrap="square" lIns="0" tIns="0" rIns="0" bIns="0" rtlCol="0" anchor="t"/>
          <a:lstStyle/>
          <a:p>
            <a:pPr algn="l" indent="0" marL="0">
              <a:lnSpc>
                <a:spcPts val="200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items = sorted(word_counter.items(), 
             key=second_element, 
             reverse=True)
</a:t>
            </a:r>
            <a:endParaRPr lang="en-US" sz="1350" dirty="0"/>
          </a:p>
        </p:txBody>
      </p:sp>
      <p:sp>
        <p:nvSpPr>
          <p:cNvPr id="18" name="Text 16"/>
          <p:cNvSpPr/>
          <p:nvPr/>
        </p:nvSpPr>
        <p:spPr>
          <a:xfrm>
            <a:off x="1870591" y="4891921"/>
            <a:ext cx="1088909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The top 5 most frequent words in "Dr. Jekyll and Mr. Hyde" are:</a:t>
            </a:r>
            <a:endParaRPr lang="en-US" sz="1350" dirty="0"/>
          </a:p>
        </p:txBody>
      </p:sp>
      <p:sp>
        <p:nvSpPr>
          <p:cNvPr id="19" name="Shape 17"/>
          <p:cNvSpPr/>
          <p:nvPr/>
        </p:nvSpPr>
        <p:spPr>
          <a:xfrm>
            <a:off x="1870591" y="5343763"/>
            <a:ext cx="10889099" cy="2414945"/>
          </a:xfrm>
          <a:prstGeom prst="roundRect">
            <a:avLst>
              <a:gd name="adj" fmla="val 2994"/>
            </a:avLst>
          </a:prstGeom>
          <a:noFill/>
          <a:ln w="7620">
            <a:solidFill>
              <a:srgbClr val="000000">
                <a:alpha val="8000"/>
              </a:srgbClr>
            </a:solidFill>
            <a:prstDash val="solid"/>
          </a:ln>
        </p:spPr>
      </p:sp>
      <p:sp>
        <p:nvSpPr>
          <p:cNvPr id="20" name="Shape 18"/>
          <p:cNvSpPr/>
          <p:nvPr/>
        </p:nvSpPr>
        <p:spPr>
          <a:xfrm>
            <a:off x="1878211" y="5351383"/>
            <a:ext cx="10873859" cy="479941"/>
          </a:xfrm>
          <a:prstGeom prst="rect">
            <a:avLst/>
          </a:prstGeom>
          <a:solidFill>
            <a:srgbClr val="FFFFFF">
              <a:alpha val="4000"/>
            </a:srgbClr>
          </a:solidFill>
          <a:ln/>
        </p:spPr>
      </p:sp>
      <p:sp>
        <p:nvSpPr>
          <p:cNvPr id="21" name="Text 19"/>
          <p:cNvSpPr/>
          <p:nvPr/>
        </p:nvSpPr>
        <p:spPr>
          <a:xfrm>
            <a:off x="2050375" y="5462230"/>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1614</a:t>
            </a:r>
            <a:endParaRPr lang="en-US" sz="1350" dirty="0"/>
          </a:p>
        </p:txBody>
      </p:sp>
      <p:sp>
        <p:nvSpPr>
          <p:cNvPr id="22" name="Text 20"/>
          <p:cNvSpPr/>
          <p:nvPr/>
        </p:nvSpPr>
        <p:spPr>
          <a:xfrm>
            <a:off x="7491055" y="5462230"/>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the</a:t>
            </a:r>
            <a:endParaRPr lang="en-US" sz="1350" dirty="0"/>
          </a:p>
        </p:txBody>
      </p:sp>
      <p:sp>
        <p:nvSpPr>
          <p:cNvPr id="23" name="Shape 21"/>
          <p:cNvSpPr/>
          <p:nvPr/>
        </p:nvSpPr>
        <p:spPr>
          <a:xfrm>
            <a:off x="1878211" y="5831324"/>
            <a:ext cx="10873859" cy="479941"/>
          </a:xfrm>
          <a:prstGeom prst="rect">
            <a:avLst/>
          </a:prstGeom>
          <a:solidFill>
            <a:srgbClr val="000000">
              <a:alpha val="4000"/>
            </a:srgbClr>
          </a:solidFill>
          <a:ln/>
        </p:spPr>
      </p:sp>
      <p:sp>
        <p:nvSpPr>
          <p:cNvPr id="24" name="Text 22"/>
          <p:cNvSpPr/>
          <p:nvPr/>
        </p:nvSpPr>
        <p:spPr>
          <a:xfrm>
            <a:off x="2050375" y="5942171"/>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972</a:t>
            </a:r>
            <a:endParaRPr lang="en-US" sz="1350" dirty="0"/>
          </a:p>
        </p:txBody>
      </p:sp>
      <p:sp>
        <p:nvSpPr>
          <p:cNvPr id="25" name="Text 23"/>
          <p:cNvSpPr/>
          <p:nvPr/>
        </p:nvSpPr>
        <p:spPr>
          <a:xfrm>
            <a:off x="7491055" y="5942171"/>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and</a:t>
            </a:r>
            <a:endParaRPr lang="en-US" sz="1350" dirty="0"/>
          </a:p>
        </p:txBody>
      </p:sp>
      <p:sp>
        <p:nvSpPr>
          <p:cNvPr id="26" name="Shape 24"/>
          <p:cNvSpPr/>
          <p:nvPr/>
        </p:nvSpPr>
        <p:spPr>
          <a:xfrm>
            <a:off x="1878211" y="6311265"/>
            <a:ext cx="10873859" cy="479941"/>
          </a:xfrm>
          <a:prstGeom prst="rect">
            <a:avLst/>
          </a:prstGeom>
          <a:solidFill>
            <a:srgbClr val="FFFFFF">
              <a:alpha val="4000"/>
            </a:srgbClr>
          </a:solidFill>
          <a:ln/>
        </p:spPr>
      </p:sp>
      <p:sp>
        <p:nvSpPr>
          <p:cNvPr id="27" name="Text 25"/>
          <p:cNvSpPr/>
          <p:nvPr/>
        </p:nvSpPr>
        <p:spPr>
          <a:xfrm>
            <a:off x="2050375" y="6422112"/>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941</a:t>
            </a:r>
            <a:endParaRPr lang="en-US" sz="1350" dirty="0"/>
          </a:p>
        </p:txBody>
      </p:sp>
      <p:sp>
        <p:nvSpPr>
          <p:cNvPr id="28" name="Text 26"/>
          <p:cNvSpPr/>
          <p:nvPr/>
        </p:nvSpPr>
        <p:spPr>
          <a:xfrm>
            <a:off x="7491055" y="6422112"/>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of</a:t>
            </a:r>
            <a:endParaRPr lang="en-US" sz="1350" dirty="0"/>
          </a:p>
        </p:txBody>
      </p:sp>
      <p:sp>
        <p:nvSpPr>
          <p:cNvPr id="29" name="Shape 27"/>
          <p:cNvSpPr/>
          <p:nvPr/>
        </p:nvSpPr>
        <p:spPr>
          <a:xfrm>
            <a:off x="1878211" y="6791206"/>
            <a:ext cx="10873859" cy="479941"/>
          </a:xfrm>
          <a:prstGeom prst="rect">
            <a:avLst/>
          </a:prstGeom>
          <a:solidFill>
            <a:srgbClr val="000000">
              <a:alpha val="4000"/>
            </a:srgbClr>
          </a:solidFill>
          <a:ln/>
        </p:spPr>
      </p:sp>
      <p:sp>
        <p:nvSpPr>
          <p:cNvPr id="30" name="Text 28"/>
          <p:cNvSpPr/>
          <p:nvPr/>
        </p:nvSpPr>
        <p:spPr>
          <a:xfrm>
            <a:off x="2050375" y="6902053"/>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640</a:t>
            </a:r>
            <a:endParaRPr lang="en-US" sz="1350" dirty="0"/>
          </a:p>
        </p:txBody>
      </p:sp>
      <p:sp>
        <p:nvSpPr>
          <p:cNvPr id="31" name="Text 29"/>
          <p:cNvSpPr/>
          <p:nvPr/>
        </p:nvSpPr>
        <p:spPr>
          <a:xfrm>
            <a:off x="7491055" y="6902053"/>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to</a:t>
            </a:r>
            <a:endParaRPr lang="en-US" sz="1350" dirty="0"/>
          </a:p>
        </p:txBody>
      </p:sp>
      <p:sp>
        <p:nvSpPr>
          <p:cNvPr id="32" name="Shape 30"/>
          <p:cNvSpPr/>
          <p:nvPr/>
        </p:nvSpPr>
        <p:spPr>
          <a:xfrm>
            <a:off x="1878211" y="7271147"/>
            <a:ext cx="10873859" cy="479941"/>
          </a:xfrm>
          <a:prstGeom prst="rect">
            <a:avLst/>
          </a:prstGeom>
          <a:solidFill>
            <a:srgbClr val="FFFFFF">
              <a:alpha val="4000"/>
            </a:srgbClr>
          </a:solidFill>
          <a:ln/>
        </p:spPr>
      </p:sp>
      <p:sp>
        <p:nvSpPr>
          <p:cNvPr id="33" name="Text 31"/>
          <p:cNvSpPr/>
          <p:nvPr/>
        </p:nvSpPr>
        <p:spPr>
          <a:xfrm>
            <a:off x="2050375" y="7381994"/>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640</a:t>
            </a:r>
            <a:endParaRPr lang="en-US" sz="1350" dirty="0"/>
          </a:p>
        </p:txBody>
      </p:sp>
      <p:sp>
        <p:nvSpPr>
          <p:cNvPr id="34" name="Text 32"/>
          <p:cNvSpPr/>
          <p:nvPr/>
        </p:nvSpPr>
        <p:spPr>
          <a:xfrm>
            <a:off x="7491055" y="7381994"/>
            <a:ext cx="5088969" cy="258247"/>
          </a:xfrm>
          <a:prstGeom prst="rect">
            <a:avLst/>
          </a:prstGeom>
          <a:noFill/>
          <a:ln/>
        </p:spPr>
        <p:txBody>
          <a:bodyPr wrap="none" lIns="0" tIns="0" rIns="0" bIns="0" rtlCol="0" anchor="t"/>
          <a:lstStyle/>
          <a:p>
            <a:pPr algn="l" indent="0" marL="0">
              <a:lnSpc>
                <a:spcPts val="2000"/>
              </a:lnSpc>
              <a:buNone/>
            </a:pPr>
            <a:r>
              <a:rPr lang="en-US" sz="1350" dirty="0">
                <a:solidFill>
                  <a:srgbClr val="384653"/>
                </a:solidFill>
                <a:latin typeface="Roboto" pitchFamily="34" charset="0"/>
                <a:ea typeface="Roboto" pitchFamily="34" charset="-122"/>
                <a:cs typeface="Roboto" pitchFamily="34" charset="-120"/>
              </a:rPr>
              <a:t>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9381" y="596622"/>
            <a:ext cx="7039451" cy="542449"/>
          </a:xfrm>
          <a:prstGeom prst="rect">
            <a:avLst/>
          </a:prstGeom>
          <a:noFill/>
          <a:ln/>
        </p:spPr>
        <p:txBody>
          <a:bodyPr wrap="none" lIns="0" tIns="0" rIns="0" bIns="0" rtlCol="0" anchor="t"/>
          <a:lstStyle/>
          <a:p>
            <a:pPr algn="l" indent="0" marL="0">
              <a:lnSpc>
                <a:spcPts val="4250"/>
              </a:lnSpc>
              <a:buNone/>
            </a:pPr>
            <a:r>
              <a:rPr lang="en-US" sz="3400" dirty="0">
                <a:solidFill>
                  <a:srgbClr val="2E3C4E"/>
                </a:solidFill>
                <a:latin typeface="Host Grotesk Medium" pitchFamily="34" charset="0"/>
                <a:ea typeface="Host Grotesk Medium" pitchFamily="34" charset="-122"/>
                <a:cs typeface="Host Grotesk Medium" pitchFamily="34" charset="-120"/>
              </a:rPr>
              <a:t>Functions with Optional Parameters</a:t>
            </a:r>
            <a:endParaRPr lang="en-US" sz="3400" dirty="0"/>
          </a:p>
        </p:txBody>
      </p:sp>
      <p:sp>
        <p:nvSpPr>
          <p:cNvPr id="3" name="Text 1"/>
          <p:cNvSpPr/>
          <p:nvPr/>
        </p:nvSpPr>
        <p:spPr>
          <a:xfrm>
            <a:off x="759381" y="1572935"/>
            <a:ext cx="13111639" cy="325398"/>
          </a:xfrm>
          <a:prstGeom prst="rect">
            <a:avLst/>
          </a:prstGeom>
          <a:noFill/>
          <a:ln/>
        </p:spPr>
        <p:txBody>
          <a:bodyPr wrap="none" lIns="0" tIns="0" rIns="0" bIns="0" rtlCol="0" anchor="t"/>
          <a:lstStyle/>
          <a:p>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Optional parameters enhance function flexibility, allowing default values to be overridden when needed.</a:t>
            </a:r>
            <a:endParaRPr lang="en-US" sz="1700" dirty="0"/>
          </a:p>
        </p:txBody>
      </p:sp>
      <p:sp>
        <p:nvSpPr>
          <p:cNvPr id="4" name="Shape 2"/>
          <p:cNvSpPr/>
          <p:nvPr/>
        </p:nvSpPr>
        <p:spPr>
          <a:xfrm>
            <a:off x="759381" y="2467808"/>
            <a:ext cx="4225885" cy="4595932"/>
          </a:xfrm>
          <a:prstGeom prst="roundRect">
            <a:avLst>
              <a:gd name="adj" fmla="val 3462"/>
            </a:avLst>
          </a:prstGeom>
          <a:solidFill>
            <a:srgbClr val="FAF9F5"/>
          </a:solidFill>
          <a:ln/>
        </p:spPr>
      </p:sp>
      <p:pic>
        <p:nvPicPr>
          <p:cNvPr id="5" name="Image 0" descr="preencoded.png">    </p:cNvPr>
          <p:cNvPicPr>
            <a:picLocks noChangeAspect="1"/>
          </p:cNvPicPr>
          <p:nvPr/>
        </p:nvPicPr>
        <p:blipFill>
          <a:blip r:embed="rId1"/>
          <a:stretch>
            <a:fillRect/>
          </a:stretch>
        </p:blipFill>
        <p:spPr>
          <a:xfrm>
            <a:off x="759381" y="2437328"/>
            <a:ext cx="4225885" cy="121920"/>
          </a:xfrm>
          <a:prstGeom prst="rect">
            <a:avLst/>
          </a:prstGeom>
        </p:spPr>
      </p:pic>
      <p:pic>
        <p:nvPicPr>
          <p:cNvPr id="6" name="Image 1" descr="preencoded.png">    </p:cNvPr>
          <p:cNvPicPr>
            <a:picLocks noChangeAspect="1"/>
          </p:cNvPicPr>
          <p:nvPr/>
        </p:nvPicPr>
        <p:blipFill>
          <a:blip r:embed="rId2"/>
          <a:stretch>
            <a:fillRect/>
          </a:stretch>
        </p:blipFill>
        <p:spPr>
          <a:xfrm>
            <a:off x="2546806" y="2142411"/>
            <a:ext cx="650915" cy="650915"/>
          </a:xfrm>
          <a:prstGeom prst="rect">
            <a:avLst/>
          </a:prstGeom>
        </p:spPr>
      </p:pic>
      <p:sp>
        <p:nvSpPr>
          <p:cNvPr id="7" name="Text 3"/>
          <p:cNvSpPr/>
          <p:nvPr/>
        </p:nvSpPr>
        <p:spPr>
          <a:xfrm>
            <a:off x="2742069" y="2305169"/>
            <a:ext cx="260271" cy="325398"/>
          </a:xfrm>
          <a:prstGeom prst="rect">
            <a:avLst/>
          </a:prstGeom>
          <a:noFill/>
          <a:ln/>
        </p:spPr>
        <p:txBody>
          <a:bodyPr wrap="none" lIns="0" tIns="0" rIns="0" bIns="0" rtlCol="0" anchor="t"/>
          <a:lstStyle/>
          <a:p>
            <a:pPr algn="l" indent="0" marL="0">
              <a:lnSpc>
                <a:spcPts val="3050"/>
              </a:lnSpc>
              <a:buNone/>
            </a:pPr>
            <a:r>
              <a:rPr lang="en-US" sz="2050" dirty="0">
                <a:solidFill>
                  <a:srgbClr val="000000"/>
                </a:solidFill>
                <a:latin typeface="Host Grotesk Medium" pitchFamily="34" charset="0"/>
                <a:ea typeface="Host Grotesk Medium" pitchFamily="34" charset="-122"/>
                <a:cs typeface="Host Grotesk Medium" pitchFamily="34" charset="-120"/>
              </a:rPr>
              <a:t>1</a:t>
            </a:r>
            <a:endParaRPr lang="en-US" sz="2050" dirty="0"/>
          </a:p>
        </p:txBody>
      </p:sp>
      <p:sp>
        <p:nvSpPr>
          <p:cNvPr id="8" name="Text 4"/>
          <p:cNvSpPr/>
          <p:nvPr/>
        </p:nvSpPr>
        <p:spPr>
          <a:xfrm>
            <a:off x="1006793" y="3010138"/>
            <a:ext cx="3731062" cy="813673"/>
          </a:xfrm>
          <a:prstGeom prst="rect">
            <a:avLst/>
          </a:prstGeom>
          <a:noFill/>
          <a:ln/>
        </p:spPr>
        <p:txBody>
          <a:bodyPr wrap="square" lIns="0" tIns="0" rIns="0" bIns="0" rtlCol="0" anchor="t"/>
          <a:lstStyle/>
          <a:p>
            <a:pPr algn="l" indent="0" marL="0">
              <a:lnSpc>
                <a:spcPts val="3200"/>
              </a:lnSpc>
              <a:buNone/>
            </a:pPr>
            <a:r>
              <a:rPr lang="en-US" sz="2550" dirty="0">
                <a:solidFill>
                  <a:srgbClr val="384653"/>
                </a:solidFill>
                <a:latin typeface="Host Grotesk Medium" pitchFamily="34" charset="0"/>
                <a:ea typeface="Host Grotesk Medium" pitchFamily="34" charset="-122"/>
                <a:cs typeface="Host Grotesk Medium" pitchFamily="34" charset="-120"/>
              </a:rPr>
              <a:t>Defining Optional Parameters</a:t>
            </a:r>
            <a:endParaRPr lang="en-US" sz="2550" dirty="0"/>
          </a:p>
        </p:txBody>
      </p:sp>
      <p:sp>
        <p:nvSpPr>
          <p:cNvPr id="9" name="Text 5"/>
          <p:cNvSpPr/>
          <p:nvPr/>
        </p:nvSpPr>
        <p:spPr>
          <a:xfrm>
            <a:off x="1006793" y="3953947"/>
            <a:ext cx="3731062" cy="666036"/>
          </a:xfrm>
          <a:prstGeom prst="rect">
            <a:avLst/>
          </a:prstGeom>
          <a:noFill/>
          <a:ln/>
        </p:spPr>
        <p:txBody>
          <a:bodyPr wrap="square" lIns="0" tIns="0" rIns="0" bIns="0" rtlCol="0" anchor="t"/>
          <a:lstStyle/>
          <a:p>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Assign a default value in the function definition (e.g., </a:t>
            </a:r>
            <a:pPr algn="l" indent="0" marL="0">
              <a:lnSpc>
                <a:spcPts val="255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num=5</a:t>
            </a:r>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a:t>
            </a:r>
            <a:endParaRPr lang="en-US" sz="1700" dirty="0"/>
          </a:p>
        </p:txBody>
      </p:sp>
      <p:sp>
        <p:nvSpPr>
          <p:cNvPr id="10" name="Shape 6"/>
          <p:cNvSpPr/>
          <p:nvPr/>
        </p:nvSpPr>
        <p:spPr>
          <a:xfrm>
            <a:off x="1006793" y="4864060"/>
            <a:ext cx="3731062" cy="1952268"/>
          </a:xfrm>
          <a:prstGeom prst="roundRect">
            <a:avLst>
              <a:gd name="adj" fmla="val 4668"/>
            </a:avLst>
          </a:prstGeom>
          <a:solidFill>
            <a:srgbClr val="EDECE8"/>
          </a:solidFill>
          <a:ln/>
        </p:spPr>
      </p:sp>
      <p:sp>
        <p:nvSpPr>
          <p:cNvPr id="11" name="Shape 7"/>
          <p:cNvSpPr/>
          <p:nvPr/>
        </p:nvSpPr>
        <p:spPr>
          <a:xfrm>
            <a:off x="995958" y="4864060"/>
            <a:ext cx="3752731" cy="1952268"/>
          </a:xfrm>
          <a:prstGeom prst="roundRect">
            <a:avLst>
              <a:gd name="adj" fmla="val 1667"/>
            </a:avLst>
          </a:prstGeom>
          <a:solidFill>
            <a:srgbClr val="EDECE8"/>
          </a:solidFill>
          <a:ln/>
        </p:spPr>
      </p:sp>
      <p:sp>
        <p:nvSpPr>
          <p:cNvPr id="12" name="Text 8"/>
          <p:cNvSpPr/>
          <p:nvPr/>
        </p:nvSpPr>
        <p:spPr>
          <a:xfrm>
            <a:off x="1212890" y="5026700"/>
            <a:ext cx="3318867" cy="1626989"/>
          </a:xfrm>
          <a:prstGeom prst="rect">
            <a:avLst/>
          </a:prstGeom>
          <a:noFill/>
          <a:ln/>
        </p:spPr>
        <p:txBody>
          <a:bodyPr wrap="square" lIns="0" tIns="0" rIns="0" bIns="0" rtlCol="0" anchor="t"/>
          <a:lstStyle/>
          <a:p>
            <a:pPr algn="l" indent="0" marL="0">
              <a:lnSpc>
                <a:spcPts val="255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def print_most_common(word_counter, num=5):
  # ...
</a:t>
            </a:r>
            <a:endParaRPr lang="en-US" sz="1700" dirty="0"/>
          </a:p>
        </p:txBody>
      </p:sp>
      <p:sp>
        <p:nvSpPr>
          <p:cNvPr id="13" name="Shape 9"/>
          <p:cNvSpPr/>
          <p:nvPr/>
        </p:nvSpPr>
        <p:spPr>
          <a:xfrm>
            <a:off x="5202198" y="2467808"/>
            <a:ext cx="4225885" cy="4595932"/>
          </a:xfrm>
          <a:prstGeom prst="roundRect">
            <a:avLst>
              <a:gd name="adj" fmla="val 3462"/>
            </a:avLst>
          </a:prstGeom>
          <a:solidFill>
            <a:srgbClr val="FAF9F5"/>
          </a:solidFill>
          <a:ln/>
        </p:spPr>
      </p:sp>
      <p:pic>
        <p:nvPicPr>
          <p:cNvPr id="14" name="Image 2" descr="preencoded.png">    </p:cNvPr>
          <p:cNvPicPr>
            <a:picLocks noChangeAspect="1"/>
          </p:cNvPicPr>
          <p:nvPr/>
        </p:nvPicPr>
        <p:blipFill>
          <a:blip r:embed="rId3"/>
          <a:stretch>
            <a:fillRect/>
          </a:stretch>
        </p:blipFill>
        <p:spPr>
          <a:xfrm>
            <a:off x="5202198" y="2437328"/>
            <a:ext cx="4225885" cy="121920"/>
          </a:xfrm>
          <a:prstGeom prst="rect">
            <a:avLst/>
          </a:prstGeom>
        </p:spPr>
      </p:pic>
      <p:pic>
        <p:nvPicPr>
          <p:cNvPr id="15" name="Image 3" descr="preencoded.png">    </p:cNvPr>
          <p:cNvPicPr>
            <a:picLocks noChangeAspect="1"/>
          </p:cNvPicPr>
          <p:nvPr/>
        </p:nvPicPr>
        <p:blipFill>
          <a:blip r:embed="rId4"/>
          <a:stretch>
            <a:fillRect/>
          </a:stretch>
        </p:blipFill>
        <p:spPr>
          <a:xfrm>
            <a:off x="6989624" y="2142411"/>
            <a:ext cx="650915" cy="650915"/>
          </a:xfrm>
          <a:prstGeom prst="rect">
            <a:avLst/>
          </a:prstGeom>
        </p:spPr>
      </p:pic>
      <p:sp>
        <p:nvSpPr>
          <p:cNvPr id="16" name="Text 10"/>
          <p:cNvSpPr/>
          <p:nvPr/>
        </p:nvSpPr>
        <p:spPr>
          <a:xfrm>
            <a:off x="7184886" y="2305169"/>
            <a:ext cx="260271" cy="325398"/>
          </a:xfrm>
          <a:prstGeom prst="rect">
            <a:avLst/>
          </a:prstGeom>
          <a:noFill/>
          <a:ln/>
        </p:spPr>
        <p:txBody>
          <a:bodyPr wrap="none" lIns="0" tIns="0" rIns="0" bIns="0" rtlCol="0" anchor="t"/>
          <a:lstStyle/>
          <a:p>
            <a:pPr algn="l" indent="0" marL="0">
              <a:lnSpc>
                <a:spcPts val="3050"/>
              </a:lnSpc>
              <a:buNone/>
            </a:pPr>
            <a:r>
              <a:rPr lang="en-US" sz="2050" dirty="0">
                <a:solidFill>
                  <a:srgbClr val="000000"/>
                </a:solidFill>
                <a:latin typeface="Host Grotesk Medium" pitchFamily="34" charset="0"/>
                <a:ea typeface="Host Grotesk Medium" pitchFamily="34" charset="-122"/>
                <a:cs typeface="Host Grotesk Medium" pitchFamily="34" charset="-120"/>
              </a:rPr>
              <a:t>2</a:t>
            </a:r>
            <a:endParaRPr lang="en-US" sz="2050" dirty="0"/>
          </a:p>
        </p:txBody>
      </p:sp>
      <p:sp>
        <p:nvSpPr>
          <p:cNvPr id="17" name="Text 11"/>
          <p:cNvSpPr/>
          <p:nvPr/>
        </p:nvSpPr>
        <p:spPr>
          <a:xfrm>
            <a:off x="5449610" y="3010138"/>
            <a:ext cx="3254573" cy="406837"/>
          </a:xfrm>
          <a:prstGeom prst="rect">
            <a:avLst/>
          </a:prstGeom>
          <a:noFill/>
          <a:ln/>
        </p:spPr>
        <p:txBody>
          <a:bodyPr wrap="none" lIns="0" tIns="0" rIns="0" bIns="0" rtlCol="0" anchor="t"/>
          <a:lstStyle/>
          <a:p>
            <a:pPr algn="l" indent="0" marL="0">
              <a:lnSpc>
                <a:spcPts val="3200"/>
              </a:lnSpc>
              <a:buNone/>
            </a:pPr>
            <a:r>
              <a:rPr lang="en-US" sz="2550" dirty="0">
                <a:solidFill>
                  <a:srgbClr val="384653"/>
                </a:solidFill>
                <a:latin typeface="Host Grotesk Medium" pitchFamily="34" charset="0"/>
                <a:ea typeface="Host Grotesk Medium" pitchFamily="34" charset="-122"/>
                <a:cs typeface="Host Grotesk Medium" pitchFamily="34" charset="-120"/>
              </a:rPr>
              <a:t>Default Usage</a:t>
            </a:r>
            <a:endParaRPr lang="en-US" sz="2550" dirty="0"/>
          </a:p>
        </p:txBody>
      </p:sp>
      <p:sp>
        <p:nvSpPr>
          <p:cNvPr id="18" name="Text 12"/>
          <p:cNvSpPr/>
          <p:nvPr/>
        </p:nvSpPr>
        <p:spPr>
          <a:xfrm>
            <a:off x="5449610" y="3547110"/>
            <a:ext cx="3731062" cy="991433"/>
          </a:xfrm>
          <a:prstGeom prst="rect">
            <a:avLst/>
          </a:prstGeom>
          <a:noFill/>
          <a:ln/>
        </p:spPr>
        <p:txBody>
          <a:bodyPr wrap="square" lIns="0" tIns="0" rIns="0" bIns="0" rtlCol="0" anchor="t"/>
          <a:lstStyle/>
          <a:p>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Calling </a:t>
            </a:r>
            <a:pPr algn="l" indent="0" marL="0">
              <a:lnSpc>
                <a:spcPts val="255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print_most_common(word_counter)</a:t>
            </a:r>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 will print the top 5 words.</a:t>
            </a:r>
            <a:endParaRPr lang="en-US" sz="1700" dirty="0"/>
          </a:p>
        </p:txBody>
      </p:sp>
      <p:sp>
        <p:nvSpPr>
          <p:cNvPr id="19" name="Shape 13"/>
          <p:cNvSpPr/>
          <p:nvPr/>
        </p:nvSpPr>
        <p:spPr>
          <a:xfrm>
            <a:off x="9645015" y="2467808"/>
            <a:ext cx="4225885" cy="4595932"/>
          </a:xfrm>
          <a:prstGeom prst="roundRect">
            <a:avLst>
              <a:gd name="adj" fmla="val 3462"/>
            </a:avLst>
          </a:prstGeom>
          <a:solidFill>
            <a:srgbClr val="FAF9F5"/>
          </a:solidFill>
          <a:ln/>
        </p:spPr>
      </p:sp>
      <p:pic>
        <p:nvPicPr>
          <p:cNvPr id="20" name="Image 4" descr="preencoded.png">    </p:cNvPr>
          <p:cNvPicPr>
            <a:picLocks noChangeAspect="1"/>
          </p:cNvPicPr>
          <p:nvPr/>
        </p:nvPicPr>
        <p:blipFill>
          <a:blip r:embed="rId5"/>
          <a:stretch>
            <a:fillRect/>
          </a:stretch>
        </p:blipFill>
        <p:spPr>
          <a:xfrm>
            <a:off x="9645015" y="2437328"/>
            <a:ext cx="4225885" cy="121920"/>
          </a:xfrm>
          <a:prstGeom prst="rect">
            <a:avLst/>
          </a:prstGeom>
        </p:spPr>
      </p:pic>
      <p:pic>
        <p:nvPicPr>
          <p:cNvPr id="21" name="Image 5" descr="preencoded.png">    </p:cNvPr>
          <p:cNvPicPr>
            <a:picLocks noChangeAspect="1"/>
          </p:cNvPicPr>
          <p:nvPr/>
        </p:nvPicPr>
        <p:blipFill>
          <a:blip r:embed="rId6"/>
          <a:stretch>
            <a:fillRect/>
          </a:stretch>
        </p:blipFill>
        <p:spPr>
          <a:xfrm>
            <a:off x="11432441" y="2142411"/>
            <a:ext cx="650915" cy="650915"/>
          </a:xfrm>
          <a:prstGeom prst="rect">
            <a:avLst/>
          </a:prstGeom>
        </p:spPr>
      </p:pic>
      <p:sp>
        <p:nvSpPr>
          <p:cNvPr id="22" name="Text 14"/>
          <p:cNvSpPr/>
          <p:nvPr/>
        </p:nvSpPr>
        <p:spPr>
          <a:xfrm>
            <a:off x="11627703" y="2305169"/>
            <a:ext cx="260271" cy="325398"/>
          </a:xfrm>
          <a:prstGeom prst="rect">
            <a:avLst/>
          </a:prstGeom>
          <a:noFill/>
          <a:ln/>
        </p:spPr>
        <p:txBody>
          <a:bodyPr wrap="none" lIns="0" tIns="0" rIns="0" bIns="0" rtlCol="0" anchor="t"/>
          <a:lstStyle/>
          <a:p>
            <a:pPr algn="l" indent="0" marL="0">
              <a:lnSpc>
                <a:spcPts val="3050"/>
              </a:lnSpc>
              <a:buNone/>
            </a:pPr>
            <a:r>
              <a:rPr lang="en-US" sz="2050" dirty="0">
                <a:solidFill>
                  <a:srgbClr val="000000"/>
                </a:solidFill>
                <a:latin typeface="Host Grotesk Medium" pitchFamily="34" charset="0"/>
                <a:ea typeface="Host Grotesk Medium" pitchFamily="34" charset="-122"/>
                <a:cs typeface="Host Grotesk Medium" pitchFamily="34" charset="-120"/>
              </a:rPr>
              <a:t>3</a:t>
            </a:r>
            <a:endParaRPr lang="en-US" sz="2050" dirty="0"/>
          </a:p>
        </p:txBody>
      </p:sp>
      <p:sp>
        <p:nvSpPr>
          <p:cNvPr id="23" name="Text 15"/>
          <p:cNvSpPr/>
          <p:nvPr/>
        </p:nvSpPr>
        <p:spPr>
          <a:xfrm>
            <a:off x="9892427" y="3010138"/>
            <a:ext cx="3254573" cy="406837"/>
          </a:xfrm>
          <a:prstGeom prst="rect">
            <a:avLst/>
          </a:prstGeom>
          <a:noFill/>
          <a:ln/>
        </p:spPr>
        <p:txBody>
          <a:bodyPr wrap="none" lIns="0" tIns="0" rIns="0" bIns="0" rtlCol="0" anchor="t"/>
          <a:lstStyle/>
          <a:p>
            <a:pPr algn="l" indent="0" marL="0">
              <a:lnSpc>
                <a:spcPts val="3200"/>
              </a:lnSpc>
              <a:buNone/>
            </a:pPr>
            <a:r>
              <a:rPr lang="en-US" sz="2550" dirty="0">
                <a:solidFill>
                  <a:srgbClr val="384653"/>
                </a:solidFill>
                <a:latin typeface="Host Grotesk Medium" pitchFamily="34" charset="0"/>
                <a:ea typeface="Host Grotesk Medium" pitchFamily="34" charset="-122"/>
                <a:cs typeface="Host Grotesk Medium" pitchFamily="34" charset="-120"/>
              </a:rPr>
              <a:t>Overriding Default</a:t>
            </a:r>
            <a:endParaRPr lang="en-US" sz="2550" dirty="0"/>
          </a:p>
        </p:txBody>
      </p:sp>
      <p:sp>
        <p:nvSpPr>
          <p:cNvPr id="24" name="Text 16"/>
          <p:cNvSpPr/>
          <p:nvPr/>
        </p:nvSpPr>
        <p:spPr>
          <a:xfrm>
            <a:off x="9892427" y="3547110"/>
            <a:ext cx="3731062" cy="1332071"/>
          </a:xfrm>
          <a:prstGeom prst="rect">
            <a:avLst/>
          </a:prstGeom>
          <a:noFill/>
          <a:ln/>
        </p:spPr>
        <p:txBody>
          <a:bodyPr wrap="square" lIns="0" tIns="0" rIns="0" bIns="0" rtlCol="0" anchor="t"/>
          <a:lstStyle/>
          <a:p>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Calling </a:t>
            </a:r>
            <a:pPr algn="l" indent="0" marL="0">
              <a:lnSpc>
                <a:spcPts val="255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print_most_common(word_counter, 3)</a:t>
            </a:r>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 will override the default and print the top 3 words.</a:t>
            </a:r>
            <a:endParaRPr lang="en-US" sz="1700" dirty="0"/>
          </a:p>
        </p:txBody>
      </p:sp>
      <p:sp>
        <p:nvSpPr>
          <p:cNvPr id="25" name="Text 17"/>
          <p:cNvSpPr/>
          <p:nvPr/>
        </p:nvSpPr>
        <p:spPr>
          <a:xfrm>
            <a:off x="759381" y="7307818"/>
            <a:ext cx="13111639" cy="325398"/>
          </a:xfrm>
          <a:prstGeom prst="rect">
            <a:avLst/>
          </a:prstGeom>
          <a:noFill/>
          <a:ln/>
        </p:spPr>
        <p:txBody>
          <a:bodyPr wrap="none" lIns="0" tIns="0" rIns="0" bIns="0" rtlCol="0" anchor="t"/>
          <a:lstStyle/>
          <a:p>
            <a:pPr algn="l" indent="0" marL="0">
              <a:lnSpc>
                <a:spcPts val="2550"/>
              </a:lnSpc>
              <a:buNone/>
            </a:pPr>
            <a:r>
              <a:rPr lang="en-US" sz="1700" dirty="0">
                <a:solidFill>
                  <a:srgbClr val="384653"/>
                </a:solidFill>
                <a:latin typeface="Roboto" pitchFamily="34" charset="0"/>
                <a:ea typeface="Roboto" pitchFamily="34" charset="-122"/>
                <a:cs typeface="Roboto" pitchFamily="34" charset="-120"/>
              </a:rPr>
              <a:t>Required parameters must always precede optional ones in the function signature.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97293" y="533400"/>
            <a:ext cx="7132439" cy="483632"/>
          </a:xfrm>
          <a:prstGeom prst="rect">
            <a:avLst/>
          </a:prstGeom>
          <a:noFill/>
          <a:ln/>
        </p:spPr>
        <p:txBody>
          <a:bodyPr wrap="none" lIns="0" tIns="0" rIns="0" bIns="0" rtlCol="0" anchor="t"/>
          <a:lstStyle/>
          <a:p>
            <a:pPr algn="l" indent="0" marL="0">
              <a:lnSpc>
                <a:spcPts val="3800"/>
              </a:lnSpc>
              <a:buNone/>
            </a:pPr>
            <a:r>
              <a:rPr lang="en-US" sz="3000" dirty="0">
                <a:solidFill>
                  <a:srgbClr val="2E3C4E"/>
                </a:solidFill>
                <a:latin typeface="Host Grotesk Medium" pitchFamily="34" charset="0"/>
                <a:ea typeface="Host Grotesk Medium" pitchFamily="34" charset="-122"/>
                <a:cs typeface="Host Grotesk Medium" pitchFamily="34" charset="-120"/>
              </a:rPr>
              <a:t>Dictionary Subtraction for Spellchecking</a:t>
            </a:r>
            <a:endParaRPr lang="en-US" sz="3000" dirty="0"/>
          </a:p>
        </p:txBody>
      </p:sp>
      <p:sp>
        <p:nvSpPr>
          <p:cNvPr id="3" name="Text 1"/>
          <p:cNvSpPr/>
          <p:nvPr/>
        </p:nvSpPr>
        <p:spPr>
          <a:xfrm>
            <a:off x="1197293" y="1403866"/>
            <a:ext cx="12235696"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Identify potential misspellings by finding words present in the book but absent from a valid word list.</a:t>
            </a:r>
            <a:endParaRPr lang="en-US" sz="1500" dirty="0"/>
          </a:p>
        </p:txBody>
      </p:sp>
      <p:sp>
        <p:nvSpPr>
          <p:cNvPr id="4" name="Text 2"/>
          <p:cNvSpPr/>
          <p:nvPr/>
        </p:nvSpPr>
        <p:spPr>
          <a:xfrm>
            <a:off x="1197293" y="2104906"/>
            <a:ext cx="2901672" cy="362664"/>
          </a:xfrm>
          <a:prstGeom prst="rect">
            <a:avLst/>
          </a:prstGeom>
          <a:noFill/>
          <a:ln/>
        </p:spPr>
        <p:txBody>
          <a:bodyPr wrap="none" lIns="0" tIns="0" rIns="0" bIns="0" rtlCol="0" anchor="t"/>
          <a:lstStyle/>
          <a:p>
            <a:pPr algn="l" indent="0" marL="0">
              <a:lnSpc>
                <a:spcPts val="2850"/>
              </a:lnSpc>
              <a:buNone/>
            </a:pPr>
            <a:r>
              <a:rPr lang="en-US" sz="2250" dirty="0">
                <a:solidFill>
                  <a:srgbClr val="2E3C4E"/>
                </a:solidFill>
                <a:latin typeface="Host Grotesk Medium" pitchFamily="34" charset="0"/>
                <a:ea typeface="Host Grotesk Medium" pitchFamily="34" charset="-122"/>
                <a:cs typeface="Host Grotesk Medium" pitchFamily="34" charset="-120"/>
              </a:rPr>
              <a:t>Preparing Word Lists</a:t>
            </a:r>
            <a:endParaRPr lang="en-US" sz="2250" dirty="0"/>
          </a:p>
        </p:txBody>
      </p:sp>
      <p:sp>
        <p:nvSpPr>
          <p:cNvPr id="5" name="Text 3"/>
          <p:cNvSpPr/>
          <p:nvPr/>
        </p:nvSpPr>
        <p:spPr>
          <a:xfrm>
            <a:off x="1197293" y="2660928"/>
            <a:ext cx="5881807" cy="587931"/>
          </a:xfrm>
          <a:prstGeom prst="rect">
            <a:avLst/>
          </a:prstGeom>
          <a:noFill/>
          <a:ln/>
        </p:spPr>
        <p:txBody>
          <a:bodyPr wrap="square" lIns="0" tIns="0" rIns="0" bIns="0" rtlCol="0" anchor="t"/>
          <a:lstStyle/>
          <a:p>
            <a:pPr algn="l" marL="342900" indent="-342900">
              <a:lnSpc>
                <a:spcPts val="2250"/>
              </a:lnSpc>
              <a:buSzPct val="100000"/>
              <a:buChar char="•"/>
            </a:pPr>
            <a:r>
              <a:rPr lang="en-US" sz="1500" b="1" dirty="0">
                <a:solidFill>
                  <a:srgbClr val="384653"/>
                </a:solidFill>
                <a:latin typeface="Roboto" pitchFamily="34" charset="0"/>
                <a:ea typeface="Roboto" pitchFamily="34" charset="-122"/>
                <a:cs typeface="Roboto" pitchFamily="34" charset="-120"/>
              </a:rPr>
              <a:t>Valid Words: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Load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words.txt</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into a dictionary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valid_words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for quick lookup.</a:t>
            </a:r>
            <a:endParaRPr lang="en-US" sz="1500" dirty="0"/>
          </a:p>
        </p:txBody>
      </p:sp>
      <p:sp>
        <p:nvSpPr>
          <p:cNvPr id="6" name="Text 4"/>
          <p:cNvSpPr/>
          <p:nvPr/>
        </p:nvSpPr>
        <p:spPr>
          <a:xfrm>
            <a:off x="1197293" y="3316486"/>
            <a:ext cx="5881807" cy="297775"/>
          </a:xfrm>
          <a:prstGeom prst="rect">
            <a:avLst/>
          </a:prstGeom>
          <a:noFill/>
          <a:ln/>
        </p:spPr>
        <p:txBody>
          <a:bodyPr wrap="none" lIns="0" tIns="0" rIns="0" bIns="0" rtlCol="0" anchor="t"/>
          <a:lstStyle/>
          <a:p>
            <a:pPr algn="l" marL="342900" indent="-342900">
              <a:lnSpc>
                <a:spcPts val="2250"/>
              </a:lnSpc>
              <a:buSzPct val="100000"/>
              <a:buChar char="•"/>
            </a:pPr>
            <a:r>
              <a:rPr lang="en-US" sz="1500" b="1" dirty="0">
                <a:solidFill>
                  <a:srgbClr val="384653"/>
                </a:solidFill>
                <a:latin typeface="Roboto" pitchFamily="34" charset="0"/>
                <a:ea typeface="Roboto" pitchFamily="34" charset="-122"/>
                <a:cs typeface="Roboto" pitchFamily="34" charset="-120"/>
              </a:rPr>
              <a:t>Book Words: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Use our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word_counter</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from the previous step.</a:t>
            </a:r>
            <a:endParaRPr lang="en-US" sz="1500" dirty="0"/>
          </a:p>
        </p:txBody>
      </p:sp>
      <p:sp>
        <p:nvSpPr>
          <p:cNvPr id="7" name="Text 5"/>
          <p:cNvSpPr/>
          <p:nvPr/>
        </p:nvSpPr>
        <p:spPr>
          <a:xfrm>
            <a:off x="1197293" y="3807619"/>
            <a:ext cx="2901672" cy="393144"/>
          </a:xfrm>
          <a:prstGeom prst="rect">
            <a:avLst/>
          </a:prstGeom>
          <a:noFill/>
          <a:ln/>
        </p:spPr>
        <p:txBody>
          <a:bodyPr wrap="none" lIns="0" tIns="0" rIns="0" bIns="0" rtlCol="0" anchor="t"/>
          <a:lstStyle/>
          <a:p>
            <a:pPr algn="l" indent="0" marL="0">
              <a:lnSpc>
                <a:spcPts val="2850"/>
              </a:lnSpc>
              <a:buNone/>
            </a:pPr>
            <a:r>
              <a:rPr lang="en-US" sz="2250" dirty="0">
                <a:solidFill>
                  <a:srgbClr val="384653"/>
                </a:solidFill>
                <a:highlight>
                  <a:srgbClr val="EDECE8"/>
                </a:highlight>
                <a:latin typeface="Consolas" pitchFamily="34" charset="0"/>
                <a:ea typeface="Consolas" pitchFamily="34" charset="-122"/>
                <a:cs typeface="Consolas" pitchFamily="34" charset="-120"/>
              </a:rPr>
              <a:t>subtract</a:t>
            </a:r>
            <a:pPr algn="l" indent="0" marL="0">
              <a:lnSpc>
                <a:spcPts val="2850"/>
              </a:lnSpc>
              <a:buNone/>
            </a:pPr>
            <a:r>
              <a:rPr lang="en-US" sz="2250" dirty="0">
                <a:solidFill>
                  <a:srgbClr val="2E3C4E"/>
                </a:solidFill>
                <a:latin typeface="Host Grotesk Medium" pitchFamily="34" charset="0"/>
                <a:ea typeface="Host Grotesk Medium" pitchFamily="34" charset="-122"/>
                <a:cs typeface="Host Grotesk Medium" pitchFamily="34" charset="-120"/>
              </a:rPr>
              <a:t> Function</a:t>
            </a:r>
            <a:endParaRPr lang="en-US" sz="2250" dirty="0"/>
          </a:p>
        </p:txBody>
      </p:sp>
      <p:sp>
        <p:nvSpPr>
          <p:cNvPr id="8" name="Shape 6"/>
          <p:cNvSpPr/>
          <p:nvPr/>
        </p:nvSpPr>
        <p:spPr>
          <a:xfrm>
            <a:off x="1197293" y="4418290"/>
            <a:ext cx="5881807" cy="2321123"/>
          </a:xfrm>
          <a:prstGeom prst="roundRect">
            <a:avLst>
              <a:gd name="adj" fmla="val 3500"/>
            </a:avLst>
          </a:prstGeom>
          <a:solidFill>
            <a:srgbClr val="EDECE8"/>
          </a:solidFill>
          <a:ln/>
        </p:spPr>
      </p:sp>
      <p:sp>
        <p:nvSpPr>
          <p:cNvPr id="9" name="Shape 7"/>
          <p:cNvSpPr/>
          <p:nvPr/>
        </p:nvSpPr>
        <p:spPr>
          <a:xfrm>
            <a:off x="1187648" y="4418290"/>
            <a:ext cx="5901095" cy="2321123"/>
          </a:xfrm>
          <a:prstGeom prst="roundRect">
            <a:avLst>
              <a:gd name="adj" fmla="val 1250"/>
            </a:avLst>
          </a:prstGeom>
          <a:solidFill>
            <a:srgbClr val="EDECE8"/>
          </a:solidFill>
          <a:ln/>
        </p:spPr>
      </p:sp>
      <p:sp>
        <p:nvSpPr>
          <p:cNvPr id="10" name="Text 8"/>
          <p:cNvSpPr/>
          <p:nvPr/>
        </p:nvSpPr>
        <p:spPr>
          <a:xfrm>
            <a:off x="1381006" y="4563308"/>
            <a:ext cx="5514380" cy="2031087"/>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def subtract(d1, d2):
  res = {}
  for key in d1:
    if key not in d2:
      res[key] = d1[key]
  return res
</a:t>
            </a:r>
            <a:endParaRPr lang="en-US" sz="1500" dirty="0"/>
          </a:p>
        </p:txBody>
      </p:sp>
      <p:sp>
        <p:nvSpPr>
          <p:cNvPr id="11" name="Text 9"/>
          <p:cNvSpPr/>
          <p:nvPr/>
        </p:nvSpPr>
        <p:spPr>
          <a:xfrm>
            <a:off x="7558683" y="2104906"/>
            <a:ext cx="2901672" cy="362664"/>
          </a:xfrm>
          <a:prstGeom prst="rect">
            <a:avLst/>
          </a:prstGeom>
          <a:noFill/>
          <a:ln/>
        </p:spPr>
        <p:txBody>
          <a:bodyPr wrap="none" lIns="0" tIns="0" rIns="0" bIns="0" rtlCol="0" anchor="t"/>
          <a:lstStyle/>
          <a:p>
            <a:pPr algn="l" indent="0" marL="0">
              <a:lnSpc>
                <a:spcPts val="2850"/>
              </a:lnSpc>
              <a:buNone/>
            </a:pPr>
            <a:r>
              <a:rPr lang="en-US" sz="2250" dirty="0">
                <a:solidFill>
                  <a:srgbClr val="2E3C4E"/>
                </a:solidFill>
                <a:latin typeface="Host Grotesk Medium" pitchFamily="34" charset="0"/>
                <a:ea typeface="Host Grotesk Medium" pitchFamily="34" charset="-122"/>
                <a:cs typeface="Host Grotesk Medium" pitchFamily="34" charset="-120"/>
              </a:rPr>
              <a:t>Applying Subtraction</a:t>
            </a:r>
            <a:endParaRPr lang="en-US" sz="2250" dirty="0"/>
          </a:p>
        </p:txBody>
      </p:sp>
      <p:sp>
        <p:nvSpPr>
          <p:cNvPr id="12" name="Text 10"/>
          <p:cNvSpPr/>
          <p:nvPr/>
        </p:nvSpPr>
        <p:spPr>
          <a:xfrm>
            <a:off x="7558683" y="2660928"/>
            <a:ext cx="5881807" cy="587931"/>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diff = subtract(word_counter, valid_words)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yields words unique to the book.</a:t>
            </a:r>
            <a:endParaRPr lang="en-US" sz="1500" dirty="0"/>
          </a:p>
        </p:txBody>
      </p:sp>
      <p:sp>
        <p:nvSpPr>
          <p:cNvPr id="13" name="Text 11"/>
          <p:cNvSpPr/>
          <p:nvPr/>
        </p:nvSpPr>
        <p:spPr>
          <a:xfrm>
            <a:off x="7558683" y="3442216"/>
            <a:ext cx="2901672" cy="362664"/>
          </a:xfrm>
          <a:prstGeom prst="rect">
            <a:avLst/>
          </a:prstGeom>
          <a:noFill/>
          <a:ln/>
        </p:spPr>
        <p:txBody>
          <a:bodyPr wrap="none" lIns="0" tIns="0" rIns="0" bIns="0" rtlCol="0" anchor="t"/>
          <a:lstStyle/>
          <a:p>
            <a:pPr algn="l" indent="0" marL="0">
              <a:lnSpc>
                <a:spcPts val="2850"/>
              </a:lnSpc>
              <a:buNone/>
            </a:pPr>
            <a:r>
              <a:rPr lang="en-US" sz="2250" dirty="0">
                <a:solidFill>
                  <a:srgbClr val="2E3C4E"/>
                </a:solidFill>
                <a:latin typeface="Host Grotesk Medium" pitchFamily="34" charset="0"/>
                <a:ea typeface="Host Grotesk Medium" pitchFamily="34" charset="-122"/>
                <a:cs typeface="Host Grotesk Medium" pitchFamily="34" charset="-120"/>
              </a:rPr>
              <a:t>Initial "Misspellings"</a:t>
            </a:r>
            <a:endParaRPr lang="en-US" sz="2250" dirty="0"/>
          </a:p>
        </p:txBody>
      </p:sp>
      <p:sp>
        <p:nvSpPr>
          <p:cNvPr id="14" name="Shape 12"/>
          <p:cNvSpPr/>
          <p:nvPr/>
        </p:nvSpPr>
        <p:spPr>
          <a:xfrm>
            <a:off x="7558683" y="4022408"/>
            <a:ext cx="5881807" cy="2701885"/>
          </a:xfrm>
          <a:prstGeom prst="roundRect">
            <a:avLst>
              <a:gd name="adj" fmla="val 3007"/>
            </a:avLst>
          </a:prstGeom>
          <a:noFill/>
          <a:ln w="7620">
            <a:solidFill>
              <a:srgbClr val="000000">
                <a:alpha val="8000"/>
              </a:srgbClr>
            </a:solidFill>
            <a:prstDash val="solid"/>
          </a:ln>
        </p:spPr>
      </p:sp>
      <p:sp>
        <p:nvSpPr>
          <p:cNvPr id="15" name="Shape 13"/>
          <p:cNvSpPr/>
          <p:nvPr/>
        </p:nvSpPr>
        <p:spPr>
          <a:xfrm>
            <a:off x="7566303" y="4030027"/>
            <a:ext cx="5866567" cy="537329"/>
          </a:xfrm>
          <a:prstGeom prst="rect">
            <a:avLst/>
          </a:prstGeom>
          <a:solidFill>
            <a:srgbClr val="FFFFFF">
              <a:alpha val="4000"/>
            </a:srgbClr>
          </a:solidFill>
          <a:ln/>
        </p:spPr>
      </p:sp>
      <p:sp>
        <p:nvSpPr>
          <p:cNvPr id="16" name="Text 14"/>
          <p:cNvSpPr/>
          <p:nvPr/>
        </p:nvSpPr>
        <p:spPr>
          <a:xfrm>
            <a:off x="7759779" y="4153614"/>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640</a:t>
            </a:r>
            <a:endParaRPr lang="en-US" sz="1500" dirty="0"/>
          </a:p>
        </p:txBody>
      </p:sp>
      <p:sp>
        <p:nvSpPr>
          <p:cNvPr id="17" name="Text 15"/>
          <p:cNvSpPr/>
          <p:nvPr/>
        </p:nvSpPr>
        <p:spPr>
          <a:xfrm>
            <a:off x="10696813" y="4153614"/>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i</a:t>
            </a:r>
            <a:endParaRPr lang="en-US" sz="1500" dirty="0"/>
          </a:p>
        </p:txBody>
      </p:sp>
      <p:sp>
        <p:nvSpPr>
          <p:cNvPr id="18" name="Shape 16"/>
          <p:cNvSpPr/>
          <p:nvPr/>
        </p:nvSpPr>
        <p:spPr>
          <a:xfrm>
            <a:off x="7566303" y="4567357"/>
            <a:ext cx="5866567" cy="537329"/>
          </a:xfrm>
          <a:prstGeom prst="rect">
            <a:avLst/>
          </a:prstGeom>
          <a:solidFill>
            <a:srgbClr val="000000">
              <a:alpha val="4000"/>
            </a:srgbClr>
          </a:solidFill>
          <a:ln/>
        </p:spPr>
      </p:sp>
      <p:sp>
        <p:nvSpPr>
          <p:cNvPr id="19" name="Text 17"/>
          <p:cNvSpPr/>
          <p:nvPr/>
        </p:nvSpPr>
        <p:spPr>
          <a:xfrm>
            <a:off x="7759779" y="4690943"/>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628</a:t>
            </a:r>
            <a:endParaRPr lang="en-US" sz="1500" dirty="0"/>
          </a:p>
        </p:txBody>
      </p:sp>
      <p:sp>
        <p:nvSpPr>
          <p:cNvPr id="20" name="Text 18"/>
          <p:cNvSpPr/>
          <p:nvPr/>
        </p:nvSpPr>
        <p:spPr>
          <a:xfrm>
            <a:off x="10696813" y="4690943"/>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a</a:t>
            </a:r>
            <a:endParaRPr lang="en-US" sz="1500" dirty="0"/>
          </a:p>
        </p:txBody>
      </p:sp>
      <p:sp>
        <p:nvSpPr>
          <p:cNvPr id="21" name="Shape 19"/>
          <p:cNvSpPr/>
          <p:nvPr/>
        </p:nvSpPr>
        <p:spPr>
          <a:xfrm>
            <a:off x="7566303" y="5104686"/>
            <a:ext cx="5866567" cy="537329"/>
          </a:xfrm>
          <a:prstGeom prst="rect">
            <a:avLst/>
          </a:prstGeom>
          <a:solidFill>
            <a:srgbClr val="FFFFFF">
              <a:alpha val="4000"/>
            </a:srgbClr>
          </a:solidFill>
          <a:ln/>
        </p:spPr>
      </p:sp>
      <p:sp>
        <p:nvSpPr>
          <p:cNvPr id="22" name="Text 20"/>
          <p:cNvSpPr/>
          <p:nvPr/>
        </p:nvSpPr>
        <p:spPr>
          <a:xfrm>
            <a:off x="7759779" y="5228273"/>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128</a:t>
            </a:r>
            <a:endParaRPr lang="en-US" sz="1500" dirty="0"/>
          </a:p>
        </p:txBody>
      </p:sp>
      <p:sp>
        <p:nvSpPr>
          <p:cNvPr id="23" name="Text 21"/>
          <p:cNvSpPr/>
          <p:nvPr/>
        </p:nvSpPr>
        <p:spPr>
          <a:xfrm>
            <a:off x="10696813" y="5228273"/>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utterson</a:t>
            </a:r>
            <a:endParaRPr lang="en-US" sz="1500" dirty="0"/>
          </a:p>
        </p:txBody>
      </p:sp>
      <p:sp>
        <p:nvSpPr>
          <p:cNvPr id="24" name="Shape 22"/>
          <p:cNvSpPr/>
          <p:nvPr/>
        </p:nvSpPr>
        <p:spPr>
          <a:xfrm>
            <a:off x="7566303" y="5642015"/>
            <a:ext cx="5866567" cy="537329"/>
          </a:xfrm>
          <a:prstGeom prst="rect">
            <a:avLst/>
          </a:prstGeom>
          <a:solidFill>
            <a:srgbClr val="000000">
              <a:alpha val="4000"/>
            </a:srgbClr>
          </a:solidFill>
          <a:ln/>
        </p:spPr>
      </p:sp>
      <p:sp>
        <p:nvSpPr>
          <p:cNvPr id="25" name="Text 23"/>
          <p:cNvSpPr/>
          <p:nvPr/>
        </p:nvSpPr>
        <p:spPr>
          <a:xfrm>
            <a:off x="7759779" y="5765602"/>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124</a:t>
            </a:r>
            <a:endParaRPr lang="en-US" sz="1500" dirty="0"/>
          </a:p>
        </p:txBody>
      </p:sp>
      <p:sp>
        <p:nvSpPr>
          <p:cNvPr id="26" name="Text 24"/>
          <p:cNvSpPr/>
          <p:nvPr/>
        </p:nvSpPr>
        <p:spPr>
          <a:xfrm>
            <a:off x="10696813" y="5765602"/>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mr</a:t>
            </a:r>
            <a:endParaRPr lang="en-US" sz="1500" dirty="0"/>
          </a:p>
        </p:txBody>
      </p:sp>
      <p:sp>
        <p:nvSpPr>
          <p:cNvPr id="27" name="Shape 25"/>
          <p:cNvSpPr/>
          <p:nvPr/>
        </p:nvSpPr>
        <p:spPr>
          <a:xfrm>
            <a:off x="7566303" y="6179344"/>
            <a:ext cx="5866567" cy="537329"/>
          </a:xfrm>
          <a:prstGeom prst="rect">
            <a:avLst/>
          </a:prstGeom>
          <a:solidFill>
            <a:srgbClr val="FFFFFF">
              <a:alpha val="4000"/>
            </a:srgbClr>
          </a:solidFill>
          <a:ln/>
        </p:spPr>
      </p:sp>
      <p:sp>
        <p:nvSpPr>
          <p:cNvPr id="28" name="Text 26"/>
          <p:cNvSpPr/>
          <p:nvPr/>
        </p:nvSpPr>
        <p:spPr>
          <a:xfrm>
            <a:off x="7759779" y="6302931"/>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98</a:t>
            </a:r>
            <a:endParaRPr lang="en-US" sz="1500" dirty="0"/>
          </a:p>
        </p:txBody>
      </p:sp>
      <p:sp>
        <p:nvSpPr>
          <p:cNvPr id="29" name="Text 27"/>
          <p:cNvSpPr/>
          <p:nvPr/>
        </p:nvSpPr>
        <p:spPr>
          <a:xfrm>
            <a:off x="10696813" y="6302931"/>
            <a:ext cx="2542699" cy="29015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hyde</a:t>
            </a:r>
            <a:endParaRPr lang="en-US" sz="1500" dirty="0"/>
          </a:p>
        </p:txBody>
      </p:sp>
      <p:sp>
        <p:nvSpPr>
          <p:cNvPr id="30" name="Text 28"/>
          <p:cNvSpPr/>
          <p:nvPr/>
        </p:nvSpPr>
        <p:spPr>
          <a:xfrm>
            <a:off x="7558683" y="6941820"/>
            <a:ext cx="5881807" cy="580311"/>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Many common "misspellings" are actually proper nouns or single-letter words.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22828"/>
            <a:ext cx="8383191"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Pinpointing Actual Errors with Singletons</a:t>
            </a:r>
            <a:endParaRPr lang="en-US" sz="3550" dirty="0"/>
          </a:p>
        </p:txBody>
      </p:sp>
      <p:sp>
        <p:nvSpPr>
          <p:cNvPr id="3" name="Text 1"/>
          <p:cNvSpPr/>
          <p:nvPr/>
        </p:nvSpPr>
        <p:spPr>
          <a:xfrm>
            <a:off x="793790" y="1743432"/>
            <a:ext cx="13042821" cy="34778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Focusing on words that appear only once in 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diff</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list increases the likelihood of finding genuine misspellings.</a:t>
            </a:r>
            <a:endParaRPr lang="en-US" sz="1750" dirty="0"/>
          </a:p>
        </p:txBody>
      </p:sp>
      <p:sp>
        <p:nvSpPr>
          <p:cNvPr id="4" name="Text 2"/>
          <p:cNvSpPr/>
          <p:nvPr/>
        </p:nvSpPr>
        <p:spPr>
          <a:xfrm>
            <a:off x="1743789" y="4035862"/>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Filter by Frequency</a:t>
            </a:r>
            <a:endParaRPr lang="en-US" sz="2200" dirty="0"/>
          </a:p>
        </p:txBody>
      </p:sp>
      <p:sp>
        <p:nvSpPr>
          <p:cNvPr id="5" name="Text 3"/>
          <p:cNvSpPr/>
          <p:nvPr/>
        </p:nvSpPr>
        <p:spPr>
          <a:xfrm>
            <a:off x="793790" y="4526280"/>
            <a:ext cx="3785235" cy="695563"/>
          </a:xfrm>
          <a:prstGeom prst="rect">
            <a:avLst/>
          </a:prstGeom>
          <a:noFill/>
          <a:ln/>
        </p:spPr>
        <p:txBody>
          <a:bodyPr wrap="square" lIns="0" tIns="0" rIns="0" bIns="0" rtlCol="0" anchor="t"/>
          <a:lstStyle/>
          <a:p>
            <a:pPr algn="r" indent="0" marL="0">
              <a:lnSpc>
                <a:spcPts val="2650"/>
              </a:lnSpc>
              <a:buNone/>
            </a:pPr>
            <a:r>
              <a:rPr lang="en-US" sz="1750" dirty="0">
                <a:solidFill>
                  <a:srgbClr val="384653"/>
                </a:solidFill>
                <a:latin typeface="Roboto" pitchFamily="34" charset="0"/>
                <a:ea typeface="Roboto" pitchFamily="34" charset="-122"/>
                <a:cs typeface="Roboto" pitchFamily="34" charset="-120"/>
              </a:rPr>
              <a:t>Create a list (</a:t>
            </a:r>
            <a:pPr algn="r"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singletons</a:t>
            </a:r>
            <a:pPr algn="r" indent="0" marL="0">
              <a:lnSpc>
                <a:spcPts val="2650"/>
              </a:lnSpc>
              <a:buNone/>
            </a:pPr>
            <a:r>
              <a:rPr lang="en-US" sz="1750" dirty="0">
                <a:solidFill>
                  <a:srgbClr val="384653"/>
                </a:solidFill>
                <a:latin typeface="Roboto" pitchFamily="34" charset="0"/>
                <a:ea typeface="Roboto" pitchFamily="34" charset="-122"/>
                <a:cs typeface="Roboto" pitchFamily="34" charset="-120"/>
              </a:rPr>
              <a:t>) containing words from </a:t>
            </a:r>
            <a:pPr algn="r"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diff</a:t>
            </a:r>
            <a:pPr algn="r" indent="0" marL="0">
              <a:lnSpc>
                <a:spcPts val="2650"/>
              </a:lnSpc>
              <a:buNone/>
            </a:pPr>
            <a:r>
              <a:rPr lang="en-US" sz="1750" dirty="0">
                <a:solidFill>
                  <a:srgbClr val="384653"/>
                </a:solidFill>
                <a:latin typeface="Roboto" pitchFamily="34" charset="0"/>
                <a:ea typeface="Roboto" pitchFamily="34" charset="-122"/>
                <a:cs typeface="Roboto" pitchFamily="34" charset="-120"/>
              </a:rPr>
              <a:t> with a frequency of 1.</a:t>
            </a:r>
            <a:endParaRPr lang="en-US" sz="1750" dirty="0"/>
          </a:p>
        </p:txBody>
      </p:sp>
      <p:pic>
        <p:nvPicPr>
          <p:cNvPr id="6" name="Image 0" descr="preencoded.png">    </p:cNvPr>
          <p:cNvPicPr>
            <a:picLocks noChangeAspect="1"/>
          </p:cNvPicPr>
          <p:nvPr/>
        </p:nvPicPr>
        <p:blipFill>
          <a:blip r:embed="rId1"/>
          <a:stretch>
            <a:fillRect/>
          </a:stretch>
        </p:blipFill>
        <p:spPr>
          <a:xfrm>
            <a:off x="5032653" y="2346365"/>
            <a:ext cx="4564975" cy="4564975"/>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80033" y="4469249"/>
            <a:ext cx="318968" cy="318968"/>
          </a:xfrm>
          <a:prstGeom prst="rect">
            <a:avLst/>
          </a:prstGeom>
        </p:spPr>
      </p:pic>
      <p:sp>
        <p:nvSpPr>
          <p:cNvPr id="8" name="Text 4"/>
          <p:cNvSpPr/>
          <p:nvPr/>
        </p:nvSpPr>
        <p:spPr>
          <a:xfrm>
            <a:off x="9597628" y="28133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Increased Accuracy</a:t>
            </a:r>
            <a:endParaRPr lang="en-US" sz="2200" dirty="0"/>
          </a:p>
        </p:txBody>
      </p:sp>
      <p:sp>
        <p:nvSpPr>
          <p:cNvPr id="9" name="Text 5"/>
          <p:cNvSpPr/>
          <p:nvPr/>
        </p:nvSpPr>
        <p:spPr>
          <a:xfrm>
            <a:off x="9597628" y="3303746"/>
            <a:ext cx="4238982"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Singletons are more likely to be actual typos or unique vocabulary.</a:t>
            </a:r>
            <a:endParaRPr lang="en-US" sz="1750" dirty="0"/>
          </a:p>
        </p:txBody>
      </p:sp>
      <p:pic>
        <p:nvPicPr>
          <p:cNvPr id="10" name="Image 2" descr="preencoded.png">    </p:cNvPr>
          <p:cNvPicPr>
            <a:picLocks noChangeAspect="1"/>
          </p:cNvPicPr>
          <p:nvPr/>
        </p:nvPicPr>
        <p:blipFill>
          <a:blip r:embed="rId4"/>
          <a:stretch>
            <a:fillRect/>
          </a:stretch>
        </p:blipFill>
        <p:spPr>
          <a:xfrm>
            <a:off x="5032653" y="2346365"/>
            <a:ext cx="4564975" cy="4564975"/>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3230" y="3451265"/>
            <a:ext cx="318968" cy="318968"/>
          </a:xfrm>
          <a:prstGeom prst="rect">
            <a:avLst/>
          </a:prstGeom>
        </p:spPr>
      </p:pic>
      <p:sp>
        <p:nvSpPr>
          <p:cNvPr id="12" name="Text 6"/>
          <p:cNvSpPr/>
          <p:nvPr/>
        </p:nvSpPr>
        <p:spPr>
          <a:xfrm>
            <a:off x="9597628" y="52582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Example Discrepancy</a:t>
            </a:r>
            <a:endParaRPr lang="en-US" sz="2200" dirty="0"/>
          </a:p>
        </p:txBody>
      </p:sp>
      <p:sp>
        <p:nvSpPr>
          <p:cNvPr id="13" name="Text 7"/>
          <p:cNvSpPr/>
          <p:nvPr/>
        </p:nvSpPr>
        <p:spPr>
          <a:xfrm>
            <a:off x="9597628" y="5748695"/>
            <a:ext cx="4238982" cy="69556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'reindue'</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is found, suggesting a misspelling of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'reinduce'</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
            </a:r>
            <a:endParaRPr lang="en-US" sz="1750" dirty="0"/>
          </a:p>
        </p:txBody>
      </p:sp>
      <p:pic>
        <p:nvPicPr>
          <p:cNvPr id="14" name="Image 4" descr="preencoded.png">    </p:cNvPr>
          <p:cNvPicPr>
            <a:picLocks noChangeAspect="1"/>
          </p:cNvPicPr>
          <p:nvPr/>
        </p:nvPicPr>
        <p:blipFill>
          <a:blip r:embed="rId7"/>
          <a:stretch>
            <a:fillRect/>
          </a:stretch>
        </p:blipFill>
        <p:spPr>
          <a:xfrm>
            <a:off x="5032653" y="2346365"/>
            <a:ext cx="4564975" cy="4564975"/>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43230" y="5487233"/>
            <a:ext cx="318968" cy="318968"/>
          </a:xfrm>
          <a:prstGeom prst="rect">
            <a:avLst/>
          </a:prstGeom>
        </p:spPr>
      </p:pic>
      <p:sp>
        <p:nvSpPr>
          <p:cNvPr id="16" name="Text 8"/>
          <p:cNvSpPr/>
          <p:nvPr/>
        </p:nvSpPr>
        <p:spPr>
          <a:xfrm>
            <a:off x="793790" y="7166491"/>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This systematic approach helps in identifying valid words not in the standard list versus actual errors.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761530" y="614243"/>
            <a:ext cx="6039564" cy="548640"/>
          </a:xfrm>
          <a:prstGeom prst="rect">
            <a:avLst/>
          </a:prstGeom>
          <a:noFill/>
          <a:ln/>
        </p:spPr>
        <p:txBody>
          <a:bodyPr wrap="none" lIns="0" tIns="0" rIns="0" bIns="0" rtlCol="0" anchor="t"/>
          <a:lstStyle/>
          <a:p>
            <a:pPr algn="l" indent="0" marL="0">
              <a:lnSpc>
                <a:spcPts val="4300"/>
              </a:lnSpc>
              <a:buNone/>
            </a:pPr>
            <a:r>
              <a:rPr lang="en-US" sz="3450" dirty="0">
                <a:solidFill>
                  <a:srgbClr val="2E3C4E"/>
                </a:solidFill>
                <a:latin typeface="Host Grotesk Medium" pitchFamily="34" charset="0"/>
                <a:ea typeface="Host Grotesk Medium" pitchFamily="34" charset="-122"/>
                <a:cs typeface="Host Grotesk Medium" pitchFamily="34" charset="-120"/>
              </a:rPr>
              <a:t>Introduction to Markov Chains</a:t>
            </a:r>
            <a:endParaRPr lang="en-US" sz="3450" dirty="0"/>
          </a:p>
        </p:txBody>
      </p:sp>
      <p:sp>
        <p:nvSpPr>
          <p:cNvPr id="3" name="Text 1"/>
          <p:cNvSpPr/>
          <p:nvPr/>
        </p:nvSpPr>
        <p:spPr>
          <a:xfrm>
            <a:off x="1761530" y="1513999"/>
            <a:ext cx="11107222" cy="526733"/>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A Markov chain models a sequence of events where the probability of the next event depends only on the current state, not on the entire history of preceding events. This "memoryless" property makes them powerful tools for predicting future states based on immediate predecessors.</a:t>
            </a:r>
            <a:endParaRPr lang="en-US" sz="1350" dirty="0"/>
          </a:p>
        </p:txBody>
      </p:sp>
      <p:sp>
        <p:nvSpPr>
          <p:cNvPr id="4" name="Text 2"/>
          <p:cNvSpPr/>
          <p:nvPr/>
        </p:nvSpPr>
        <p:spPr>
          <a:xfrm>
            <a:off x="1761530" y="2413754"/>
            <a:ext cx="3381137" cy="329208"/>
          </a:xfrm>
          <a:prstGeom prst="rect">
            <a:avLst/>
          </a:prstGeom>
          <a:noFill/>
          <a:ln/>
        </p:spPr>
        <p:txBody>
          <a:bodyPr wrap="none" lIns="0" tIns="0" rIns="0" bIns="0" rtlCol="0" anchor="t"/>
          <a:lstStyle/>
          <a:p>
            <a:pPr algn="l" indent="0" marL="0">
              <a:lnSpc>
                <a:spcPts val="2550"/>
              </a:lnSpc>
              <a:buNone/>
            </a:pPr>
            <a:r>
              <a:rPr lang="en-US" sz="2050" dirty="0">
                <a:solidFill>
                  <a:srgbClr val="2E3C4E"/>
                </a:solidFill>
                <a:latin typeface="Host Grotesk Medium" pitchFamily="34" charset="0"/>
                <a:ea typeface="Host Grotesk Medium" pitchFamily="34" charset="-122"/>
                <a:cs typeface="Host Grotesk Medium" pitchFamily="34" charset="-120"/>
              </a:rPr>
              <a:t>Applying to Text Generation</a:t>
            </a:r>
            <a:endParaRPr lang="en-US" sz="2050" dirty="0"/>
          </a:p>
        </p:txBody>
      </p:sp>
      <p:sp>
        <p:nvSpPr>
          <p:cNvPr id="5" name="Text 3"/>
          <p:cNvSpPr/>
          <p:nvPr/>
        </p:nvSpPr>
        <p:spPr>
          <a:xfrm>
            <a:off x="1761530" y="2918460"/>
            <a:ext cx="5339358" cy="1316831"/>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In text generation, each word in a sequence can be considered a "state." A Markov chain can predict the next word based solely on the current word, by analyzing how frequently words follow each other in a given text corpus. This allows for the creation of new text that maintains some statistical coherence with the original source.</a:t>
            </a:r>
            <a:endParaRPr lang="en-US" sz="1350" dirty="0"/>
          </a:p>
        </p:txBody>
      </p:sp>
      <p:sp>
        <p:nvSpPr>
          <p:cNvPr id="6" name="Text 4"/>
          <p:cNvSpPr/>
          <p:nvPr/>
        </p:nvSpPr>
        <p:spPr>
          <a:xfrm>
            <a:off x="1761530" y="4393287"/>
            <a:ext cx="5339358" cy="526733"/>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By building a dictionary of word transitions, we can map each word to the words that appear after it, along with their frequencies.</a:t>
            </a:r>
            <a:endParaRPr lang="en-US" sz="1350" dirty="0"/>
          </a:p>
        </p:txBody>
      </p:sp>
      <p:sp>
        <p:nvSpPr>
          <p:cNvPr id="7" name="Text 5"/>
          <p:cNvSpPr/>
          <p:nvPr/>
        </p:nvSpPr>
        <p:spPr>
          <a:xfrm>
            <a:off x="7536894" y="2413754"/>
            <a:ext cx="4433054" cy="329208"/>
          </a:xfrm>
          <a:prstGeom prst="rect">
            <a:avLst/>
          </a:prstGeom>
          <a:noFill/>
          <a:ln/>
        </p:spPr>
        <p:txBody>
          <a:bodyPr wrap="none" lIns="0" tIns="0" rIns="0" bIns="0" rtlCol="0" anchor="t"/>
          <a:lstStyle/>
          <a:p>
            <a:pPr algn="l" indent="0" marL="0">
              <a:lnSpc>
                <a:spcPts val="2550"/>
              </a:lnSpc>
              <a:buNone/>
            </a:pPr>
            <a:r>
              <a:rPr lang="en-US" sz="2050" dirty="0">
                <a:solidFill>
                  <a:srgbClr val="2E3C4E"/>
                </a:solidFill>
                <a:latin typeface="Host Grotesk Medium" pitchFamily="34" charset="0"/>
                <a:ea typeface="Host Grotesk Medium" pitchFamily="34" charset="-122"/>
                <a:cs typeface="Host Grotesk Medium" pitchFamily="34" charset="-120"/>
              </a:rPr>
              <a:t>Building a Word Transition Dictionary</a:t>
            </a:r>
            <a:endParaRPr lang="en-US" sz="2050" dirty="0"/>
          </a:p>
        </p:txBody>
      </p:sp>
      <p:sp>
        <p:nvSpPr>
          <p:cNvPr id="8" name="Shape 6"/>
          <p:cNvSpPr/>
          <p:nvPr/>
        </p:nvSpPr>
        <p:spPr>
          <a:xfrm>
            <a:off x="7536894" y="2940487"/>
            <a:ext cx="5339358" cy="4477226"/>
          </a:xfrm>
          <a:prstGeom prst="roundRect">
            <a:avLst>
              <a:gd name="adj" fmla="val 1647"/>
            </a:avLst>
          </a:prstGeom>
          <a:solidFill>
            <a:srgbClr val="EDECE8"/>
          </a:solidFill>
          <a:ln/>
        </p:spPr>
      </p:sp>
      <p:sp>
        <p:nvSpPr>
          <p:cNvPr id="9" name="Shape 7"/>
          <p:cNvSpPr/>
          <p:nvPr/>
        </p:nvSpPr>
        <p:spPr>
          <a:xfrm>
            <a:off x="7528203" y="2940487"/>
            <a:ext cx="5356741" cy="4477226"/>
          </a:xfrm>
          <a:prstGeom prst="roundRect">
            <a:avLst>
              <a:gd name="adj" fmla="val 588"/>
            </a:avLst>
          </a:prstGeom>
          <a:solidFill>
            <a:srgbClr val="EDECE8"/>
          </a:solidFill>
          <a:ln/>
        </p:spPr>
      </p:sp>
      <p:sp>
        <p:nvSpPr>
          <p:cNvPr id="10" name="Text 8"/>
          <p:cNvSpPr/>
          <p:nvPr/>
        </p:nvSpPr>
        <p:spPr>
          <a:xfrm>
            <a:off x="7703701" y="3072170"/>
            <a:ext cx="5005745" cy="4213860"/>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transitions = {}
text = "the quick brown fox jumps over the lazy dog"
words = text.split()
for i in range(len(words) - 1):
  current_word = words[i]
  next_word = words[i+1]
  if current_word not in transitions:
    transitions[current_word] = []
  transitions[current_word].append(next_word)
# Example: transitions['the'] would be ['quick', 'lazy']
# In a real model, we'd also store probabilities for each next_word.
</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728442" y="311825"/>
            <a:ext cx="4254579"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Building the Transition Dictionary</a:t>
            </a:r>
            <a:endParaRPr lang="en-US" sz="2200" dirty="0"/>
          </a:p>
        </p:txBody>
      </p:sp>
      <p:sp>
        <p:nvSpPr>
          <p:cNvPr id="3" name="Text 1"/>
          <p:cNvSpPr/>
          <p:nvPr/>
        </p:nvSpPr>
        <p:spPr>
          <a:xfrm>
            <a:off x="3728442" y="892969"/>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To generate coherent text, we first need to build a comprehensive map of how words connect within our corpus. This transition dictionary will store every word and the subsequent words that follow it, along with their frequencies.</a:t>
            </a:r>
            <a:endParaRPr lang="en-US" sz="850" dirty="0"/>
          </a:p>
        </p:txBody>
      </p:sp>
      <p:sp>
        <p:nvSpPr>
          <p:cNvPr id="4" name="Text 2"/>
          <p:cNvSpPr/>
          <p:nvPr/>
        </p:nvSpPr>
        <p:spPr>
          <a:xfrm>
            <a:off x="3728442" y="1474113"/>
            <a:ext cx="2481143"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Iterating and Storing Transitions</a:t>
            </a:r>
            <a:endParaRPr lang="en-US" sz="1300" dirty="0"/>
          </a:p>
        </p:txBody>
      </p:sp>
      <p:sp>
        <p:nvSpPr>
          <p:cNvPr id="5" name="Text 3"/>
          <p:cNvSpPr/>
          <p:nvPr/>
        </p:nvSpPr>
        <p:spPr>
          <a:xfrm>
            <a:off x="3728442" y="1800106"/>
            <a:ext cx="3448288" cy="68056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The core of building our transition dictionary involves iterating through the cleaned text, identifying pairs of adjacent words: the "current" word and the "next" word. For each pair, we record the "next" word as a potential successor to the "current" word.</a:t>
            </a:r>
            <a:endParaRPr lang="en-US" sz="850" dirty="0"/>
          </a:p>
        </p:txBody>
      </p:sp>
      <p:sp>
        <p:nvSpPr>
          <p:cNvPr id="6" name="Text 4"/>
          <p:cNvSpPr/>
          <p:nvPr/>
        </p:nvSpPr>
        <p:spPr>
          <a:xfrm>
            <a:off x="3728442" y="2582704"/>
            <a:ext cx="3448288" cy="68056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To handle probabilistic generation, we don't just store a list of next words; instead, we store a count for each unique "next" word. This allows us to later calculate the probability of each word following another.</a:t>
            </a:r>
            <a:endParaRPr lang="en-US" sz="850" dirty="0"/>
          </a:p>
        </p:txBody>
      </p:sp>
      <p:sp>
        <p:nvSpPr>
          <p:cNvPr id="7" name="Text 5"/>
          <p:cNvSpPr/>
          <p:nvPr/>
        </p:nvSpPr>
        <p:spPr>
          <a:xfrm>
            <a:off x="3728442" y="3365302"/>
            <a:ext cx="3448288"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An important consideration is the end of the text. The last word in the sequence has no "next" word. Our loop typically runs up to the second-to-last word to avoid index errors.</a:t>
            </a:r>
            <a:endParaRPr lang="en-US" sz="850" dirty="0"/>
          </a:p>
        </p:txBody>
      </p:sp>
      <p:sp>
        <p:nvSpPr>
          <p:cNvPr id="8" name="Text 6"/>
          <p:cNvSpPr/>
          <p:nvPr/>
        </p:nvSpPr>
        <p:spPr>
          <a:xfrm>
            <a:off x="7461052" y="1474113"/>
            <a:ext cx="1929646"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Complete Code Example</a:t>
            </a:r>
            <a:endParaRPr lang="en-US" sz="1300" dirty="0"/>
          </a:p>
        </p:txBody>
      </p:sp>
      <p:sp>
        <p:nvSpPr>
          <p:cNvPr id="9" name="Shape 7"/>
          <p:cNvSpPr/>
          <p:nvPr/>
        </p:nvSpPr>
        <p:spPr>
          <a:xfrm>
            <a:off x="7461052" y="1814274"/>
            <a:ext cx="3448288" cy="4083248"/>
          </a:xfrm>
          <a:prstGeom prst="roundRect">
            <a:avLst>
              <a:gd name="adj" fmla="val 1381"/>
            </a:avLst>
          </a:prstGeom>
          <a:solidFill>
            <a:srgbClr val="EDECE8"/>
          </a:solidFill>
          <a:ln/>
        </p:spPr>
      </p:sp>
      <p:sp>
        <p:nvSpPr>
          <p:cNvPr id="10" name="Shape 8"/>
          <p:cNvSpPr/>
          <p:nvPr/>
        </p:nvSpPr>
        <p:spPr>
          <a:xfrm>
            <a:off x="7455456" y="1814274"/>
            <a:ext cx="3459480" cy="4083248"/>
          </a:xfrm>
          <a:prstGeom prst="roundRect">
            <a:avLst>
              <a:gd name="adj" fmla="val 492"/>
            </a:avLst>
          </a:prstGeom>
          <a:solidFill>
            <a:srgbClr val="EDECE8"/>
          </a:solidFill>
          <a:ln/>
        </p:spPr>
      </p:sp>
      <p:sp>
        <p:nvSpPr>
          <p:cNvPr id="11" name="Text 9"/>
          <p:cNvSpPr/>
          <p:nvPr/>
        </p:nvSpPr>
        <p:spPr>
          <a:xfrm>
            <a:off x="7568803" y="1899285"/>
            <a:ext cx="3232785" cy="3913227"/>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def build_transition_dictionary(words):
    transitions = {}
    for i in range(len(words) - 1):
        current_word = words[i]
        next_word = words[i+1]
        if current_word not in transitions:
            transitions[current_word] = {} # Value is a dict for frequencies
        if next_word not in transitions[current_word]:
            transitions[current_word][next_word] = 1
        else:
            transitions[current_word][next_word] += 1
    return transitions
# Example usage with cleaned words:
sample_text = "the quick brown fox jumps over the lazy dog and the quick brown dog barks"
cleaned_words = sample_text.split()
word_transitions = build_transition_dictionary(cleaned_words)
</a:t>
            </a:r>
            <a:endParaRPr lang="en-US" sz="850" dirty="0"/>
          </a:p>
        </p:txBody>
      </p:sp>
      <p:sp>
        <p:nvSpPr>
          <p:cNvPr id="12" name="Text 10"/>
          <p:cNvSpPr/>
          <p:nvPr/>
        </p:nvSpPr>
        <p:spPr>
          <a:xfrm>
            <a:off x="3728442" y="6195060"/>
            <a:ext cx="2807732"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Sample Transition Dictionary Output</a:t>
            </a:r>
            <a:endParaRPr lang="en-US" sz="1300" dirty="0"/>
          </a:p>
        </p:txBody>
      </p:sp>
      <p:sp>
        <p:nvSpPr>
          <p:cNvPr id="13" name="Text 11"/>
          <p:cNvSpPr/>
          <p:nvPr/>
        </p:nvSpPr>
        <p:spPr>
          <a:xfrm>
            <a:off x="3728442" y="6577727"/>
            <a:ext cx="7173397" cy="34790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For the example text "the quick brown fox jumps over the lazy dog and the quick brown dog barks", the resulting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word_transitions</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dictionary would look like this:</a:t>
            </a:r>
            <a:endParaRPr lang="en-US" sz="850" dirty="0"/>
          </a:p>
        </p:txBody>
      </p:sp>
      <p:sp>
        <p:nvSpPr>
          <p:cNvPr id="14" name="Shape 12"/>
          <p:cNvSpPr/>
          <p:nvPr/>
        </p:nvSpPr>
        <p:spPr>
          <a:xfrm>
            <a:off x="3728442" y="7053143"/>
            <a:ext cx="7173397" cy="2211705"/>
          </a:xfrm>
          <a:prstGeom prst="roundRect">
            <a:avLst>
              <a:gd name="adj" fmla="val 2154"/>
            </a:avLst>
          </a:prstGeom>
          <a:solidFill>
            <a:srgbClr val="EDECE8"/>
          </a:solidFill>
          <a:ln/>
        </p:spPr>
      </p:sp>
      <p:sp>
        <p:nvSpPr>
          <p:cNvPr id="15" name="Shape 13"/>
          <p:cNvSpPr/>
          <p:nvPr/>
        </p:nvSpPr>
        <p:spPr>
          <a:xfrm>
            <a:off x="3722846" y="7053143"/>
            <a:ext cx="7184588" cy="2211705"/>
          </a:xfrm>
          <a:prstGeom prst="roundRect">
            <a:avLst>
              <a:gd name="adj" fmla="val 769"/>
            </a:avLst>
          </a:prstGeom>
          <a:solidFill>
            <a:srgbClr val="EDECE8"/>
          </a:solidFill>
          <a:ln/>
        </p:spPr>
      </p:sp>
      <p:sp>
        <p:nvSpPr>
          <p:cNvPr id="16" name="Text 14"/>
          <p:cNvSpPr/>
          <p:nvPr/>
        </p:nvSpPr>
        <p:spPr>
          <a:xfrm>
            <a:off x="3836194" y="7138154"/>
            <a:ext cx="6957893" cy="2041684"/>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'the': {'quick': 2, 'lazy': 1},
  'quick': {'brown': 2},
  'brown': {'fox': 1, 'dog': 1},
  'fox': {'jumps': 1},
  'jumps': {'over': 1},
  'over': {'the': 1},
  'lazy': {'dog': 1},
  'dog': {'and': 1, 'barks': 1},
  'and': {'the': 1}
}
</a:t>
            </a:r>
            <a:endParaRPr lang="en-US" sz="850" dirty="0"/>
          </a:p>
        </p:txBody>
      </p:sp>
      <p:sp>
        <p:nvSpPr>
          <p:cNvPr id="17" name="Text 15"/>
          <p:cNvSpPr/>
          <p:nvPr/>
        </p:nvSpPr>
        <p:spPr>
          <a:xfrm>
            <a:off x="3728442" y="9392364"/>
            <a:ext cx="7173397" cy="170140"/>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Each key represents a current word, and its value is another dictionary showing the words that followed it and how many times each appeared.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728442" y="311825"/>
            <a:ext cx="4711660"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Generating Text with Markov Chains</a:t>
            </a:r>
            <a:endParaRPr lang="en-US" sz="2200" dirty="0"/>
          </a:p>
        </p:txBody>
      </p:sp>
      <p:sp>
        <p:nvSpPr>
          <p:cNvPr id="3" name="Text 1"/>
          <p:cNvSpPr/>
          <p:nvPr/>
        </p:nvSpPr>
        <p:spPr>
          <a:xfrm>
            <a:off x="3728442" y="892969"/>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Once our transition dictionary is built, we can use it to generate new text that mimics the style and word patterns of the original corpus. This process involves a series of probabilistic choices based on the learned word relationships.</a:t>
            </a:r>
            <a:endParaRPr lang="en-US" sz="850" dirty="0"/>
          </a:p>
        </p:txBody>
      </p:sp>
      <p:sp>
        <p:nvSpPr>
          <p:cNvPr id="4" name="Shape 2"/>
          <p:cNvSpPr/>
          <p:nvPr/>
        </p:nvSpPr>
        <p:spPr>
          <a:xfrm>
            <a:off x="3898463" y="1644134"/>
            <a:ext cx="3359825" cy="113348"/>
          </a:xfrm>
          <a:prstGeom prst="roundRect">
            <a:avLst>
              <a:gd name="adj" fmla="val 42024"/>
            </a:avLst>
          </a:prstGeom>
          <a:solidFill>
            <a:srgbClr val="D9EDF2"/>
          </a:solidFill>
          <a:ln w="7620">
            <a:solidFill>
              <a:srgbClr val="BFD3D8"/>
            </a:solidFill>
            <a:prstDash val="solid"/>
          </a:ln>
        </p:spPr>
      </p:sp>
      <p:sp>
        <p:nvSpPr>
          <p:cNvPr id="5" name="Shape 3"/>
          <p:cNvSpPr/>
          <p:nvPr/>
        </p:nvSpPr>
        <p:spPr>
          <a:xfrm>
            <a:off x="3728442" y="1530727"/>
            <a:ext cx="340162" cy="340162"/>
          </a:xfrm>
          <a:prstGeom prst="roundRect">
            <a:avLst>
              <a:gd name="adj" fmla="val 134407"/>
            </a:avLst>
          </a:prstGeom>
          <a:solidFill>
            <a:srgbClr val="D9EDF2"/>
          </a:solidFill>
          <a:ln w="7620">
            <a:solidFill>
              <a:srgbClr val="BFD3D8"/>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13453" y="1615857"/>
            <a:ext cx="170021" cy="170021"/>
          </a:xfrm>
          <a:prstGeom prst="rect">
            <a:avLst/>
          </a:prstGeom>
        </p:spPr>
      </p:pic>
      <p:sp>
        <p:nvSpPr>
          <p:cNvPr id="7" name="Text 4"/>
          <p:cNvSpPr/>
          <p:nvPr/>
        </p:nvSpPr>
        <p:spPr>
          <a:xfrm>
            <a:off x="3841790" y="1984296"/>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Seed the Chain</a:t>
            </a:r>
            <a:endParaRPr lang="en-US" sz="1100" dirty="0"/>
          </a:p>
        </p:txBody>
      </p:sp>
      <p:sp>
        <p:nvSpPr>
          <p:cNvPr id="8" name="Text 5"/>
          <p:cNvSpPr/>
          <p:nvPr/>
        </p:nvSpPr>
        <p:spPr>
          <a:xfrm>
            <a:off x="3841790" y="2229445"/>
            <a:ext cx="3303270"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Begin by selecting an initial word to start the generated text. This can be a predefined word or a random word chosen from the corpus.</a:t>
            </a:r>
            <a:endParaRPr lang="en-US" sz="850" dirty="0"/>
          </a:p>
        </p:txBody>
      </p:sp>
      <p:sp>
        <p:nvSpPr>
          <p:cNvPr id="9" name="Shape 6"/>
          <p:cNvSpPr/>
          <p:nvPr/>
        </p:nvSpPr>
        <p:spPr>
          <a:xfrm>
            <a:off x="7541776" y="1474113"/>
            <a:ext cx="3359944" cy="113348"/>
          </a:xfrm>
          <a:prstGeom prst="roundRect">
            <a:avLst>
              <a:gd name="adj" fmla="val 42024"/>
            </a:avLst>
          </a:prstGeom>
          <a:solidFill>
            <a:srgbClr val="D9EDF2"/>
          </a:solidFill>
          <a:ln w="7620">
            <a:solidFill>
              <a:srgbClr val="BFD3D8"/>
            </a:solidFill>
            <a:prstDash val="solid"/>
          </a:ln>
        </p:spPr>
      </p:sp>
      <p:sp>
        <p:nvSpPr>
          <p:cNvPr id="10" name="Shape 7"/>
          <p:cNvSpPr/>
          <p:nvPr/>
        </p:nvSpPr>
        <p:spPr>
          <a:xfrm>
            <a:off x="7371755" y="1360706"/>
            <a:ext cx="340162" cy="340162"/>
          </a:xfrm>
          <a:prstGeom prst="roundRect">
            <a:avLst>
              <a:gd name="adj" fmla="val 134407"/>
            </a:avLst>
          </a:prstGeom>
          <a:solidFill>
            <a:srgbClr val="D9EDF2"/>
          </a:solidFill>
          <a:ln w="7620">
            <a:solidFill>
              <a:srgbClr val="BFD3D8"/>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765" y="1445835"/>
            <a:ext cx="170021" cy="170021"/>
          </a:xfrm>
          <a:prstGeom prst="rect">
            <a:avLst/>
          </a:prstGeom>
        </p:spPr>
      </p:pic>
      <p:sp>
        <p:nvSpPr>
          <p:cNvPr id="12" name="Text 8"/>
          <p:cNvSpPr/>
          <p:nvPr/>
        </p:nvSpPr>
        <p:spPr>
          <a:xfrm>
            <a:off x="7485102" y="181427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Consult Transitions</a:t>
            </a:r>
            <a:endParaRPr lang="en-US" sz="1100" dirty="0"/>
          </a:p>
        </p:txBody>
      </p:sp>
      <p:sp>
        <p:nvSpPr>
          <p:cNvPr id="13" name="Text 9"/>
          <p:cNvSpPr/>
          <p:nvPr/>
        </p:nvSpPr>
        <p:spPr>
          <a:xfrm>
            <a:off x="7485102" y="2059424"/>
            <a:ext cx="3303389"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Using the current word, look up its entry in the transition dictionary to find all possible subsequent words and their associated frequencies.</a:t>
            </a:r>
            <a:endParaRPr lang="en-US" sz="850" dirty="0"/>
          </a:p>
        </p:txBody>
      </p:sp>
      <p:sp>
        <p:nvSpPr>
          <p:cNvPr id="14" name="Shape 10"/>
          <p:cNvSpPr/>
          <p:nvPr/>
        </p:nvSpPr>
        <p:spPr>
          <a:xfrm>
            <a:off x="3898463" y="3249930"/>
            <a:ext cx="3359825" cy="113348"/>
          </a:xfrm>
          <a:prstGeom prst="roundRect">
            <a:avLst>
              <a:gd name="adj" fmla="val 42024"/>
            </a:avLst>
          </a:prstGeom>
          <a:solidFill>
            <a:srgbClr val="D9EDF2"/>
          </a:solidFill>
          <a:ln w="7620">
            <a:solidFill>
              <a:srgbClr val="BFD3D8"/>
            </a:solidFill>
            <a:prstDash val="solid"/>
          </a:ln>
        </p:spPr>
      </p:sp>
      <p:sp>
        <p:nvSpPr>
          <p:cNvPr id="15" name="Shape 11"/>
          <p:cNvSpPr/>
          <p:nvPr/>
        </p:nvSpPr>
        <p:spPr>
          <a:xfrm>
            <a:off x="3728442" y="3136523"/>
            <a:ext cx="340162" cy="340162"/>
          </a:xfrm>
          <a:prstGeom prst="roundRect">
            <a:avLst>
              <a:gd name="adj" fmla="val 134407"/>
            </a:avLst>
          </a:prstGeom>
          <a:solidFill>
            <a:srgbClr val="D9EDF2"/>
          </a:solidFill>
          <a:ln w="7620">
            <a:solidFill>
              <a:srgbClr val="BFD3D8"/>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13453" y="3221653"/>
            <a:ext cx="170021" cy="170021"/>
          </a:xfrm>
          <a:prstGeom prst="rect">
            <a:avLst/>
          </a:prstGeom>
        </p:spPr>
      </p:pic>
      <p:sp>
        <p:nvSpPr>
          <p:cNvPr id="17" name="Text 12"/>
          <p:cNvSpPr/>
          <p:nvPr/>
        </p:nvSpPr>
        <p:spPr>
          <a:xfrm>
            <a:off x="3841790" y="359009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Probabilistic Choice</a:t>
            </a:r>
            <a:endParaRPr lang="en-US" sz="1100" dirty="0"/>
          </a:p>
        </p:txBody>
      </p:sp>
      <p:sp>
        <p:nvSpPr>
          <p:cNvPr id="18" name="Text 13"/>
          <p:cNvSpPr/>
          <p:nvPr/>
        </p:nvSpPr>
        <p:spPr>
          <a:xfrm>
            <a:off x="3841790" y="3835241"/>
            <a:ext cx="3303270" cy="68056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Randomly select the next word from the available successors. The selection is weighted by frequency, ensuring words that appear more often after the current word are more likely to be chosen.</a:t>
            </a:r>
            <a:endParaRPr lang="en-US" sz="850" dirty="0"/>
          </a:p>
        </p:txBody>
      </p:sp>
      <p:sp>
        <p:nvSpPr>
          <p:cNvPr id="19" name="Shape 14"/>
          <p:cNvSpPr/>
          <p:nvPr/>
        </p:nvSpPr>
        <p:spPr>
          <a:xfrm>
            <a:off x="7541776" y="3079909"/>
            <a:ext cx="3359944" cy="113348"/>
          </a:xfrm>
          <a:prstGeom prst="roundRect">
            <a:avLst>
              <a:gd name="adj" fmla="val 42024"/>
            </a:avLst>
          </a:prstGeom>
          <a:solidFill>
            <a:srgbClr val="D9EDF2"/>
          </a:solidFill>
          <a:ln w="7620">
            <a:solidFill>
              <a:srgbClr val="BFD3D8"/>
            </a:solidFill>
            <a:prstDash val="solid"/>
          </a:ln>
        </p:spPr>
      </p:sp>
      <p:sp>
        <p:nvSpPr>
          <p:cNvPr id="20" name="Shape 15"/>
          <p:cNvSpPr/>
          <p:nvPr/>
        </p:nvSpPr>
        <p:spPr>
          <a:xfrm>
            <a:off x="7371755" y="2966502"/>
            <a:ext cx="340162" cy="340162"/>
          </a:xfrm>
          <a:prstGeom prst="roundRect">
            <a:avLst>
              <a:gd name="adj" fmla="val 134407"/>
            </a:avLst>
          </a:prstGeom>
          <a:solidFill>
            <a:srgbClr val="D9EDF2"/>
          </a:solidFill>
          <a:ln w="7620">
            <a:solidFill>
              <a:srgbClr val="BFD3D8"/>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765" y="3051631"/>
            <a:ext cx="170021" cy="170021"/>
          </a:xfrm>
          <a:prstGeom prst="rect">
            <a:avLst/>
          </a:prstGeom>
        </p:spPr>
      </p:pic>
      <p:sp>
        <p:nvSpPr>
          <p:cNvPr id="22" name="Text 16"/>
          <p:cNvSpPr/>
          <p:nvPr/>
        </p:nvSpPr>
        <p:spPr>
          <a:xfrm>
            <a:off x="7485102" y="3420070"/>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Iterate and Build</a:t>
            </a:r>
            <a:endParaRPr lang="en-US" sz="1100" dirty="0"/>
          </a:p>
        </p:txBody>
      </p:sp>
      <p:sp>
        <p:nvSpPr>
          <p:cNvPr id="23" name="Text 17"/>
          <p:cNvSpPr/>
          <p:nvPr/>
        </p:nvSpPr>
        <p:spPr>
          <a:xfrm>
            <a:off x="7485102" y="3665220"/>
            <a:ext cx="3303389"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The newly chosen word becomes the current word, and the process repeats. This continues until the desired text length is reached or a natural stopping point (like a period) is encountered.</a:t>
            </a:r>
            <a:endParaRPr lang="en-US" sz="850" dirty="0"/>
          </a:p>
        </p:txBody>
      </p:sp>
      <p:sp>
        <p:nvSpPr>
          <p:cNvPr id="24" name="Text 18"/>
          <p:cNvSpPr/>
          <p:nvPr/>
        </p:nvSpPr>
        <p:spPr>
          <a:xfrm>
            <a:off x="3728442" y="4799171"/>
            <a:ext cx="2622590"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Implementing Weighted Selection</a:t>
            </a:r>
            <a:endParaRPr lang="en-US" sz="1300" dirty="0"/>
          </a:p>
        </p:txBody>
      </p:sp>
      <p:sp>
        <p:nvSpPr>
          <p:cNvPr id="25" name="Text 19"/>
          <p:cNvSpPr/>
          <p:nvPr/>
        </p:nvSpPr>
        <p:spPr>
          <a:xfrm>
            <a:off x="3728442" y="5181838"/>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To make the word choices truly probabilistic, we use the frequencies stored in our transition dictionary as weights. This ensures the generated text reflects the statistical patterns of the training data.</a:t>
            </a:r>
            <a:endParaRPr lang="en-US" sz="850" dirty="0"/>
          </a:p>
        </p:txBody>
      </p:sp>
      <p:sp>
        <p:nvSpPr>
          <p:cNvPr id="26" name="Shape 20"/>
          <p:cNvSpPr/>
          <p:nvPr/>
        </p:nvSpPr>
        <p:spPr>
          <a:xfrm>
            <a:off x="3728442" y="5649635"/>
            <a:ext cx="7173397" cy="4593669"/>
          </a:xfrm>
          <a:prstGeom prst="roundRect">
            <a:avLst>
              <a:gd name="adj" fmla="val 1037"/>
            </a:avLst>
          </a:prstGeom>
          <a:solidFill>
            <a:srgbClr val="EDECE8"/>
          </a:solidFill>
          <a:ln/>
        </p:spPr>
      </p:sp>
      <p:sp>
        <p:nvSpPr>
          <p:cNvPr id="27" name="Shape 21"/>
          <p:cNvSpPr/>
          <p:nvPr/>
        </p:nvSpPr>
        <p:spPr>
          <a:xfrm>
            <a:off x="3722846" y="5649635"/>
            <a:ext cx="7184588" cy="4593669"/>
          </a:xfrm>
          <a:prstGeom prst="roundRect">
            <a:avLst>
              <a:gd name="adj" fmla="val 370"/>
            </a:avLst>
          </a:prstGeom>
          <a:solidFill>
            <a:srgbClr val="EDECE8"/>
          </a:solidFill>
          <a:ln/>
        </p:spPr>
      </p:sp>
      <p:sp>
        <p:nvSpPr>
          <p:cNvPr id="28" name="Text 22"/>
          <p:cNvSpPr/>
          <p:nvPr/>
        </p:nvSpPr>
        <p:spPr>
          <a:xfrm>
            <a:off x="3836194" y="5734645"/>
            <a:ext cx="6957893" cy="4423648"/>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import random
def get_next_word(transitions, current_word):
    if current_word not in transitions:
        return None # No transitions for this word
    next_word_counts = transitions[current_word]
    words = list(next_word_counts.keys())
    weights = list(next_word_counts.values())
    # random.choices returns a list, we take the first (and only) element
    return random.choices(words, weights=weights, k=1)[0]
def generate_text(transitions, start_word, length=15):
    current_word = start_word
    generated_sequence = [current_word]
    for _ in range(length - 1):
        next_word = get_next_word(transitions, current_word)
        if next_word is None:
            break
        generated_sequence.append(next_word)
        current_word = next_word
    return " ".join(generated_sequence)
</a:t>
            </a:r>
            <a:endParaRPr lang="en-US" sz="850" dirty="0"/>
          </a:p>
        </p:txBody>
      </p:sp>
      <p:sp>
        <p:nvSpPr>
          <p:cNvPr id="29" name="Text 23"/>
          <p:cNvSpPr/>
          <p:nvPr/>
        </p:nvSpPr>
        <p:spPr>
          <a:xfrm>
            <a:off x="3728442" y="10413325"/>
            <a:ext cx="1908810"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Example Generated Text</a:t>
            </a:r>
            <a:endParaRPr lang="en-US" sz="1300" dirty="0"/>
          </a:p>
        </p:txBody>
      </p:sp>
      <p:sp>
        <p:nvSpPr>
          <p:cNvPr id="30" name="Text 24"/>
          <p:cNvSpPr/>
          <p:nvPr/>
        </p:nvSpPr>
        <p:spPr>
          <a:xfrm>
            <a:off x="3728442" y="10795992"/>
            <a:ext cx="7173397" cy="177760"/>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Using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word_transitions</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dictionary from the previous card and starting with "the", a possible output could be:</a:t>
            </a:r>
            <a:endParaRPr lang="en-US" sz="850" dirty="0"/>
          </a:p>
        </p:txBody>
      </p:sp>
      <p:sp>
        <p:nvSpPr>
          <p:cNvPr id="31" name="Text 25"/>
          <p:cNvSpPr/>
          <p:nvPr/>
        </p:nvSpPr>
        <p:spPr>
          <a:xfrm>
            <a:off x="3898463" y="11228784"/>
            <a:ext cx="7003375" cy="170140"/>
          </a:xfrm>
          <a:prstGeom prst="rect">
            <a:avLst/>
          </a:prstGeom>
          <a:noFill/>
          <a:ln/>
        </p:spPr>
        <p:txBody>
          <a:bodyPr wrap="non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the quick brown dog barks</a:t>
            </a:r>
            <a:endParaRPr lang="en-US" sz="850" dirty="0"/>
          </a:p>
        </p:txBody>
      </p:sp>
      <p:sp>
        <p:nvSpPr>
          <p:cNvPr id="32" name="Shape 26"/>
          <p:cNvSpPr/>
          <p:nvPr/>
        </p:nvSpPr>
        <p:spPr>
          <a:xfrm>
            <a:off x="3728442" y="11101268"/>
            <a:ext cx="15240" cy="425172"/>
          </a:xfrm>
          <a:prstGeom prst="rect">
            <a:avLst/>
          </a:prstGeom>
          <a:solidFill>
            <a:srgbClr val="95CCDA"/>
          </a:solidFill>
          <a:ln/>
        </p:spPr>
      </p:sp>
      <p:sp>
        <p:nvSpPr>
          <p:cNvPr id="33" name="Text 27"/>
          <p:cNvSpPr/>
          <p:nvPr/>
        </p:nvSpPr>
        <p:spPr>
          <a:xfrm>
            <a:off x="3728442" y="11653957"/>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The generated text maintains a degree of coherence and reflects the patterns observed in the original sample text, showcasing the power of Markov chains in language modeling.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728442" y="311825"/>
            <a:ext cx="3675578"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Testing Your Implementation</a:t>
            </a:r>
            <a:endParaRPr lang="en-US" sz="2200" dirty="0"/>
          </a:p>
        </p:txBody>
      </p:sp>
      <p:sp>
        <p:nvSpPr>
          <p:cNvPr id="3" name="Text 1"/>
          <p:cNvSpPr/>
          <p:nvPr/>
        </p:nvSpPr>
        <p:spPr>
          <a:xfrm>
            <a:off x="3728442" y="892969"/>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Rigorous testing is crucial to ensure our Markov chain implementation behaves as expected, accurately learns word transitions, and generates coherent text. This involves checking the dictionary construction, the text generation process, and various edge cases.</a:t>
            </a:r>
            <a:endParaRPr lang="en-US" sz="850" dirty="0"/>
          </a:p>
        </p:txBody>
      </p:sp>
      <p:sp>
        <p:nvSpPr>
          <p:cNvPr id="4" name="Shape 2"/>
          <p:cNvSpPr/>
          <p:nvPr/>
        </p:nvSpPr>
        <p:spPr>
          <a:xfrm>
            <a:off x="3728442" y="1360765"/>
            <a:ext cx="2315528" cy="1779389"/>
          </a:xfrm>
          <a:prstGeom prst="roundRect">
            <a:avLst>
              <a:gd name="adj" fmla="val 2677"/>
            </a:avLst>
          </a:prstGeom>
          <a:solidFill>
            <a:srgbClr val="FAF9F5"/>
          </a:solidFill>
          <a:ln w="15240">
            <a:solidFill>
              <a:srgbClr val="BFD3D8"/>
            </a:solidFill>
            <a:prstDash val="solid"/>
          </a:ln>
        </p:spPr>
      </p:sp>
      <p:sp>
        <p:nvSpPr>
          <p:cNvPr id="5" name="Shape 3"/>
          <p:cNvSpPr/>
          <p:nvPr/>
        </p:nvSpPr>
        <p:spPr>
          <a:xfrm>
            <a:off x="3743682" y="1376005"/>
            <a:ext cx="2285048" cy="340162"/>
          </a:xfrm>
          <a:prstGeom prst="roundRect">
            <a:avLst>
              <a:gd name="adj" fmla="val 8627"/>
            </a:avLst>
          </a:prstGeom>
          <a:solidFill>
            <a:srgbClr val="D9EDF2"/>
          </a:solidFill>
          <a:ln/>
        </p:spPr>
      </p:sp>
      <p:sp>
        <p:nvSpPr>
          <p:cNvPr id="6" name="Shape 4"/>
          <p:cNvSpPr/>
          <p:nvPr/>
        </p:nvSpPr>
        <p:spPr>
          <a:xfrm>
            <a:off x="3857030" y="1829514"/>
            <a:ext cx="787598" cy="203954"/>
          </a:xfrm>
          <a:prstGeom prst="roundRect">
            <a:avLst>
              <a:gd name="adj" fmla="val 18684"/>
            </a:avLst>
          </a:prstGeom>
          <a:solidFill>
            <a:srgbClr val="D9EDF2"/>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25014" y="1886069"/>
            <a:ext cx="90726" cy="90726"/>
          </a:xfrm>
          <a:prstGeom prst="rect">
            <a:avLst/>
          </a:prstGeom>
        </p:spPr>
      </p:pic>
      <p:sp>
        <p:nvSpPr>
          <p:cNvPr id="8" name="Text 5"/>
          <p:cNvSpPr/>
          <p:nvPr/>
        </p:nvSpPr>
        <p:spPr>
          <a:xfrm>
            <a:off x="4061103" y="1863447"/>
            <a:ext cx="515541" cy="136088"/>
          </a:xfrm>
          <a:prstGeom prst="rect">
            <a:avLst/>
          </a:prstGeom>
          <a:noFill/>
          <a:ln/>
        </p:spPr>
        <p:txBody>
          <a:bodyPr wrap="none" lIns="0" tIns="0" rIns="0" bIns="0" rtlCol="0" anchor="t"/>
          <a:lstStyle/>
          <a:p>
            <a:pPr algn="l" indent="0" marL="0">
              <a:lnSpc>
                <a:spcPts val="1050"/>
              </a:lnSpc>
              <a:buNone/>
            </a:pPr>
            <a:r>
              <a:rPr lang="en-US" sz="700" dirty="0">
                <a:solidFill>
                  <a:srgbClr val="384653"/>
                </a:solidFill>
                <a:latin typeface="Roboto" pitchFamily="34" charset="0"/>
                <a:ea typeface="Roboto" pitchFamily="34" charset="-122"/>
                <a:cs typeface="Roboto" pitchFamily="34" charset="-120"/>
              </a:rPr>
              <a:t>DICTIONARY</a:t>
            </a:r>
            <a:endParaRPr lang="en-US" sz="700" dirty="0"/>
          </a:p>
        </p:txBody>
      </p:sp>
      <p:sp>
        <p:nvSpPr>
          <p:cNvPr id="9" name="Text 6"/>
          <p:cNvSpPr/>
          <p:nvPr/>
        </p:nvSpPr>
        <p:spPr>
          <a:xfrm>
            <a:off x="3857030" y="2078831"/>
            <a:ext cx="1880711"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Validate Transition Dictionary</a:t>
            </a:r>
            <a:endParaRPr lang="en-US" sz="1100" dirty="0"/>
          </a:p>
        </p:txBody>
      </p:sp>
      <p:sp>
        <p:nvSpPr>
          <p:cNvPr id="10" name="Text 7"/>
          <p:cNvSpPr/>
          <p:nvPr/>
        </p:nvSpPr>
        <p:spPr>
          <a:xfrm>
            <a:off x="3857030" y="2323981"/>
            <a:ext cx="2058353"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Confirm that word frequencies and connections are correctly mapped based on the input corpus.</a:t>
            </a:r>
            <a:endParaRPr lang="en-US" sz="850" dirty="0"/>
          </a:p>
        </p:txBody>
      </p:sp>
      <p:sp>
        <p:nvSpPr>
          <p:cNvPr id="11" name="Shape 8"/>
          <p:cNvSpPr/>
          <p:nvPr/>
        </p:nvSpPr>
        <p:spPr>
          <a:xfrm>
            <a:off x="6157317" y="1360765"/>
            <a:ext cx="2315528" cy="1779389"/>
          </a:xfrm>
          <a:prstGeom prst="roundRect">
            <a:avLst>
              <a:gd name="adj" fmla="val 2677"/>
            </a:avLst>
          </a:prstGeom>
          <a:solidFill>
            <a:srgbClr val="FAF9F5"/>
          </a:solidFill>
          <a:ln w="15240">
            <a:solidFill>
              <a:srgbClr val="BFD3D8"/>
            </a:solidFill>
            <a:prstDash val="solid"/>
          </a:ln>
        </p:spPr>
      </p:sp>
      <p:sp>
        <p:nvSpPr>
          <p:cNvPr id="12" name="Shape 9"/>
          <p:cNvSpPr/>
          <p:nvPr/>
        </p:nvSpPr>
        <p:spPr>
          <a:xfrm>
            <a:off x="6172557" y="1376005"/>
            <a:ext cx="2285048" cy="340162"/>
          </a:xfrm>
          <a:prstGeom prst="roundRect">
            <a:avLst>
              <a:gd name="adj" fmla="val 8627"/>
            </a:avLst>
          </a:prstGeom>
          <a:solidFill>
            <a:srgbClr val="D9EDF2"/>
          </a:solidFill>
          <a:ln/>
        </p:spPr>
      </p:sp>
      <p:sp>
        <p:nvSpPr>
          <p:cNvPr id="13" name="Shape 10"/>
          <p:cNvSpPr/>
          <p:nvPr/>
        </p:nvSpPr>
        <p:spPr>
          <a:xfrm>
            <a:off x="6285905" y="1829514"/>
            <a:ext cx="1092398" cy="203954"/>
          </a:xfrm>
          <a:prstGeom prst="roundRect">
            <a:avLst>
              <a:gd name="adj" fmla="val 18684"/>
            </a:avLst>
          </a:prstGeom>
          <a:solidFill>
            <a:srgbClr val="D9EDF2"/>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53889" y="1886069"/>
            <a:ext cx="90726" cy="90726"/>
          </a:xfrm>
          <a:prstGeom prst="rect">
            <a:avLst/>
          </a:prstGeom>
        </p:spPr>
      </p:pic>
      <p:sp>
        <p:nvSpPr>
          <p:cNvPr id="15" name="Text 11"/>
          <p:cNvSpPr/>
          <p:nvPr/>
        </p:nvSpPr>
        <p:spPr>
          <a:xfrm>
            <a:off x="6489978" y="1863447"/>
            <a:ext cx="820341" cy="136088"/>
          </a:xfrm>
          <a:prstGeom prst="rect">
            <a:avLst/>
          </a:prstGeom>
          <a:noFill/>
          <a:ln/>
        </p:spPr>
        <p:txBody>
          <a:bodyPr wrap="none" lIns="0" tIns="0" rIns="0" bIns="0" rtlCol="0" anchor="t"/>
          <a:lstStyle/>
          <a:p>
            <a:pPr algn="l" indent="0" marL="0">
              <a:lnSpc>
                <a:spcPts val="1050"/>
              </a:lnSpc>
              <a:buNone/>
            </a:pPr>
            <a:r>
              <a:rPr lang="en-US" sz="700" dirty="0">
                <a:solidFill>
                  <a:srgbClr val="384653"/>
                </a:solidFill>
                <a:latin typeface="Roboto" pitchFamily="34" charset="0"/>
                <a:ea typeface="Roboto" pitchFamily="34" charset="-122"/>
                <a:cs typeface="Roboto" pitchFamily="34" charset="-120"/>
              </a:rPr>
              <a:t>GENERATION LOGIC</a:t>
            </a:r>
            <a:endParaRPr lang="en-US" sz="700" dirty="0"/>
          </a:p>
        </p:txBody>
      </p:sp>
      <p:sp>
        <p:nvSpPr>
          <p:cNvPr id="16" name="Text 12"/>
          <p:cNvSpPr/>
          <p:nvPr/>
        </p:nvSpPr>
        <p:spPr>
          <a:xfrm>
            <a:off x="6285905" y="2078831"/>
            <a:ext cx="2058353" cy="354330"/>
          </a:xfrm>
          <a:prstGeom prst="rect">
            <a:avLst/>
          </a:prstGeom>
          <a:noFill/>
          <a:ln/>
        </p:spPr>
        <p:txBody>
          <a:bodyPr wrap="squar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Assess Generated Text Coherence</a:t>
            </a:r>
            <a:endParaRPr lang="en-US" sz="1100" dirty="0"/>
          </a:p>
        </p:txBody>
      </p:sp>
      <p:sp>
        <p:nvSpPr>
          <p:cNvPr id="17" name="Text 13"/>
          <p:cNvSpPr/>
          <p:nvPr/>
        </p:nvSpPr>
        <p:spPr>
          <a:xfrm>
            <a:off x="6285905" y="2501146"/>
            <a:ext cx="2058353"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Verify that the output text flows logically and reflects the patterns learned from the training data.</a:t>
            </a:r>
            <a:endParaRPr lang="en-US" sz="850" dirty="0"/>
          </a:p>
        </p:txBody>
      </p:sp>
      <p:sp>
        <p:nvSpPr>
          <p:cNvPr id="18" name="Shape 14"/>
          <p:cNvSpPr/>
          <p:nvPr/>
        </p:nvSpPr>
        <p:spPr>
          <a:xfrm>
            <a:off x="8586192" y="1360765"/>
            <a:ext cx="2315647" cy="1779389"/>
          </a:xfrm>
          <a:prstGeom prst="roundRect">
            <a:avLst>
              <a:gd name="adj" fmla="val 2677"/>
            </a:avLst>
          </a:prstGeom>
          <a:solidFill>
            <a:srgbClr val="FAF9F5"/>
          </a:solidFill>
          <a:ln w="15240">
            <a:solidFill>
              <a:srgbClr val="BFD3D8"/>
            </a:solidFill>
            <a:prstDash val="solid"/>
          </a:ln>
        </p:spPr>
      </p:sp>
      <p:sp>
        <p:nvSpPr>
          <p:cNvPr id="19" name="Shape 15"/>
          <p:cNvSpPr/>
          <p:nvPr/>
        </p:nvSpPr>
        <p:spPr>
          <a:xfrm>
            <a:off x="8601432" y="1376005"/>
            <a:ext cx="2285167" cy="340162"/>
          </a:xfrm>
          <a:prstGeom prst="roundRect">
            <a:avLst>
              <a:gd name="adj" fmla="val 8627"/>
            </a:avLst>
          </a:prstGeom>
          <a:solidFill>
            <a:srgbClr val="D9EDF2"/>
          </a:solidFill>
          <a:ln/>
        </p:spPr>
      </p:sp>
      <p:sp>
        <p:nvSpPr>
          <p:cNvPr id="20" name="Shape 16"/>
          <p:cNvSpPr/>
          <p:nvPr/>
        </p:nvSpPr>
        <p:spPr>
          <a:xfrm>
            <a:off x="8714780" y="1829514"/>
            <a:ext cx="795933" cy="203954"/>
          </a:xfrm>
          <a:prstGeom prst="roundRect">
            <a:avLst>
              <a:gd name="adj" fmla="val 18684"/>
            </a:avLst>
          </a:prstGeom>
          <a:solidFill>
            <a:srgbClr val="D9EDF2"/>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82764" y="1886069"/>
            <a:ext cx="90726" cy="90726"/>
          </a:xfrm>
          <a:prstGeom prst="rect">
            <a:avLst/>
          </a:prstGeom>
        </p:spPr>
      </p:pic>
      <p:sp>
        <p:nvSpPr>
          <p:cNvPr id="22" name="Text 17"/>
          <p:cNvSpPr/>
          <p:nvPr/>
        </p:nvSpPr>
        <p:spPr>
          <a:xfrm>
            <a:off x="8918853" y="1863447"/>
            <a:ext cx="523875" cy="136088"/>
          </a:xfrm>
          <a:prstGeom prst="rect">
            <a:avLst/>
          </a:prstGeom>
          <a:noFill/>
          <a:ln/>
        </p:spPr>
        <p:txBody>
          <a:bodyPr wrap="none" lIns="0" tIns="0" rIns="0" bIns="0" rtlCol="0" anchor="t"/>
          <a:lstStyle/>
          <a:p>
            <a:pPr algn="l" indent="0" marL="0">
              <a:lnSpc>
                <a:spcPts val="1050"/>
              </a:lnSpc>
              <a:buNone/>
            </a:pPr>
            <a:r>
              <a:rPr lang="en-US" sz="700" dirty="0">
                <a:solidFill>
                  <a:srgbClr val="384653"/>
                </a:solidFill>
                <a:latin typeface="Roboto" pitchFamily="34" charset="0"/>
                <a:ea typeface="Roboto" pitchFamily="34" charset="-122"/>
                <a:cs typeface="Roboto" pitchFamily="34" charset="-120"/>
              </a:rPr>
              <a:t>EDGE CASES</a:t>
            </a:r>
            <a:endParaRPr lang="en-US" sz="700" dirty="0"/>
          </a:p>
        </p:txBody>
      </p:sp>
      <p:sp>
        <p:nvSpPr>
          <p:cNvPr id="23" name="Text 18"/>
          <p:cNvSpPr/>
          <p:nvPr/>
        </p:nvSpPr>
        <p:spPr>
          <a:xfrm>
            <a:off x="8714780" y="2078831"/>
            <a:ext cx="2058472" cy="354330"/>
          </a:xfrm>
          <a:prstGeom prst="rect">
            <a:avLst/>
          </a:prstGeom>
          <a:noFill/>
          <a:ln/>
        </p:spPr>
        <p:txBody>
          <a:bodyPr wrap="squar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Test Robustness with Anomalies</a:t>
            </a:r>
            <a:endParaRPr lang="en-US" sz="1100" dirty="0"/>
          </a:p>
        </p:txBody>
      </p:sp>
      <p:sp>
        <p:nvSpPr>
          <p:cNvPr id="24" name="Text 19"/>
          <p:cNvSpPr/>
          <p:nvPr/>
        </p:nvSpPr>
        <p:spPr>
          <a:xfrm>
            <a:off x="8714780" y="2501146"/>
            <a:ext cx="2058472"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Ensure the code handles unusual inputs gracefully, such as empty or very short texts.</a:t>
            </a:r>
            <a:endParaRPr lang="en-US" sz="850" dirty="0"/>
          </a:p>
        </p:txBody>
      </p:sp>
      <p:sp>
        <p:nvSpPr>
          <p:cNvPr id="25" name="Text 20"/>
          <p:cNvSpPr/>
          <p:nvPr/>
        </p:nvSpPr>
        <p:spPr>
          <a:xfrm>
            <a:off x="3728442" y="3310176"/>
            <a:ext cx="2640330"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Verifying the Transition Dictionary</a:t>
            </a:r>
            <a:endParaRPr lang="en-US" sz="1300" dirty="0"/>
          </a:p>
        </p:txBody>
      </p:sp>
      <p:sp>
        <p:nvSpPr>
          <p:cNvPr id="26" name="Text 21"/>
          <p:cNvSpPr/>
          <p:nvPr/>
        </p:nvSpPr>
        <p:spPr>
          <a:xfrm>
            <a:off x="3728442" y="3692843"/>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 primary test involves scrutinizing the `transitions` dictionary. For a given input text, manually confirm that each word's entry contains the correct subsequent words with their accurate frequency counts. This confirms the learning phase is sound.</a:t>
            </a:r>
            <a:endParaRPr lang="en-US" sz="850" dirty="0"/>
          </a:p>
        </p:txBody>
      </p:sp>
      <p:sp>
        <p:nvSpPr>
          <p:cNvPr id="27" name="Shape 22"/>
          <p:cNvSpPr/>
          <p:nvPr/>
        </p:nvSpPr>
        <p:spPr>
          <a:xfrm>
            <a:off x="3728442" y="4160639"/>
            <a:ext cx="7173397" cy="1871424"/>
          </a:xfrm>
          <a:prstGeom prst="roundRect">
            <a:avLst>
              <a:gd name="adj" fmla="val 2545"/>
            </a:avLst>
          </a:prstGeom>
          <a:solidFill>
            <a:srgbClr val="EDECE8"/>
          </a:solidFill>
          <a:ln/>
        </p:spPr>
      </p:sp>
      <p:sp>
        <p:nvSpPr>
          <p:cNvPr id="28" name="Shape 23"/>
          <p:cNvSpPr/>
          <p:nvPr/>
        </p:nvSpPr>
        <p:spPr>
          <a:xfrm>
            <a:off x="3722846" y="4160639"/>
            <a:ext cx="7184588" cy="1871424"/>
          </a:xfrm>
          <a:prstGeom prst="roundRect">
            <a:avLst>
              <a:gd name="adj" fmla="val 909"/>
            </a:avLst>
          </a:prstGeom>
          <a:solidFill>
            <a:srgbClr val="EDECE8"/>
          </a:solidFill>
          <a:ln/>
        </p:spPr>
      </p:sp>
      <p:sp>
        <p:nvSpPr>
          <p:cNvPr id="29" name="Text 24"/>
          <p:cNvSpPr/>
          <p:nvPr/>
        </p:nvSpPr>
        <p:spPr>
          <a:xfrm>
            <a:off x="3836194" y="4245650"/>
            <a:ext cx="6957893" cy="1701403"/>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Test case for dictionary building
sample_input = "one two one three"
expected_transitions = {
    'one': {'two': 1, 'three': 1},
    'two': {'one': 1}
}
actual_transitions = build_transition_dictionary(sample_input.split())
assert actual_transitions == expected_transitions, "Transition dictionary is incorrect!"
print("Dictionary building: PASSED")
</a:t>
            </a:r>
            <a:endParaRPr lang="en-US" sz="850" dirty="0"/>
          </a:p>
        </p:txBody>
      </p:sp>
      <p:sp>
        <p:nvSpPr>
          <p:cNvPr id="30" name="Text 25"/>
          <p:cNvSpPr/>
          <p:nvPr/>
        </p:nvSpPr>
        <p:spPr>
          <a:xfrm>
            <a:off x="3728442" y="6202085"/>
            <a:ext cx="1834396"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Testing Text Generation</a:t>
            </a:r>
            <a:endParaRPr lang="en-US" sz="1300" dirty="0"/>
          </a:p>
        </p:txBody>
      </p:sp>
      <p:sp>
        <p:nvSpPr>
          <p:cNvPr id="31" name="Text 26"/>
          <p:cNvSpPr/>
          <p:nvPr/>
        </p:nvSpPr>
        <p:spPr>
          <a:xfrm>
            <a:off x="3728442" y="6584752"/>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After confirming the dictionary, focus on the `generate_text` function. Test with different starting words and desired lengths. While the exact output will be probabilistic, check for:</a:t>
            </a:r>
            <a:endParaRPr lang="en-US" sz="850" dirty="0"/>
          </a:p>
        </p:txBody>
      </p:sp>
      <p:sp>
        <p:nvSpPr>
          <p:cNvPr id="32" name="Text 27"/>
          <p:cNvSpPr/>
          <p:nvPr/>
        </p:nvSpPr>
        <p:spPr>
          <a:xfrm>
            <a:off x="3728442" y="7052548"/>
            <a:ext cx="7173397" cy="170140"/>
          </a:xfrm>
          <a:prstGeom prst="rect">
            <a:avLst/>
          </a:prstGeom>
          <a:noFill/>
          <a:ln/>
        </p:spPr>
        <p:txBody>
          <a:bodyPr wrap="none" lIns="0" tIns="0" rIns="0" bIns="0" rtlCol="0" anchor="t"/>
          <a:lstStyle/>
          <a:p>
            <a:pPr algn="l" marL="342900" indent="-342900">
              <a:lnSpc>
                <a:spcPts val="1300"/>
              </a:lnSpc>
              <a:buSzPct val="100000"/>
              <a:buChar char="•"/>
            </a:pPr>
            <a:r>
              <a:rPr lang="en-US" sz="850" dirty="0">
                <a:solidFill>
                  <a:srgbClr val="384653"/>
                </a:solidFill>
                <a:latin typeface="Roboto" pitchFamily="34" charset="0"/>
                <a:ea typeface="Roboto" pitchFamily="34" charset="-122"/>
                <a:cs typeface="Roboto" pitchFamily="34" charset="-120"/>
              </a:rPr>
              <a:t>The output length matches the requested length (unless a `None` transition stops it early).</a:t>
            </a:r>
            <a:endParaRPr lang="en-US" sz="850" dirty="0"/>
          </a:p>
        </p:txBody>
      </p:sp>
      <p:sp>
        <p:nvSpPr>
          <p:cNvPr id="33" name="Text 28"/>
          <p:cNvSpPr/>
          <p:nvPr/>
        </p:nvSpPr>
        <p:spPr>
          <a:xfrm>
            <a:off x="3728442" y="7262336"/>
            <a:ext cx="7173397" cy="170140"/>
          </a:xfrm>
          <a:prstGeom prst="rect">
            <a:avLst/>
          </a:prstGeom>
          <a:noFill/>
          <a:ln/>
        </p:spPr>
        <p:txBody>
          <a:bodyPr wrap="none" lIns="0" tIns="0" rIns="0" bIns="0" rtlCol="0" anchor="t"/>
          <a:lstStyle/>
          <a:p>
            <a:pPr algn="l" marL="342900" indent="-342900">
              <a:lnSpc>
                <a:spcPts val="1300"/>
              </a:lnSpc>
              <a:buSzPct val="100000"/>
              <a:buChar char="•"/>
            </a:pPr>
            <a:r>
              <a:rPr lang="en-US" sz="850" dirty="0">
                <a:solidFill>
                  <a:srgbClr val="384653"/>
                </a:solidFill>
                <a:latin typeface="Roboto" pitchFamily="34" charset="0"/>
                <a:ea typeface="Roboto" pitchFamily="34" charset="-122"/>
                <a:cs typeface="Roboto" pitchFamily="34" charset="-120"/>
              </a:rPr>
              <a:t>Words chosen are indeed possible transitions from the preceding word according to the dictionary.</a:t>
            </a:r>
            <a:endParaRPr lang="en-US" sz="850" dirty="0"/>
          </a:p>
        </p:txBody>
      </p:sp>
      <p:sp>
        <p:nvSpPr>
          <p:cNvPr id="34" name="Text 29"/>
          <p:cNvSpPr/>
          <p:nvPr/>
        </p:nvSpPr>
        <p:spPr>
          <a:xfrm>
            <a:off x="3728442" y="7472124"/>
            <a:ext cx="7173397" cy="170140"/>
          </a:xfrm>
          <a:prstGeom prst="rect">
            <a:avLst/>
          </a:prstGeom>
          <a:noFill/>
          <a:ln/>
        </p:spPr>
        <p:txBody>
          <a:bodyPr wrap="none" lIns="0" tIns="0" rIns="0" bIns="0" rtlCol="0" anchor="t"/>
          <a:lstStyle/>
          <a:p>
            <a:pPr algn="l" marL="342900" indent="-342900">
              <a:lnSpc>
                <a:spcPts val="1300"/>
              </a:lnSpc>
              <a:buSzPct val="100000"/>
              <a:buChar char="•"/>
            </a:pPr>
            <a:r>
              <a:rPr lang="en-US" sz="850" dirty="0">
                <a:solidFill>
                  <a:srgbClr val="384653"/>
                </a:solidFill>
                <a:latin typeface="Roboto" pitchFamily="34" charset="0"/>
                <a:ea typeface="Roboto" pitchFamily="34" charset="-122"/>
                <a:cs typeface="Roboto" pitchFamily="34" charset="-120"/>
              </a:rPr>
              <a:t>The generator doesn't enter infinite loops, especially with small or repetitive corpora.</a:t>
            </a:r>
            <a:endParaRPr lang="en-US" sz="850" dirty="0"/>
          </a:p>
        </p:txBody>
      </p:sp>
      <p:sp>
        <p:nvSpPr>
          <p:cNvPr id="35" name="Text 30"/>
          <p:cNvSpPr/>
          <p:nvPr/>
        </p:nvSpPr>
        <p:spPr>
          <a:xfrm>
            <a:off x="3728442" y="7812286"/>
            <a:ext cx="1828562" cy="212646"/>
          </a:xfrm>
          <a:prstGeom prst="rect">
            <a:avLst/>
          </a:prstGeom>
          <a:noFill/>
          <a:ln/>
        </p:spPr>
        <p:txBody>
          <a:bodyPr wrap="none" lIns="0" tIns="0" rIns="0" bIns="0" rtlCol="0" anchor="t"/>
          <a:lstStyle/>
          <a:p>
            <a:pPr algn="l" indent="0" marL="0">
              <a:lnSpc>
                <a:spcPts val="1650"/>
              </a:lnSpc>
              <a:buNone/>
            </a:pPr>
            <a:r>
              <a:rPr lang="en-US" sz="1300" dirty="0">
                <a:solidFill>
                  <a:srgbClr val="2E3C4E"/>
                </a:solidFill>
                <a:latin typeface="Host Grotesk Medium" pitchFamily="34" charset="0"/>
                <a:ea typeface="Host Grotesk Medium" pitchFamily="34" charset="-122"/>
                <a:cs typeface="Host Grotesk Medium" pitchFamily="34" charset="-120"/>
              </a:rPr>
              <a:t>Addressing Edge Cases</a:t>
            </a:r>
            <a:endParaRPr lang="en-US" sz="1300" dirty="0"/>
          </a:p>
        </p:txBody>
      </p:sp>
      <p:sp>
        <p:nvSpPr>
          <p:cNvPr id="36" name="Text 31"/>
          <p:cNvSpPr/>
          <p:nvPr/>
        </p:nvSpPr>
        <p:spPr>
          <a:xfrm>
            <a:off x="3728442" y="8308300"/>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E3C4E"/>
                </a:solidFill>
                <a:latin typeface="Host Grotesk Medium" pitchFamily="34" charset="0"/>
                <a:ea typeface="Host Grotesk Medium" pitchFamily="34" charset="-122"/>
                <a:cs typeface="Host Grotesk Medium" pitchFamily="34" charset="-120"/>
              </a:rPr>
              <a:t>Empty Input</a:t>
            </a:r>
            <a:endParaRPr lang="en-US" sz="1100" dirty="0"/>
          </a:p>
        </p:txBody>
      </p:sp>
      <p:sp>
        <p:nvSpPr>
          <p:cNvPr id="37" name="Text 32"/>
          <p:cNvSpPr/>
          <p:nvPr/>
        </p:nvSpPr>
        <p:spPr>
          <a:xfrm>
            <a:off x="3728442" y="8598813"/>
            <a:ext cx="3448288"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Providing an empty list of words should result in an empty transition dictionary and prevent text generation.</a:t>
            </a:r>
            <a:endParaRPr lang="en-US" sz="850" dirty="0"/>
          </a:p>
        </p:txBody>
      </p:sp>
      <p:sp>
        <p:nvSpPr>
          <p:cNvPr id="38" name="Shape 33"/>
          <p:cNvSpPr/>
          <p:nvPr/>
        </p:nvSpPr>
        <p:spPr>
          <a:xfrm>
            <a:off x="3728442" y="9066609"/>
            <a:ext cx="3448288" cy="680442"/>
          </a:xfrm>
          <a:prstGeom prst="roundRect">
            <a:avLst>
              <a:gd name="adj" fmla="val 7000"/>
            </a:avLst>
          </a:prstGeom>
          <a:solidFill>
            <a:srgbClr val="EDECE8"/>
          </a:solidFill>
          <a:ln/>
        </p:spPr>
      </p:sp>
      <p:sp>
        <p:nvSpPr>
          <p:cNvPr id="39" name="Shape 34"/>
          <p:cNvSpPr/>
          <p:nvPr/>
        </p:nvSpPr>
        <p:spPr>
          <a:xfrm>
            <a:off x="3722846" y="9066609"/>
            <a:ext cx="3459480" cy="680442"/>
          </a:xfrm>
          <a:prstGeom prst="roundRect">
            <a:avLst>
              <a:gd name="adj" fmla="val 2500"/>
            </a:avLst>
          </a:prstGeom>
          <a:solidFill>
            <a:srgbClr val="EDECE8"/>
          </a:solidFill>
          <a:ln/>
        </p:spPr>
      </p:sp>
      <p:sp>
        <p:nvSpPr>
          <p:cNvPr id="40" name="Text 35"/>
          <p:cNvSpPr/>
          <p:nvPr/>
        </p:nvSpPr>
        <p:spPr>
          <a:xfrm>
            <a:off x="3836194" y="9151620"/>
            <a:ext cx="3232785"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build_transition_dictionary([]) == {}
generate_text({}, "start") == "start" # No transitions possible
</a:t>
            </a:r>
            <a:endParaRPr lang="en-US" sz="850" dirty="0"/>
          </a:p>
        </p:txBody>
      </p:sp>
      <p:sp>
        <p:nvSpPr>
          <p:cNvPr id="41" name="Text 36"/>
          <p:cNvSpPr/>
          <p:nvPr/>
        </p:nvSpPr>
        <p:spPr>
          <a:xfrm>
            <a:off x="7461052" y="8308300"/>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E3C4E"/>
                </a:solidFill>
                <a:latin typeface="Host Grotesk Medium" pitchFamily="34" charset="0"/>
                <a:ea typeface="Host Grotesk Medium" pitchFamily="34" charset="-122"/>
                <a:cs typeface="Host Grotesk Medium" pitchFamily="34" charset="-120"/>
              </a:rPr>
              <a:t>Single Word Input</a:t>
            </a:r>
            <a:endParaRPr lang="en-US" sz="1100" dirty="0"/>
          </a:p>
        </p:txBody>
      </p:sp>
      <p:sp>
        <p:nvSpPr>
          <p:cNvPr id="42" name="Text 37"/>
          <p:cNvSpPr/>
          <p:nvPr/>
        </p:nvSpPr>
        <p:spPr>
          <a:xfrm>
            <a:off x="7461052" y="8598813"/>
            <a:ext cx="3448288"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 single word corpus should yield an empty transition dictionary (as no 'next_word' exists) and generation will only output the starting word.</a:t>
            </a:r>
            <a:endParaRPr lang="en-US" sz="850" dirty="0"/>
          </a:p>
        </p:txBody>
      </p:sp>
      <p:sp>
        <p:nvSpPr>
          <p:cNvPr id="43" name="Shape 38"/>
          <p:cNvSpPr/>
          <p:nvPr/>
        </p:nvSpPr>
        <p:spPr>
          <a:xfrm>
            <a:off x="7461052" y="9236750"/>
            <a:ext cx="3448288" cy="680442"/>
          </a:xfrm>
          <a:prstGeom prst="roundRect">
            <a:avLst>
              <a:gd name="adj" fmla="val 7000"/>
            </a:avLst>
          </a:prstGeom>
          <a:solidFill>
            <a:srgbClr val="EDECE8"/>
          </a:solidFill>
          <a:ln/>
        </p:spPr>
      </p:sp>
      <p:sp>
        <p:nvSpPr>
          <p:cNvPr id="44" name="Shape 39"/>
          <p:cNvSpPr/>
          <p:nvPr/>
        </p:nvSpPr>
        <p:spPr>
          <a:xfrm>
            <a:off x="7455456" y="9236750"/>
            <a:ext cx="3459480" cy="680442"/>
          </a:xfrm>
          <a:prstGeom prst="roundRect">
            <a:avLst>
              <a:gd name="adj" fmla="val 2500"/>
            </a:avLst>
          </a:prstGeom>
          <a:solidFill>
            <a:srgbClr val="EDECE8"/>
          </a:solidFill>
          <a:ln/>
        </p:spPr>
      </p:sp>
      <p:sp>
        <p:nvSpPr>
          <p:cNvPr id="45" name="Text 40"/>
          <p:cNvSpPr/>
          <p:nvPr/>
        </p:nvSpPr>
        <p:spPr>
          <a:xfrm>
            <a:off x="7568803" y="9321760"/>
            <a:ext cx="3232785" cy="51042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build_transition_dictionary(["word"]) == {}
generate_text({"word":{}}, "word") == "word"
</a:t>
            </a:r>
            <a:endParaRPr lang="en-US" sz="850" dirty="0"/>
          </a:p>
        </p:txBody>
      </p:sp>
      <p:sp>
        <p:nvSpPr>
          <p:cNvPr id="46" name="Text 41"/>
          <p:cNvSpPr/>
          <p:nvPr/>
        </p:nvSpPr>
        <p:spPr>
          <a:xfrm>
            <a:off x="3728442" y="10172224"/>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By systematically testing these aspects, you build confidence in your Markov chain's ability to process language and generate meaningful sequences.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728442" y="311825"/>
            <a:ext cx="353508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Debugging Common Errors</a:t>
            </a:r>
            <a:endParaRPr lang="en-US" sz="2200" dirty="0"/>
          </a:p>
        </p:txBody>
      </p:sp>
      <p:sp>
        <p:nvSpPr>
          <p:cNvPr id="3" name="Text 1"/>
          <p:cNvSpPr/>
          <p:nvPr/>
        </p:nvSpPr>
        <p:spPr>
          <a:xfrm>
            <a:off x="3728442" y="892969"/>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Even with careful implementation, Markov chain models can produce unexpected results. Understanding common pitfalls and how to debug them is essential for building a robust and reliable text generator.</a:t>
            </a:r>
            <a:endParaRPr lang="en-US" sz="850" dirty="0"/>
          </a:p>
        </p:txBody>
      </p:sp>
      <p:sp>
        <p:nvSpPr>
          <p:cNvPr id="4" name="Shape 2"/>
          <p:cNvSpPr/>
          <p:nvPr/>
        </p:nvSpPr>
        <p:spPr>
          <a:xfrm>
            <a:off x="3728442" y="1530787"/>
            <a:ext cx="3529965" cy="3612952"/>
          </a:xfrm>
          <a:prstGeom prst="roundRect">
            <a:avLst>
              <a:gd name="adj" fmla="val 2072"/>
            </a:avLst>
          </a:prstGeom>
          <a:solidFill>
            <a:srgbClr val="FAF9F5"/>
          </a:solidFill>
          <a:ln/>
        </p:spPr>
      </p:sp>
      <p:pic>
        <p:nvPicPr>
          <p:cNvPr id="5" name="Image 0" descr="preencoded.png">    </p:cNvPr>
          <p:cNvPicPr>
            <a:picLocks noChangeAspect="1"/>
          </p:cNvPicPr>
          <p:nvPr/>
        </p:nvPicPr>
        <p:blipFill>
          <a:blip r:embed="rId1"/>
          <a:stretch>
            <a:fillRect/>
          </a:stretch>
        </p:blipFill>
        <p:spPr>
          <a:xfrm>
            <a:off x="3728442" y="1515547"/>
            <a:ext cx="3529965" cy="60960"/>
          </a:xfrm>
          <a:prstGeom prst="rect">
            <a:avLst/>
          </a:prstGeom>
        </p:spPr>
      </p:pic>
      <p:pic>
        <p:nvPicPr>
          <p:cNvPr id="6" name="Image 1" descr="preencoded.png">    </p:cNvPr>
          <p:cNvPicPr>
            <a:picLocks noChangeAspect="1"/>
          </p:cNvPicPr>
          <p:nvPr/>
        </p:nvPicPr>
        <p:blipFill>
          <a:blip r:embed="rId2"/>
          <a:stretch>
            <a:fillRect/>
          </a:stretch>
        </p:blipFill>
        <p:spPr>
          <a:xfrm>
            <a:off x="5323344" y="1360765"/>
            <a:ext cx="340162" cy="340162"/>
          </a:xfrm>
          <a:prstGeom prst="rect">
            <a:avLst/>
          </a:prstGeom>
        </p:spPr>
      </p:pic>
      <p:sp>
        <p:nvSpPr>
          <p:cNvPr id="7" name="Text 3"/>
          <p:cNvSpPr/>
          <p:nvPr/>
        </p:nvSpPr>
        <p:spPr>
          <a:xfrm>
            <a:off x="5425380" y="1445776"/>
            <a:ext cx="136088" cy="170021"/>
          </a:xfrm>
          <a:prstGeom prst="rect">
            <a:avLst/>
          </a:prstGeom>
          <a:noFill/>
          <a:ln/>
        </p:spPr>
        <p:txBody>
          <a:bodyPr wrap="none" lIns="0" tIns="0" rIns="0" bIns="0" rtlCol="0" anchor="t"/>
          <a:lstStyle/>
          <a:p>
            <a:pPr algn="l" indent="0" marL="0">
              <a:lnSpc>
                <a:spcPts val="1600"/>
              </a:lnSpc>
              <a:buNone/>
            </a:pPr>
            <a:r>
              <a:rPr lang="en-US" sz="1050" dirty="0">
                <a:solidFill>
                  <a:srgbClr val="000000"/>
                </a:solidFill>
                <a:latin typeface="Host Grotesk Medium" pitchFamily="34" charset="0"/>
                <a:ea typeface="Host Grotesk Medium" pitchFamily="34" charset="-122"/>
                <a:cs typeface="Host Grotesk Medium" pitchFamily="34" charset="-120"/>
              </a:rPr>
              <a:t>1</a:t>
            </a:r>
            <a:endParaRPr lang="en-US" sz="1050" dirty="0"/>
          </a:p>
        </p:txBody>
      </p:sp>
      <p:sp>
        <p:nvSpPr>
          <p:cNvPr id="8" name="Text 4"/>
          <p:cNvSpPr/>
          <p:nvPr/>
        </p:nvSpPr>
        <p:spPr>
          <a:xfrm>
            <a:off x="3857030" y="1814274"/>
            <a:ext cx="1850827"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KeyError: Missing Transitions</a:t>
            </a:r>
            <a:endParaRPr lang="en-US" sz="1100" dirty="0"/>
          </a:p>
        </p:txBody>
      </p:sp>
      <p:sp>
        <p:nvSpPr>
          <p:cNvPr id="9" name="Text 5"/>
          <p:cNvSpPr/>
          <p:nvPr/>
        </p:nvSpPr>
        <p:spPr>
          <a:xfrm>
            <a:off x="3857030" y="2059424"/>
            <a:ext cx="3272790" cy="85832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This error occurs when the text generation attempts to look up a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current_word</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in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transitions</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dictionary that either doesn't exist as a key, or has no recorded subsequent words. This often indicates an unhandled edge case or an issue with how the dictionary was built.</a:t>
            </a:r>
            <a:endParaRPr lang="en-US" sz="850" dirty="0"/>
          </a:p>
        </p:txBody>
      </p:sp>
      <p:sp>
        <p:nvSpPr>
          <p:cNvPr id="10" name="Text 6"/>
          <p:cNvSpPr/>
          <p:nvPr/>
        </p:nvSpPr>
        <p:spPr>
          <a:xfrm>
            <a:off x="3857030" y="2985730"/>
            <a:ext cx="3272790" cy="518041"/>
          </a:xfrm>
          <a:prstGeom prst="rect">
            <a:avLst/>
          </a:prstGeom>
          <a:noFill/>
          <a:ln/>
        </p:spPr>
        <p:txBody>
          <a:bodyPr wrap="square" lIns="0" tIns="0" rIns="0" bIns="0" rtlCol="0" anchor="t"/>
          <a:lstStyle/>
          <a:p>
            <a:pPr algn="l" indent="0" marL="0">
              <a:lnSpc>
                <a:spcPts val="1300"/>
              </a:lnSpc>
              <a:buNone/>
            </a:pPr>
            <a:r>
              <a:rPr lang="en-US" sz="850" b="1" dirty="0">
                <a:solidFill>
                  <a:srgbClr val="384653"/>
                </a:solidFill>
                <a:latin typeface="Roboto" pitchFamily="34" charset="0"/>
                <a:ea typeface="Roboto" pitchFamily="34" charset="-122"/>
                <a:cs typeface="Roboto" pitchFamily="34" charset="-120"/>
              </a:rPr>
              <a:t>Debugging Tip:</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Always check for the existence of a key before accessing it. Add a print statement for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current_word</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before the lookup to identify the problematic word.</a:t>
            </a:r>
            <a:endParaRPr lang="en-US" sz="850" dirty="0"/>
          </a:p>
        </p:txBody>
      </p:sp>
      <p:sp>
        <p:nvSpPr>
          <p:cNvPr id="11" name="Shape 7"/>
          <p:cNvSpPr/>
          <p:nvPr/>
        </p:nvSpPr>
        <p:spPr>
          <a:xfrm>
            <a:off x="3857030" y="3631287"/>
            <a:ext cx="3272790" cy="1190863"/>
          </a:xfrm>
          <a:prstGeom prst="roundRect">
            <a:avLst>
              <a:gd name="adj" fmla="val 4000"/>
            </a:avLst>
          </a:prstGeom>
          <a:solidFill>
            <a:srgbClr val="EDECE8"/>
          </a:solidFill>
          <a:ln/>
        </p:spPr>
      </p:sp>
      <p:sp>
        <p:nvSpPr>
          <p:cNvPr id="12" name="Shape 8"/>
          <p:cNvSpPr/>
          <p:nvPr/>
        </p:nvSpPr>
        <p:spPr>
          <a:xfrm>
            <a:off x="3851434" y="3631287"/>
            <a:ext cx="3283982" cy="1190863"/>
          </a:xfrm>
          <a:prstGeom prst="roundRect">
            <a:avLst>
              <a:gd name="adj" fmla="val 1429"/>
            </a:avLst>
          </a:prstGeom>
          <a:solidFill>
            <a:srgbClr val="EDECE8"/>
          </a:solidFill>
          <a:ln/>
        </p:spPr>
      </p:sp>
      <p:sp>
        <p:nvSpPr>
          <p:cNvPr id="13" name="Text 9"/>
          <p:cNvSpPr/>
          <p:nvPr/>
        </p:nvSpPr>
        <p:spPr>
          <a:xfrm>
            <a:off x="3964781" y="3716298"/>
            <a:ext cx="3057287" cy="102084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Check if current_word exists before accessing</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if current_word not in transitions or not transitions[current_word]:</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print(f"DEBUG: No transitions for '{current_word}'. Stopping generation.")</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return None # Or handle as an end-of-sentence</a:t>
            </a:r>
            <a:endParaRPr lang="en-US" sz="850" dirty="0"/>
          </a:p>
        </p:txBody>
      </p:sp>
      <p:sp>
        <p:nvSpPr>
          <p:cNvPr id="14" name="Shape 10"/>
          <p:cNvSpPr/>
          <p:nvPr/>
        </p:nvSpPr>
        <p:spPr>
          <a:xfrm>
            <a:off x="7371755" y="1530787"/>
            <a:ext cx="3530084" cy="3612952"/>
          </a:xfrm>
          <a:prstGeom prst="roundRect">
            <a:avLst>
              <a:gd name="adj" fmla="val 2072"/>
            </a:avLst>
          </a:prstGeom>
          <a:solidFill>
            <a:srgbClr val="FAF9F5"/>
          </a:solidFill>
          <a:ln/>
        </p:spPr>
      </p:sp>
      <p:pic>
        <p:nvPicPr>
          <p:cNvPr id="15" name="Image 2" descr="preencoded.png">    </p:cNvPr>
          <p:cNvPicPr>
            <a:picLocks noChangeAspect="1"/>
          </p:cNvPicPr>
          <p:nvPr/>
        </p:nvPicPr>
        <p:blipFill>
          <a:blip r:embed="rId3"/>
          <a:stretch>
            <a:fillRect/>
          </a:stretch>
        </p:blipFill>
        <p:spPr>
          <a:xfrm>
            <a:off x="7371755" y="1515547"/>
            <a:ext cx="3530084" cy="60960"/>
          </a:xfrm>
          <a:prstGeom prst="rect">
            <a:avLst/>
          </a:prstGeom>
        </p:spPr>
      </p:pic>
      <p:pic>
        <p:nvPicPr>
          <p:cNvPr id="16" name="Image 3" descr="preencoded.png">    </p:cNvPr>
          <p:cNvPicPr>
            <a:picLocks noChangeAspect="1"/>
          </p:cNvPicPr>
          <p:nvPr/>
        </p:nvPicPr>
        <p:blipFill>
          <a:blip r:embed="rId4"/>
          <a:stretch>
            <a:fillRect/>
          </a:stretch>
        </p:blipFill>
        <p:spPr>
          <a:xfrm>
            <a:off x="8966656" y="1360765"/>
            <a:ext cx="340162" cy="340162"/>
          </a:xfrm>
          <a:prstGeom prst="rect">
            <a:avLst/>
          </a:prstGeom>
        </p:spPr>
      </p:pic>
      <p:sp>
        <p:nvSpPr>
          <p:cNvPr id="17" name="Text 11"/>
          <p:cNvSpPr/>
          <p:nvPr/>
        </p:nvSpPr>
        <p:spPr>
          <a:xfrm>
            <a:off x="9068693" y="1445776"/>
            <a:ext cx="136088" cy="170021"/>
          </a:xfrm>
          <a:prstGeom prst="rect">
            <a:avLst/>
          </a:prstGeom>
          <a:noFill/>
          <a:ln/>
        </p:spPr>
        <p:txBody>
          <a:bodyPr wrap="none" lIns="0" tIns="0" rIns="0" bIns="0" rtlCol="0" anchor="t"/>
          <a:lstStyle/>
          <a:p>
            <a:pPr algn="l" indent="0" marL="0">
              <a:lnSpc>
                <a:spcPts val="1600"/>
              </a:lnSpc>
              <a:buNone/>
            </a:pPr>
            <a:r>
              <a:rPr lang="en-US" sz="1050" dirty="0">
                <a:solidFill>
                  <a:srgbClr val="000000"/>
                </a:solidFill>
                <a:latin typeface="Host Grotesk Medium" pitchFamily="34" charset="0"/>
                <a:ea typeface="Host Grotesk Medium" pitchFamily="34" charset="-122"/>
                <a:cs typeface="Host Grotesk Medium" pitchFamily="34" charset="-120"/>
              </a:rPr>
              <a:t>2</a:t>
            </a:r>
            <a:endParaRPr lang="en-US" sz="1050" dirty="0"/>
          </a:p>
        </p:txBody>
      </p:sp>
      <p:sp>
        <p:nvSpPr>
          <p:cNvPr id="18" name="Text 12"/>
          <p:cNvSpPr/>
          <p:nvPr/>
        </p:nvSpPr>
        <p:spPr>
          <a:xfrm>
            <a:off x="7500342" y="1814274"/>
            <a:ext cx="1992511"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None Values in Generated Text</a:t>
            </a:r>
            <a:endParaRPr lang="en-US" sz="1100" dirty="0"/>
          </a:p>
        </p:txBody>
      </p:sp>
      <p:sp>
        <p:nvSpPr>
          <p:cNvPr id="19" name="Text 13"/>
          <p:cNvSpPr/>
          <p:nvPr/>
        </p:nvSpPr>
        <p:spPr>
          <a:xfrm>
            <a:off x="7500342" y="2059424"/>
            <a:ext cx="3272909" cy="86594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If your generated text contains "None" or similar placeholder words, it usually means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get_next_word</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function returned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None</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(because no valid next word was found), and the main generation loop didn't correctly handle this return value, appending it to the sequence.</a:t>
            </a:r>
            <a:endParaRPr lang="en-US" sz="850" dirty="0"/>
          </a:p>
        </p:txBody>
      </p:sp>
      <p:sp>
        <p:nvSpPr>
          <p:cNvPr id="20" name="Text 14"/>
          <p:cNvSpPr/>
          <p:nvPr/>
        </p:nvSpPr>
        <p:spPr>
          <a:xfrm>
            <a:off x="7500342" y="2993350"/>
            <a:ext cx="3272909" cy="703421"/>
          </a:xfrm>
          <a:prstGeom prst="rect">
            <a:avLst/>
          </a:prstGeom>
          <a:noFill/>
          <a:ln/>
        </p:spPr>
        <p:txBody>
          <a:bodyPr wrap="square" lIns="0" tIns="0" rIns="0" bIns="0" rtlCol="0" anchor="t"/>
          <a:lstStyle/>
          <a:p>
            <a:pPr algn="l" indent="0" marL="0">
              <a:lnSpc>
                <a:spcPts val="1300"/>
              </a:lnSpc>
              <a:buNone/>
            </a:pPr>
            <a:r>
              <a:rPr lang="en-US" sz="850" b="1" dirty="0">
                <a:solidFill>
                  <a:srgbClr val="384653"/>
                </a:solidFill>
                <a:latin typeface="Roboto" pitchFamily="34" charset="0"/>
                <a:ea typeface="Roboto" pitchFamily="34" charset="-122"/>
                <a:cs typeface="Roboto" pitchFamily="34" charset="-120"/>
              </a:rPr>
              <a:t>Debugging Tip:</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Ensure the text generation loop explicitly breaks or discards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None</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value if no subsequent word can be determined. The provided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generate_text</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function already includes a check: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if next_word is None: break</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a:t>
            </a:r>
            <a:endParaRPr lang="en-US" sz="850" dirty="0"/>
          </a:p>
        </p:txBody>
      </p:sp>
      <p:sp>
        <p:nvSpPr>
          <p:cNvPr id="21" name="Shape 15"/>
          <p:cNvSpPr/>
          <p:nvPr/>
        </p:nvSpPr>
        <p:spPr>
          <a:xfrm>
            <a:off x="7500342" y="3824288"/>
            <a:ext cx="3272909" cy="1190863"/>
          </a:xfrm>
          <a:prstGeom prst="roundRect">
            <a:avLst>
              <a:gd name="adj" fmla="val 4000"/>
            </a:avLst>
          </a:prstGeom>
          <a:solidFill>
            <a:srgbClr val="EDECE8"/>
          </a:solidFill>
          <a:ln/>
        </p:spPr>
      </p:sp>
      <p:sp>
        <p:nvSpPr>
          <p:cNvPr id="22" name="Shape 16"/>
          <p:cNvSpPr/>
          <p:nvPr/>
        </p:nvSpPr>
        <p:spPr>
          <a:xfrm>
            <a:off x="7494746" y="3824288"/>
            <a:ext cx="3284101" cy="1190863"/>
          </a:xfrm>
          <a:prstGeom prst="roundRect">
            <a:avLst>
              <a:gd name="adj" fmla="val 1429"/>
            </a:avLst>
          </a:prstGeom>
          <a:solidFill>
            <a:srgbClr val="EDECE8"/>
          </a:solidFill>
          <a:ln/>
        </p:spPr>
      </p:sp>
      <p:sp>
        <p:nvSpPr>
          <p:cNvPr id="23" name="Text 17"/>
          <p:cNvSpPr/>
          <p:nvPr/>
        </p:nvSpPr>
        <p:spPr>
          <a:xfrm>
            <a:off x="7608094" y="3909298"/>
            <a:ext cx="3057406" cy="102084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next_word = get_next_word(transitions, current_word)</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if next_word is None:</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 Explicitly break the loop, don't append None</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print(f"DEBUG: Generation stopped due to no next word after '{current_word}'.")</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break</a:t>
            </a:r>
            <a:endParaRPr lang="en-US" sz="850" dirty="0"/>
          </a:p>
        </p:txBody>
      </p:sp>
      <p:sp>
        <p:nvSpPr>
          <p:cNvPr id="24" name="Shape 18"/>
          <p:cNvSpPr/>
          <p:nvPr/>
        </p:nvSpPr>
        <p:spPr>
          <a:xfrm>
            <a:off x="3728442" y="5427107"/>
            <a:ext cx="3529965" cy="3752612"/>
          </a:xfrm>
          <a:prstGeom prst="roundRect">
            <a:avLst>
              <a:gd name="adj" fmla="val 2072"/>
            </a:avLst>
          </a:prstGeom>
          <a:solidFill>
            <a:srgbClr val="FAF9F5"/>
          </a:solidFill>
          <a:ln/>
        </p:spPr>
      </p:sp>
      <p:pic>
        <p:nvPicPr>
          <p:cNvPr id="25" name="Image 4" descr="preencoded.png">    </p:cNvPr>
          <p:cNvPicPr>
            <a:picLocks noChangeAspect="1"/>
          </p:cNvPicPr>
          <p:nvPr/>
        </p:nvPicPr>
        <p:blipFill>
          <a:blip r:embed="rId5"/>
          <a:stretch>
            <a:fillRect/>
          </a:stretch>
        </p:blipFill>
        <p:spPr>
          <a:xfrm>
            <a:off x="3728442" y="5411867"/>
            <a:ext cx="3529965" cy="60960"/>
          </a:xfrm>
          <a:prstGeom prst="rect">
            <a:avLst/>
          </a:prstGeom>
        </p:spPr>
      </p:pic>
      <p:pic>
        <p:nvPicPr>
          <p:cNvPr id="26" name="Image 5" descr="preencoded.png">    </p:cNvPr>
          <p:cNvPicPr>
            <a:picLocks noChangeAspect="1"/>
          </p:cNvPicPr>
          <p:nvPr/>
        </p:nvPicPr>
        <p:blipFill>
          <a:blip r:embed="rId6"/>
          <a:stretch>
            <a:fillRect/>
          </a:stretch>
        </p:blipFill>
        <p:spPr>
          <a:xfrm>
            <a:off x="5323344" y="5257086"/>
            <a:ext cx="340162" cy="340162"/>
          </a:xfrm>
          <a:prstGeom prst="rect">
            <a:avLst/>
          </a:prstGeom>
        </p:spPr>
      </p:pic>
      <p:sp>
        <p:nvSpPr>
          <p:cNvPr id="27" name="Text 19"/>
          <p:cNvSpPr/>
          <p:nvPr/>
        </p:nvSpPr>
        <p:spPr>
          <a:xfrm>
            <a:off x="5425380" y="5342096"/>
            <a:ext cx="136088" cy="170021"/>
          </a:xfrm>
          <a:prstGeom prst="rect">
            <a:avLst/>
          </a:prstGeom>
          <a:noFill/>
          <a:ln/>
        </p:spPr>
        <p:txBody>
          <a:bodyPr wrap="none" lIns="0" tIns="0" rIns="0" bIns="0" rtlCol="0" anchor="t"/>
          <a:lstStyle/>
          <a:p>
            <a:pPr algn="l" indent="0" marL="0">
              <a:lnSpc>
                <a:spcPts val="1600"/>
              </a:lnSpc>
              <a:buNone/>
            </a:pPr>
            <a:r>
              <a:rPr lang="en-US" sz="1050" dirty="0">
                <a:solidFill>
                  <a:srgbClr val="000000"/>
                </a:solidFill>
                <a:latin typeface="Host Grotesk Medium" pitchFamily="34" charset="0"/>
                <a:ea typeface="Host Grotesk Medium" pitchFamily="34" charset="-122"/>
                <a:cs typeface="Host Grotesk Medium" pitchFamily="34" charset="-120"/>
              </a:rPr>
              <a:t>3</a:t>
            </a:r>
            <a:endParaRPr lang="en-US" sz="1050" dirty="0"/>
          </a:p>
        </p:txBody>
      </p:sp>
      <p:sp>
        <p:nvSpPr>
          <p:cNvPr id="28" name="Text 20"/>
          <p:cNvSpPr/>
          <p:nvPr/>
        </p:nvSpPr>
        <p:spPr>
          <a:xfrm>
            <a:off x="3857030" y="5710595"/>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Infinite Loops</a:t>
            </a:r>
            <a:endParaRPr lang="en-US" sz="1100" dirty="0"/>
          </a:p>
        </p:txBody>
      </p:sp>
      <p:sp>
        <p:nvSpPr>
          <p:cNvPr id="29" name="Text 21"/>
          <p:cNvSpPr/>
          <p:nvPr/>
        </p:nvSpPr>
        <p:spPr>
          <a:xfrm>
            <a:off x="3857030" y="5955744"/>
            <a:ext cx="3272790" cy="85070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This can happen with small or highly repetitive corpora where a word sequence forms a closed loop (e.g., "the cat sat" -&gt; "cat sat the" -&gt; "sat the cat"), and the generation process never hits its intended length or an end condition. This consumes resources and freezes the program.</a:t>
            </a:r>
            <a:endParaRPr lang="en-US" sz="850" dirty="0"/>
          </a:p>
        </p:txBody>
      </p:sp>
      <p:sp>
        <p:nvSpPr>
          <p:cNvPr id="30" name="Text 22"/>
          <p:cNvSpPr/>
          <p:nvPr/>
        </p:nvSpPr>
        <p:spPr>
          <a:xfrm>
            <a:off x="3857030" y="6874431"/>
            <a:ext cx="3272790" cy="680561"/>
          </a:xfrm>
          <a:prstGeom prst="rect">
            <a:avLst/>
          </a:prstGeom>
          <a:noFill/>
          <a:ln/>
        </p:spPr>
        <p:txBody>
          <a:bodyPr wrap="square" lIns="0" tIns="0" rIns="0" bIns="0" rtlCol="0" anchor="t"/>
          <a:lstStyle/>
          <a:p>
            <a:pPr algn="l" indent="0" marL="0">
              <a:lnSpc>
                <a:spcPts val="1300"/>
              </a:lnSpc>
              <a:buNone/>
            </a:pPr>
            <a:r>
              <a:rPr lang="en-US" sz="850" b="1" dirty="0">
                <a:solidFill>
                  <a:srgbClr val="384653"/>
                </a:solidFill>
                <a:latin typeface="Roboto" pitchFamily="34" charset="0"/>
                <a:ea typeface="Roboto" pitchFamily="34" charset="-122"/>
                <a:cs typeface="Roboto" pitchFamily="34" charset="-120"/>
              </a:rPr>
              <a:t>Debugging Tip:</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Implement a strict maximum length for generated text and consider tracking word sequences to detect cycles. For debugging, add print statements inside the generation loop to see the sequence of words being chosen.</a:t>
            </a:r>
            <a:endParaRPr lang="en-US" sz="850" dirty="0"/>
          </a:p>
        </p:txBody>
      </p:sp>
      <p:sp>
        <p:nvSpPr>
          <p:cNvPr id="31" name="Shape 23"/>
          <p:cNvSpPr/>
          <p:nvPr/>
        </p:nvSpPr>
        <p:spPr>
          <a:xfrm>
            <a:off x="3857030" y="7682508"/>
            <a:ext cx="3272790" cy="1190863"/>
          </a:xfrm>
          <a:prstGeom prst="roundRect">
            <a:avLst>
              <a:gd name="adj" fmla="val 4000"/>
            </a:avLst>
          </a:prstGeom>
          <a:solidFill>
            <a:srgbClr val="EDECE8"/>
          </a:solidFill>
          <a:ln/>
        </p:spPr>
      </p:sp>
      <p:sp>
        <p:nvSpPr>
          <p:cNvPr id="32" name="Shape 24"/>
          <p:cNvSpPr/>
          <p:nvPr/>
        </p:nvSpPr>
        <p:spPr>
          <a:xfrm>
            <a:off x="3851434" y="7682508"/>
            <a:ext cx="3283982" cy="1190863"/>
          </a:xfrm>
          <a:prstGeom prst="roundRect">
            <a:avLst>
              <a:gd name="adj" fmla="val 1429"/>
            </a:avLst>
          </a:prstGeom>
          <a:solidFill>
            <a:srgbClr val="EDECE8"/>
          </a:solidFill>
          <a:ln/>
        </p:spPr>
      </p:sp>
      <p:sp>
        <p:nvSpPr>
          <p:cNvPr id="33" name="Text 25"/>
          <p:cNvSpPr/>
          <p:nvPr/>
        </p:nvSpPr>
        <p:spPr>
          <a:xfrm>
            <a:off x="3964781" y="7767518"/>
            <a:ext cx="3057287" cy="1020842"/>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for _ in range(length - 1): # Max iterations based on desired length</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 ... generation logic ...</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print(f"DEBUG: Current word in loop: '{current_word}'")</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 Add a counter or a set to track visited states for cycle detection in complex scenarios</a:t>
            </a:r>
            <a:endParaRPr lang="en-US" sz="850" dirty="0"/>
          </a:p>
        </p:txBody>
      </p:sp>
      <p:sp>
        <p:nvSpPr>
          <p:cNvPr id="34" name="Shape 26"/>
          <p:cNvSpPr/>
          <p:nvPr/>
        </p:nvSpPr>
        <p:spPr>
          <a:xfrm>
            <a:off x="7371755" y="5427107"/>
            <a:ext cx="3530084" cy="3752612"/>
          </a:xfrm>
          <a:prstGeom prst="roundRect">
            <a:avLst>
              <a:gd name="adj" fmla="val 2072"/>
            </a:avLst>
          </a:prstGeom>
          <a:solidFill>
            <a:srgbClr val="FAF9F5"/>
          </a:solidFill>
          <a:ln/>
        </p:spPr>
      </p:sp>
      <p:pic>
        <p:nvPicPr>
          <p:cNvPr id="35" name="Image 6" descr="preencoded.png">    </p:cNvPr>
          <p:cNvPicPr>
            <a:picLocks noChangeAspect="1"/>
          </p:cNvPicPr>
          <p:nvPr/>
        </p:nvPicPr>
        <p:blipFill>
          <a:blip r:embed="rId7"/>
          <a:stretch>
            <a:fillRect/>
          </a:stretch>
        </p:blipFill>
        <p:spPr>
          <a:xfrm>
            <a:off x="7371755" y="5411867"/>
            <a:ext cx="3530084" cy="60960"/>
          </a:xfrm>
          <a:prstGeom prst="rect">
            <a:avLst/>
          </a:prstGeom>
        </p:spPr>
      </p:pic>
      <p:pic>
        <p:nvPicPr>
          <p:cNvPr id="36" name="Image 7" descr="preencoded.png">    </p:cNvPr>
          <p:cNvPicPr>
            <a:picLocks noChangeAspect="1"/>
          </p:cNvPicPr>
          <p:nvPr/>
        </p:nvPicPr>
        <p:blipFill>
          <a:blip r:embed="rId8"/>
          <a:stretch>
            <a:fillRect/>
          </a:stretch>
        </p:blipFill>
        <p:spPr>
          <a:xfrm>
            <a:off x="8966656" y="5257086"/>
            <a:ext cx="340162" cy="340162"/>
          </a:xfrm>
          <a:prstGeom prst="rect">
            <a:avLst/>
          </a:prstGeom>
        </p:spPr>
      </p:pic>
      <p:sp>
        <p:nvSpPr>
          <p:cNvPr id="37" name="Text 27"/>
          <p:cNvSpPr/>
          <p:nvPr/>
        </p:nvSpPr>
        <p:spPr>
          <a:xfrm>
            <a:off x="9068693" y="5342096"/>
            <a:ext cx="136088" cy="170021"/>
          </a:xfrm>
          <a:prstGeom prst="rect">
            <a:avLst/>
          </a:prstGeom>
          <a:noFill/>
          <a:ln/>
        </p:spPr>
        <p:txBody>
          <a:bodyPr wrap="none" lIns="0" tIns="0" rIns="0" bIns="0" rtlCol="0" anchor="t"/>
          <a:lstStyle/>
          <a:p>
            <a:pPr algn="l" indent="0" marL="0">
              <a:lnSpc>
                <a:spcPts val="1600"/>
              </a:lnSpc>
              <a:buNone/>
            </a:pPr>
            <a:r>
              <a:rPr lang="en-US" sz="1050" dirty="0">
                <a:solidFill>
                  <a:srgbClr val="000000"/>
                </a:solidFill>
                <a:latin typeface="Host Grotesk Medium" pitchFamily="34" charset="0"/>
                <a:ea typeface="Host Grotesk Medium" pitchFamily="34" charset="-122"/>
                <a:cs typeface="Host Grotesk Medium" pitchFamily="34" charset="-120"/>
              </a:rPr>
              <a:t>4</a:t>
            </a:r>
            <a:endParaRPr lang="en-US" sz="1050" dirty="0"/>
          </a:p>
        </p:txBody>
      </p:sp>
      <p:sp>
        <p:nvSpPr>
          <p:cNvPr id="38" name="Text 28"/>
          <p:cNvSpPr/>
          <p:nvPr/>
        </p:nvSpPr>
        <p:spPr>
          <a:xfrm>
            <a:off x="7500342" y="5710595"/>
            <a:ext cx="1791057" cy="177165"/>
          </a:xfrm>
          <a:prstGeom prst="rect">
            <a:avLst/>
          </a:prstGeom>
          <a:noFill/>
          <a:ln/>
        </p:spPr>
        <p:txBody>
          <a:bodyPr wrap="none" lIns="0" tIns="0" rIns="0" bIns="0" rtlCol="0" anchor="t"/>
          <a:lstStyle/>
          <a:p>
            <a:pPr algn="l" indent="0" marL="0">
              <a:lnSpc>
                <a:spcPts val="1350"/>
              </a:lnSpc>
              <a:buNone/>
            </a:pPr>
            <a:r>
              <a:rPr lang="en-US" sz="1100" dirty="0">
                <a:solidFill>
                  <a:srgbClr val="384653"/>
                </a:solidFill>
                <a:latin typeface="Host Grotesk Medium" pitchFamily="34" charset="0"/>
                <a:ea typeface="Host Grotesk Medium" pitchFamily="34" charset="-122"/>
                <a:cs typeface="Host Grotesk Medium" pitchFamily="34" charset="-120"/>
              </a:rPr>
              <a:t>Incorrect Frequency Counts</a:t>
            </a:r>
            <a:endParaRPr lang="en-US" sz="1100" dirty="0"/>
          </a:p>
        </p:txBody>
      </p:sp>
      <p:sp>
        <p:nvSpPr>
          <p:cNvPr id="39" name="Text 29"/>
          <p:cNvSpPr/>
          <p:nvPr/>
        </p:nvSpPr>
        <p:spPr>
          <a:xfrm>
            <a:off x="7500342" y="5955744"/>
            <a:ext cx="3272909" cy="68056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If the generated text doesn't reflect the statistical patterns of your training data, or certain transitions seem disproportionately chosen, there might be an error in how word frequencies are counted when building the transition dictionary.</a:t>
            </a:r>
            <a:endParaRPr lang="en-US" sz="850" dirty="0"/>
          </a:p>
        </p:txBody>
      </p:sp>
      <p:sp>
        <p:nvSpPr>
          <p:cNvPr id="40" name="Text 30"/>
          <p:cNvSpPr/>
          <p:nvPr/>
        </p:nvSpPr>
        <p:spPr>
          <a:xfrm>
            <a:off x="7500342" y="6704290"/>
            <a:ext cx="3272909" cy="688181"/>
          </a:xfrm>
          <a:prstGeom prst="rect">
            <a:avLst/>
          </a:prstGeom>
          <a:noFill/>
          <a:ln/>
        </p:spPr>
        <p:txBody>
          <a:bodyPr wrap="square" lIns="0" tIns="0" rIns="0" bIns="0" rtlCol="0" anchor="t"/>
          <a:lstStyle/>
          <a:p>
            <a:pPr algn="l" indent="0" marL="0">
              <a:lnSpc>
                <a:spcPts val="1300"/>
              </a:lnSpc>
              <a:buNone/>
            </a:pPr>
            <a:r>
              <a:rPr lang="en-US" sz="850" b="1" dirty="0">
                <a:solidFill>
                  <a:srgbClr val="384653"/>
                </a:solidFill>
                <a:latin typeface="Roboto" pitchFamily="34" charset="0"/>
                <a:ea typeface="Roboto" pitchFamily="34" charset="-122"/>
                <a:cs typeface="Roboto" pitchFamily="34" charset="-120"/>
              </a:rPr>
              <a:t>Debugging Tip:</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Use small, controlled input texts and manually verify the expected output of the </a:t>
            </a:r>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build_transition_dictionary</a:t>
            </a:r>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 function using assertions. Print sections of the dictionary to inspect specific word transitions.</a:t>
            </a:r>
            <a:endParaRPr lang="en-US" sz="850" dirty="0"/>
          </a:p>
        </p:txBody>
      </p:sp>
      <p:sp>
        <p:nvSpPr>
          <p:cNvPr id="41" name="Shape 31"/>
          <p:cNvSpPr/>
          <p:nvPr/>
        </p:nvSpPr>
        <p:spPr>
          <a:xfrm>
            <a:off x="7500342" y="7519988"/>
            <a:ext cx="3272909" cy="1531144"/>
          </a:xfrm>
          <a:prstGeom prst="roundRect">
            <a:avLst>
              <a:gd name="adj" fmla="val 3111"/>
            </a:avLst>
          </a:prstGeom>
          <a:solidFill>
            <a:srgbClr val="EDECE8"/>
          </a:solidFill>
          <a:ln/>
        </p:spPr>
      </p:sp>
      <p:sp>
        <p:nvSpPr>
          <p:cNvPr id="42" name="Shape 32"/>
          <p:cNvSpPr/>
          <p:nvPr/>
        </p:nvSpPr>
        <p:spPr>
          <a:xfrm>
            <a:off x="7494746" y="7519988"/>
            <a:ext cx="3284101" cy="1531144"/>
          </a:xfrm>
          <a:prstGeom prst="roundRect">
            <a:avLst>
              <a:gd name="adj" fmla="val 1111"/>
            </a:avLst>
          </a:prstGeom>
          <a:solidFill>
            <a:srgbClr val="EDECE8"/>
          </a:solidFill>
          <a:ln/>
        </p:spPr>
      </p:sp>
      <p:sp>
        <p:nvSpPr>
          <p:cNvPr id="43" name="Text 33"/>
          <p:cNvSpPr/>
          <p:nvPr/>
        </p:nvSpPr>
        <p:spPr>
          <a:xfrm>
            <a:off x="7608094" y="7604998"/>
            <a:ext cx="3057406" cy="1361123"/>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 Small test case for dictionary</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test_corpus = ["red", "blue", "red", "green", "blue"]</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expected = {'red': {'blue': 1, 'green': 1}, 'blue': {'red': 1}} # Example expected output</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actual = build_transition_dictionary(test_corpus)</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assert actual == expected, f"Dictionary mismatch! Expected: {expected}, Got: {actual}"</a:t>
            </a:r>
            <a:endParaRPr lang="en-US" sz="850" dirty="0"/>
          </a:p>
          <a:p>
            <a:pPr algn="l" indent="0" marL="0">
              <a:lnSpc>
                <a:spcPts val="1300"/>
              </a:lnSpc>
              <a:buNone/>
            </a:pPr>
            <a:r>
              <a:rPr lang="en-US" sz="850" dirty="0">
                <a:solidFill>
                  <a:srgbClr val="384653"/>
                </a:solidFill>
                <a:highlight>
                  <a:srgbClr val="EDECE8"/>
                </a:highlight>
                <a:latin typeface="Consolas" pitchFamily="34" charset="0"/>
                <a:ea typeface="Consolas" pitchFamily="34" charset="-122"/>
                <a:cs typeface="Consolas" pitchFamily="34" charset="-120"/>
              </a:rPr>
              <a:t>print("DEBUG: Dictionary for 'red':", actual.get('red'))</a:t>
            </a:r>
            <a:endParaRPr lang="en-US" sz="850" dirty="0"/>
          </a:p>
        </p:txBody>
      </p:sp>
      <p:sp>
        <p:nvSpPr>
          <p:cNvPr id="44" name="Text 34"/>
          <p:cNvSpPr/>
          <p:nvPr/>
        </p:nvSpPr>
        <p:spPr>
          <a:xfrm>
            <a:off x="3728442" y="9307235"/>
            <a:ext cx="7173397" cy="340281"/>
          </a:xfrm>
          <a:prstGeom prst="rect">
            <a:avLst/>
          </a:prstGeom>
          <a:noFill/>
          <a:ln/>
        </p:spPr>
        <p:txBody>
          <a:bodyPr wrap="square" lIns="0" tIns="0" rIns="0" bIns="0" rtlCol="0" anchor="t"/>
          <a:lstStyle/>
          <a:p>
            <a:pPr algn="l" indent="0" marL="0">
              <a:lnSpc>
                <a:spcPts val="1300"/>
              </a:lnSpc>
              <a:buNone/>
            </a:pPr>
            <a:r>
              <a:rPr lang="en-US" sz="850" dirty="0">
                <a:solidFill>
                  <a:srgbClr val="384653"/>
                </a:solidFill>
                <a:latin typeface="Roboto" pitchFamily="34" charset="0"/>
                <a:ea typeface="Roboto" pitchFamily="34" charset="-122"/>
                <a:cs typeface="Roboto" pitchFamily="34" charset="-120"/>
              </a:rPr>
              <a:t>Systematic testing, coupled with strategic print statements and assertions, forms the backbone of effective debugging. By isolating and verifying each component of your Markov chain implementation, you can ensure its accuracy and robustness.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2026-01-17T05:55:21Z</dcterms:created>
  <dcterms:modified xsi:type="dcterms:W3CDTF">2026-01-17T05:55:21Z</dcterms:modified>
</cp:coreProperties>
</file>