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Host Grotesk Medium"/>
      <p:regular r:id="rId13"/>
    </p:embeddedFont>
    <p:embeddedFont>
      <p:font typeface="Host Grotesk Medium"/>
      <p:regular r:id="rId14"/>
    </p:embeddedFont>
    <p:embeddedFont>
      <p:font typeface="Host Grotesk Medium"/>
      <p:regular r:id="rId15"/>
    </p:embeddedFont>
    <p:embeddedFont>
      <p:font typeface="Host Grotesk Medium"/>
      <p:regular r:id="rId16"/>
    </p:embeddedFont>
    <p:embeddedFont>
      <p:font typeface="Roboto"/>
      <p:regular r:id="rId17"/>
    </p:embeddedFont>
    <p:embeddedFont>
      <p:font typeface="Roboto"/>
      <p:regular r:id="rId18"/>
    </p:embeddedFont>
    <p:embeddedFont>
      <p:font typeface="Roboto"/>
      <p:regular r:id="rId19"/>
    </p:embeddedFont>
    <p:embeddedFont>
      <p:font typeface="Roboto"/>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839045"/>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Mastering Text with Python: An Introduction to Regular Expressions</a:t>
            </a:r>
            <a:endParaRPr lang="en-US" sz="4450" dirty="0"/>
          </a:p>
        </p:txBody>
      </p:sp>
      <p:sp>
        <p:nvSpPr>
          <p:cNvPr id="3" name="Text 1"/>
          <p:cNvSpPr/>
          <p:nvPr/>
        </p:nvSpPr>
        <p:spPr>
          <a:xfrm>
            <a:off x="793790" y="4710232"/>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Unlock the power of text manipulation in Python. This presentation will guide you through basic string operations and introduce you to the versatile world of regular expressions, enabling you to efficiently search, match, and transform text data.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080373"/>
            <a:ext cx="1223843" cy="408146"/>
          </a:xfrm>
          <a:prstGeom prst="roundRect">
            <a:avLst>
              <a:gd name="adj" fmla="val 18673"/>
            </a:avLst>
          </a:prstGeom>
          <a:solidFill>
            <a:srgbClr val="D9EDF2"/>
          </a:solidFill>
          <a:ln/>
        </p:spPr>
      </p:sp>
      <p:sp>
        <p:nvSpPr>
          <p:cNvPr id="3" name="Text 1"/>
          <p:cNvSpPr/>
          <p:nvPr/>
        </p:nvSpPr>
        <p:spPr>
          <a:xfrm>
            <a:off x="929878" y="1148358"/>
            <a:ext cx="951667" cy="272177"/>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CHAPTER 1</a:t>
            </a:r>
            <a:endParaRPr lang="en-US" sz="1400" dirty="0"/>
          </a:p>
        </p:txBody>
      </p:sp>
      <p:sp>
        <p:nvSpPr>
          <p:cNvPr id="4" name="Text 2"/>
          <p:cNvSpPr/>
          <p:nvPr/>
        </p:nvSpPr>
        <p:spPr>
          <a:xfrm>
            <a:off x="793790" y="1579245"/>
            <a:ext cx="10401776"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Simple String Operations: Counting and Replacing</a:t>
            </a:r>
            <a:endParaRPr lang="en-US" sz="3550" dirty="0"/>
          </a:p>
        </p:txBody>
      </p:sp>
      <p:sp>
        <p:nvSpPr>
          <p:cNvPr id="5" name="Shape 3"/>
          <p:cNvSpPr/>
          <p:nvPr/>
        </p:nvSpPr>
        <p:spPr>
          <a:xfrm>
            <a:off x="793790" y="2486382"/>
            <a:ext cx="6407944" cy="4662845"/>
          </a:xfrm>
          <a:prstGeom prst="roundRect">
            <a:avLst>
              <a:gd name="adj" fmla="val 3138"/>
            </a:avLst>
          </a:prstGeom>
          <a:solidFill>
            <a:srgbClr val="FAF9F5"/>
          </a:solidFill>
          <a:ln w="30480">
            <a:solidFill>
              <a:srgbClr val="BFD3D8"/>
            </a:solidFill>
            <a:prstDash val="solid"/>
          </a:ln>
        </p:spPr>
      </p:sp>
      <p:pic>
        <p:nvPicPr>
          <p:cNvPr id="6" name="Image 0" descr="preencoded.png">    </p:cNvPr>
          <p:cNvPicPr>
            <a:picLocks noChangeAspect="1"/>
          </p:cNvPicPr>
          <p:nvPr/>
        </p:nvPicPr>
        <p:blipFill>
          <a:blip r:embed="rId1"/>
          <a:stretch>
            <a:fillRect/>
          </a:stretch>
        </p:blipFill>
        <p:spPr>
          <a:xfrm>
            <a:off x="763310" y="2486382"/>
            <a:ext cx="121920" cy="4662845"/>
          </a:xfrm>
          <a:prstGeom prst="rect">
            <a:avLst/>
          </a:prstGeom>
        </p:spPr>
      </p:pic>
      <p:sp>
        <p:nvSpPr>
          <p:cNvPr id="7" name="Text 4"/>
          <p:cNvSpPr/>
          <p:nvPr/>
        </p:nvSpPr>
        <p:spPr>
          <a:xfrm>
            <a:off x="1142524" y="2743676"/>
            <a:ext cx="3473410" cy="425291"/>
          </a:xfrm>
          <a:prstGeom prst="rect">
            <a:avLst/>
          </a:prstGeom>
          <a:noFill/>
          <a:ln/>
        </p:spPr>
        <p:txBody>
          <a:bodyPr wrap="none" lIns="0" tIns="0" rIns="0" bIns="0" rtlCol="0" anchor="t"/>
          <a:lstStyle/>
          <a:p>
            <a:pPr algn="l" indent="0" marL="0">
              <a:lnSpc>
                <a:spcPts val="3300"/>
              </a:lnSpc>
              <a:buNone/>
            </a:pPr>
            <a:r>
              <a:rPr lang="en-US" sz="2650" dirty="0">
                <a:solidFill>
                  <a:srgbClr val="384653"/>
                </a:solidFill>
                <a:latin typeface="Host Grotesk Medium" pitchFamily="34" charset="0"/>
                <a:ea typeface="Host Grotesk Medium" pitchFamily="34" charset="-122"/>
                <a:cs typeface="Host Grotesk Medium" pitchFamily="34" charset="-120"/>
              </a:rPr>
              <a:t>Counting Occurrences</a:t>
            </a:r>
            <a:endParaRPr lang="en-US" sz="2650" dirty="0"/>
          </a:p>
        </p:txBody>
      </p:sp>
      <p:sp>
        <p:nvSpPr>
          <p:cNvPr id="8" name="Text 5"/>
          <p:cNvSpPr/>
          <p:nvPr/>
        </p:nvSpPr>
        <p:spPr>
          <a:xfrm>
            <a:off x="1142524" y="3305056"/>
            <a:ext cx="5801916" cy="102810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While basic iteration can count lines containing a name, the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.count()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method provides a precise total of all occurrences within a string.</a:t>
            </a:r>
            <a:endParaRPr lang="en-US" sz="1750" dirty="0"/>
          </a:p>
        </p:txBody>
      </p:sp>
      <p:sp>
        <p:nvSpPr>
          <p:cNvPr id="9" name="Shape 6"/>
          <p:cNvSpPr/>
          <p:nvPr/>
        </p:nvSpPr>
        <p:spPr>
          <a:xfrm>
            <a:off x="1142524" y="4588312"/>
            <a:ext cx="5801916" cy="1700689"/>
          </a:xfrm>
          <a:prstGeom prst="roundRect">
            <a:avLst>
              <a:gd name="adj" fmla="val 5602"/>
            </a:avLst>
          </a:prstGeom>
          <a:solidFill>
            <a:srgbClr val="EDECE8"/>
          </a:solidFill>
          <a:ln/>
        </p:spPr>
      </p:sp>
      <p:sp>
        <p:nvSpPr>
          <p:cNvPr id="10" name="Shape 7"/>
          <p:cNvSpPr/>
          <p:nvPr/>
        </p:nvSpPr>
        <p:spPr>
          <a:xfrm>
            <a:off x="1131213" y="4588312"/>
            <a:ext cx="5824537" cy="1700689"/>
          </a:xfrm>
          <a:prstGeom prst="roundRect">
            <a:avLst>
              <a:gd name="adj" fmla="val 2001"/>
            </a:avLst>
          </a:prstGeom>
          <a:solidFill>
            <a:srgbClr val="EDECE8"/>
          </a:solidFill>
          <a:ln/>
        </p:spPr>
      </p:sp>
      <p:sp>
        <p:nvSpPr>
          <p:cNvPr id="11" name="Text 8"/>
          <p:cNvSpPr/>
          <p:nvPr/>
        </p:nvSpPr>
        <p:spPr>
          <a:xfrm>
            <a:off x="1358027" y="4758333"/>
            <a:ext cx="5370909"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total = 0</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for line in open('pg345_cleaned.txt'):</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total += line.count('Jonathan')</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print(total)</a:t>
            </a:r>
            <a:endParaRPr lang="en-US" sz="1750" dirty="0"/>
          </a:p>
        </p:txBody>
      </p:sp>
      <p:sp>
        <p:nvSpPr>
          <p:cNvPr id="12" name="Text 9"/>
          <p:cNvSpPr/>
          <p:nvPr/>
        </p:nvSpPr>
        <p:spPr>
          <a:xfrm>
            <a:off x="1142524" y="6544151"/>
            <a:ext cx="5801916" cy="340162"/>
          </a:xfrm>
          <a:prstGeom prst="rect">
            <a:avLst/>
          </a:prstGeom>
          <a:noFill/>
          <a:ln/>
        </p:spPr>
        <p:txBody>
          <a:bodyPr wrap="none" lIns="0" tIns="0" rIns="0" bIns="0" rtlCol="0" anchor="t"/>
          <a:lstStyle/>
          <a:p>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Result: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200 (exact occurrences)</a:t>
            </a:r>
            <a:endParaRPr lang="en-US" sz="1750" dirty="0"/>
          </a:p>
        </p:txBody>
      </p:sp>
      <p:sp>
        <p:nvSpPr>
          <p:cNvPr id="13" name="Shape 10"/>
          <p:cNvSpPr/>
          <p:nvPr/>
        </p:nvSpPr>
        <p:spPr>
          <a:xfrm>
            <a:off x="7428548" y="2486382"/>
            <a:ext cx="6408063" cy="4662845"/>
          </a:xfrm>
          <a:prstGeom prst="roundRect">
            <a:avLst>
              <a:gd name="adj" fmla="val 3138"/>
            </a:avLst>
          </a:prstGeom>
          <a:solidFill>
            <a:srgbClr val="FAF9F5"/>
          </a:solidFill>
          <a:ln w="30480">
            <a:solidFill>
              <a:srgbClr val="BFD3D8"/>
            </a:solidFill>
            <a:prstDash val="solid"/>
          </a:ln>
        </p:spPr>
      </p:sp>
      <p:pic>
        <p:nvPicPr>
          <p:cNvPr id="14" name="Image 1" descr="preencoded.png">    </p:cNvPr>
          <p:cNvPicPr>
            <a:picLocks noChangeAspect="1"/>
          </p:cNvPicPr>
          <p:nvPr/>
        </p:nvPicPr>
        <p:blipFill>
          <a:blip r:embed="rId2"/>
          <a:stretch>
            <a:fillRect/>
          </a:stretch>
        </p:blipFill>
        <p:spPr>
          <a:xfrm>
            <a:off x="7398067" y="2486382"/>
            <a:ext cx="121920" cy="4662845"/>
          </a:xfrm>
          <a:prstGeom prst="rect">
            <a:avLst/>
          </a:prstGeom>
        </p:spPr>
      </p:pic>
      <p:sp>
        <p:nvSpPr>
          <p:cNvPr id="15" name="Text 11"/>
          <p:cNvSpPr/>
          <p:nvPr/>
        </p:nvSpPr>
        <p:spPr>
          <a:xfrm>
            <a:off x="7777282" y="274367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84653"/>
                </a:solidFill>
                <a:latin typeface="Host Grotesk Medium" pitchFamily="34" charset="0"/>
                <a:ea typeface="Host Grotesk Medium" pitchFamily="34" charset="-122"/>
                <a:cs typeface="Host Grotesk Medium" pitchFamily="34" charset="-120"/>
              </a:rPr>
              <a:t>Replacing Text</a:t>
            </a:r>
            <a:endParaRPr lang="en-US" sz="2650" dirty="0"/>
          </a:p>
        </p:txBody>
      </p:sp>
      <p:sp>
        <p:nvSpPr>
          <p:cNvPr id="16" name="Text 12"/>
          <p:cNvSpPr/>
          <p:nvPr/>
        </p:nvSpPr>
        <p:spPr>
          <a:xfrm>
            <a:off x="7777282" y="3305056"/>
            <a:ext cx="5802035" cy="68794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.replace()</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method is straightforward for direct substitutions of known character sequences.</a:t>
            </a:r>
            <a:endParaRPr lang="en-US" sz="1750" dirty="0"/>
          </a:p>
        </p:txBody>
      </p:sp>
      <p:sp>
        <p:nvSpPr>
          <p:cNvPr id="17" name="Shape 13"/>
          <p:cNvSpPr/>
          <p:nvPr/>
        </p:nvSpPr>
        <p:spPr>
          <a:xfrm>
            <a:off x="7777282" y="4248150"/>
            <a:ext cx="5802035" cy="1700689"/>
          </a:xfrm>
          <a:prstGeom prst="roundRect">
            <a:avLst>
              <a:gd name="adj" fmla="val 5602"/>
            </a:avLst>
          </a:prstGeom>
          <a:solidFill>
            <a:srgbClr val="EDECE8"/>
          </a:solidFill>
          <a:ln/>
        </p:spPr>
      </p:sp>
      <p:sp>
        <p:nvSpPr>
          <p:cNvPr id="18" name="Shape 14"/>
          <p:cNvSpPr/>
          <p:nvPr/>
        </p:nvSpPr>
        <p:spPr>
          <a:xfrm>
            <a:off x="7765971" y="4248150"/>
            <a:ext cx="5824657" cy="1700689"/>
          </a:xfrm>
          <a:prstGeom prst="roundRect">
            <a:avLst>
              <a:gd name="adj" fmla="val 2001"/>
            </a:avLst>
          </a:prstGeom>
          <a:solidFill>
            <a:srgbClr val="EDECE8"/>
          </a:solidFill>
          <a:ln/>
        </p:spPr>
      </p:sp>
      <p:sp>
        <p:nvSpPr>
          <p:cNvPr id="19" name="Text 15"/>
          <p:cNvSpPr/>
          <p:nvPr/>
        </p:nvSpPr>
        <p:spPr>
          <a:xfrm>
            <a:off x="7992785" y="4418171"/>
            <a:ext cx="5371028"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writer = open('pg345_replaced.txt', 'w')</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for line in open('pg345_cleaned.txt'):</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line = line.replace('Jonathan', 'Thomas')</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writer.write(line)</a:t>
            </a:r>
            <a:endParaRPr lang="en-US" sz="1750" dirty="0"/>
          </a:p>
        </p:txBody>
      </p:sp>
      <p:sp>
        <p:nvSpPr>
          <p:cNvPr id="20" name="Text 16"/>
          <p:cNvSpPr/>
          <p:nvPr/>
        </p:nvSpPr>
        <p:spPr>
          <a:xfrm>
            <a:off x="7777282" y="6203990"/>
            <a:ext cx="5802035" cy="687943"/>
          </a:xfrm>
          <a:prstGeom prst="rect">
            <a:avLst/>
          </a:prstGeom>
          <a:noFill/>
          <a:ln/>
        </p:spPr>
        <p:txBody>
          <a:bodyPr wrap="square" lIns="0" tIns="0" rIns="0" bIns="0" rtlCol="0" anchor="t"/>
          <a:lstStyle/>
          <a:p>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Result: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A new file,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pg345_replaced.txt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with all 'Jonathan' replaced by 'Thomas'.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44260" y="902256"/>
            <a:ext cx="1147286" cy="382548"/>
          </a:xfrm>
          <a:prstGeom prst="roundRect">
            <a:avLst>
              <a:gd name="adj" fmla="val 18678"/>
            </a:avLst>
          </a:prstGeom>
          <a:solidFill>
            <a:srgbClr val="D9EDF2"/>
          </a:solidFill>
          <a:ln/>
        </p:spPr>
      </p:sp>
      <p:sp>
        <p:nvSpPr>
          <p:cNvPr id="3" name="Text 1"/>
          <p:cNvSpPr/>
          <p:nvPr/>
        </p:nvSpPr>
        <p:spPr>
          <a:xfrm>
            <a:off x="871776" y="965954"/>
            <a:ext cx="892254" cy="255151"/>
          </a:xfrm>
          <a:prstGeom prst="rect">
            <a:avLst/>
          </a:prstGeom>
          <a:noFill/>
          <a:ln/>
        </p:spPr>
        <p:txBody>
          <a:bodyPr wrap="none" lIns="0" tIns="0" rIns="0" bIns="0" rtlCol="0" anchor="t"/>
          <a:lstStyle/>
          <a:p>
            <a:pPr algn="l" indent="0" marL="0">
              <a:lnSpc>
                <a:spcPts val="2000"/>
              </a:lnSpc>
              <a:buNone/>
            </a:pPr>
            <a:r>
              <a:rPr lang="en-US" sz="1300" dirty="0">
                <a:solidFill>
                  <a:srgbClr val="384653"/>
                </a:solidFill>
                <a:latin typeface="Roboto" pitchFamily="34" charset="0"/>
                <a:ea typeface="Roboto" pitchFamily="34" charset="-122"/>
                <a:cs typeface="Roboto" pitchFamily="34" charset="-120"/>
              </a:rPr>
              <a:t>CHAPTER 2</a:t>
            </a:r>
            <a:endParaRPr lang="en-US" sz="1300" dirty="0"/>
          </a:p>
        </p:txBody>
      </p:sp>
      <p:sp>
        <p:nvSpPr>
          <p:cNvPr id="4" name="Text 2"/>
          <p:cNvSpPr/>
          <p:nvPr/>
        </p:nvSpPr>
        <p:spPr>
          <a:xfrm>
            <a:off x="744260" y="1369814"/>
            <a:ext cx="10216039" cy="531614"/>
          </a:xfrm>
          <a:prstGeom prst="rect">
            <a:avLst/>
          </a:prstGeom>
          <a:noFill/>
          <a:ln/>
        </p:spPr>
        <p:txBody>
          <a:bodyPr wrap="none" lIns="0" tIns="0" rIns="0" bIns="0" rtlCol="0" anchor="t"/>
          <a:lstStyle/>
          <a:p>
            <a:pPr algn="l" indent="0" marL="0">
              <a:lnSpc>
                <a:spcPts val="4150"/>
              </a:lnSpc>
              <a:buNone/>
            </a:pPr>
            <a:r>
              <a:rPr lang="en-US" sz="3300" dirty="0">
                <a:solidFill>
                  <a:srgbClr val="2E3C4E"/>
                </a:solidFill>
                <a:latin typeface="Host Grotesk Medium" pitchFamily="34" charset="0"/>
                <a:ea typeface="Host Grotesk Medium" pitchFamily="34" charset="-122"/>
                <a:cs typeface="Host Grotesk Medium" pitchFamily="34" charset="-120"/>
              </a:rPr>
              <a:t>Introduction to Regular Expressions: The `re` Module</a:t>
            </a:r>
            <a:endParaRPr lang="en-US" sz="3300" dirty="0"/>
          </a:p>
        </p:txBody>
      </p:sp>
      <p:sp>
        <p:nvSpPr>
          <p:cNvPr id="5" name="Text 3"/>
          <p:cNvSpPr/>
          <p:nvPr/>
        </p:nvSpPr>
        <p:spPr>
          <a:xfrm>
            <a:off x="744260" y="2220397"/>
            <a:ext cx="13141881" cy="645557"/>
          </a:xfrm>
          <a:prstGeom prst="rect">
            <a:avLst/>
          </a:prstGeom>
          <a:noFill/>
          <a:ln/>
        </p:spPr>
        <p:txBody>
          <a:bodyPr wrap="square" lIns="0" tIns="0" rIns="0" bIns="0" rtlCol="0" anchor="t"/>
          <a:lstStyle/>
          <a:p>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When simple string methods fall short, regular expressions offer a powerful alternative for complex pattern matching. Python's built-in </a:t>
            </a:r>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re</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module is your gateway to this advanced capability.</a:t>
            </a:r>
            <a:endParaRPr lang="en-US" sz="16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4260" y="3105150"/>
            <a:ext cx="637937" cy="637937"/>
          </a:xfrm>
          <a:prstGeom prst="rect">
            <a:avLst/>
          </a:prstGeom>
        </p:spPr>
      </p:pic>
      <p:sp>
        <p:nvSpPr>
          <p:cNvPr id="7" name="Text 4"/>
          <p:cNvSpPr/>
          <p:nvPr/>
        </p:nvSpPr>
        <p:spPr>
          <a:xfrm>
            <a:off x="744260" y="4008834"/>
            <a:ext cx="2658070" cy="332303"/>
          </a:xfrm>
          <a:prstGeom prst="rect">
            <a:avLst/>
          </a:prstGeom>
          <a:noFill/>
          <a:ln/>
        </p:spPr>
        <p:txBody>
          <a:bodyPr wrap="none" lIns="0" tIns="0" rIns="0" bIns="0" rtlCol="0" anchor="t"/>
          <a:lstStyle/>
          <a:p>
            <a:pPr algn="l" indent="0" marL="0">
              <a:lnSpc>
                <a:spcPts val="2600"/>
              </a:lnSpc>
              <a:buNone/>
            </a:pPr>
            <a:r>
              <a:rPr lang="en-US" sz="2050" dirty="0">
                <a:solidFill>
                  <a:srgbClr val="384653"/>
                </a:solidFill>
                <a:latin typeface="Host Grotesk Medium" pitchFamily="34" charset="0"/>
                <a:ea typeface="Host Grotesk Medium" pitchFamily="34" charset="-122"/>
                <a:cs typeface="Host Grotesk Medium" pitchFamily="34" charset="-120"/>
              </a:rPr>
              <a:t>Importing `re`</a:t>
            </a:r>
            <a:endParaRPr lang="en-US" sz="2050" dirty="0"/>
          </a:p>
        </p:txBody>
      </p:sp>
      <p:sp>
        <p:nvSpPr>
          <p:cNvPr id="8" name="Text 5"/>
          <p:cNvSpPr/>
          <p:nvPr/>
        </p:nvSpPr>
        <p:spPr>
          <a:xfrm>
            <a:off x="744260" y="4468654"/>
            <a:ext cx="4203383" cy="637937"/>
          </a:xfrm>
          <a:prstGeom prst="rect">
            <a:avLst/>
          </a:prstGeom>
          <a:noFill/>
          <a:ln/>
        </p:spPr>
        <p:txBody>
          <a:bodyPr wrap="square" lIns="0" tIns="0" rIns="0" bIns="0" rtlCol="0" anchor="t"/>
          <a:lstStyle/>
          <a:p>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Begin by importing the regular expression module:</a:t>
            </a:r>
            <a:endParaRPr lang="en-US" sz="1650" dirty="0"/>
          </a:p>
        </p:txBody>
      </p:sp>
      <p:sp>
        <p:nvSpPr>
          <p:cNvPr id="9" name="Shape 6"/>
          <p:cNvSpPr/>
          <p:nvPr/>
        </p:nvSpPr>
        <p:spPr>
          <a:xfrm>
            <a:off x="744260" y="5345787"/>
            <a:ext cx="4203383" cy="637818"/>
          </a:xfrm>
          <a:prstGeom prst="roundRect">
            <a:avLst>
              <a:gd name="adj" fmla="val 14003"/>
            </a:avLst>
          </a:prstGeom>
          <a:solidFill>
            <a:srgbClr val="EDECE8"/>
          </a:solidFill>
          <a:ln/>
        </p:spPr>
      </p:sp>
      <p:sp>
        <p:nvSpPr>
          <p:cNvPr id="10" name="Shape 7"/>
          <p:cNvSpPr/>
          <p:nvPr/>
        </p:nvSpPr>
        <p:spPr>
          <a:xfrm>
            <a:off x="733663" y="5345787"/>
            <a:ext cx="4224576" cy="637818"/>
          </a:xfrm>
          <a:prstGeom prst="roundRect">
            <a:avLst>
              <a:gd name="adj" fmla="val 5001"/>
            </a:avLst>
          </a:prstGeom>
          <a:solidFill>
            <a:srgbClr val="EDECE8"/>
          </a:solidFill>
          <a:ln/>
        </p:spPr>
      </p:sp>
      <p:sp>
        <p:nvSpPr>
          <p:cNvPr id="11" name="Text 8"/>
          <p:cNvSpPr/>
          <p:nvPr/>
        </p:nvSpPr>
        <p:spPr>
          <a:xfrm>
            <a:off x="946309" y="5505212"/>
            <a:ext cx="3799284" cy="318968"/>
          </a:xfrm>
          <a:prstGeom prst="rect">
            <a:avLst/>
          </a:prstGeom>
          <a:noFill/>
          <a:ln/>
        </p:spPr>
        <p:txBody>
          <a:bodyPr wrap="none" lIns="0" tIns="0" rIns="0" bIns="0" rtlCol="0" anchor="t"/>
          <a:lstStyle/>
          <a:p>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import re</a:t>
            </a:r>
            <a:endParaRPr lang="en-US" sz="16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3390" y="3105150"/>
            <a:ext cx="637937" cy="637937"/>
          </a:xfrm>
          <a:prstGeom prst="rect">
            <a:avLst/>
          </a:prstGeom>
        </p:spPr>
      </p:pic>
      <p:sp>
        <p:nvSpPr>
          <p:cNvPr id="13" name="Text 9"/>
          <p:cNvSpPr/>
          <p:nvPr/>
        </p:nvSpPr>
        <p:spPr>
          <a:xfrm>
            <a:off x="5213390" y="4008834"/>
            <a:ext cx="3158966" cy="332303"/>
          </a:xfrm>
          <a:prstGeom prst="rect">
            <a:avLst/>
          </a:prstGeom>
          <a:noFill/>
          <a:ln/>
        </p:spPr>
        <p:txBody>
          <a:bodyPr wrap="none" lIns="0" tIns="0" rIns="0" bIns="0" rtlCol="0" anchor="t"/>
          <a:lstStyle/>
          <a:p>
            <a:pPr algn="l" indent="0" marL="0">
              <a:lnSpc>
                <a:spcPts val="2600"/>
              </a:lnSpc>
              <a:buNone/>
            </a:pPr>
            <a:r>
              <a:rPr lang="en-US" sz="2050" dirty="0">
                <a:solidFill>
                  <a:srgbClr val="384653"/>
                </a:solidFill>
                <a:latin typeface="Host Grotesk Medium" pitchFamily="34" charset="0"/>
                <a:ea typeface="Host Grotesk Medium" pitchFamily="34" charset="-122"/>
                <a:cs typeface="Host Grotesk Medium" pitchFamily="34" charset="-120"/>
              </a:rPr>
              <a:t>The `re.search()` Function</a:t>
            </a:r>
            <a:endParaRPr lang="en-US" sz="2050" dirty="0"/>
          </a:p>
        </p:txBody>
      </p:sp>
      <p:sp>
        <p:nvSpPr>
          <p:cNvPr id="14" name="Text 10"/>
          <p:cNvSpPr/>
          <p:nvPr/>
        </p:nvSpPr>
        <p:spPr>
          <a:xfrm>
            <a:off x="5213390" y="4468654"/>
            <a:ext cx="4203502" cy="972145"/>
          </a:xfrm>
          <a:prstGeom prst="rect">
            <a:avLst/>
          </a:prstGeom>
          <a:noFill/>
          <a:ln/>
        </p:spPr>
        <p:txBody>
          <a:bodyPr wrap="square" lIns="0" tIns="0" rIns="0" bIns="0" rtlCol="0" anchor="t"/>
          <a:lstStyle/>
          <a:p>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This function attempts to find a match for a pattern within a string. It returns a </a:t>
            </a:r>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Match</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object if successful, or </a:t>
            </a:r>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None</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otherwise.</a:t>
            </a:r>
            <a:endParaRPr lang="en-US" sz="1650" dirty="0"/>
          </a:p>
        </p:txBody>
      </p:sp>
      <p:sp>
        <p:nvSpPr>
          <p:cNvPr id="15" name="Shape 11"/>
          <p:cNvSpPr/>
          <p:nvPr/>
        </p:nvSpPr>
        <p:spPr>
          <a:xfrm>
            <a:off x="5213390" y="5679996"/>
            <a:ext cx="4203502" cy="1275755"/>
          </a:xfrm>
          <a:prstGeom prst="roundRect">
            <a:avLst>
              <a:gd name="adj" fmla="val 7001"/>
            </a:avLst>
          </a:prstGeom>
          <a:solidFill>
            <a:srgbClr val="EDECE8"/>
          </a:solidFill>
          <a:ln/>
        </p:spPr>
      </p:sp>
      <p:sp>
        <p:nvSpPr>
          <p:cNvPr id="16" name="Shape 12"/>
          <p:cNvSpPr/>
          <p:nvPr/>
        </p:nvSpPr>
        <p:spPr>
          <a:xfrm>
            <a:off x="5202793" y="5679996"/>
            <a:ext cx="4224695" cy="1275755"/>
          </a:xfrm>
          <a:prstGeom prst="roundRect">
            <a:avLst>
              <a:gd name="adj" fmla="val 2500"/>
            </a:avLst>
          </a:prstGeom>
          <a:solidFill>
            <a:srgbClr val="EDECE8"/>
          </a:solidFill>
          <a:ln/>
        </p:spPr>
      </p:sp>
      <p:sp>
        <p:nvSpPr>
          <p:cNvPr id="17" name="Text 13"/>
          <p:cNvSpPr/>
          <p:nvPr/>
        </p:nvSpPr>
        <p:spPr>
          <a:xfrm>
            <a:off x="5415439" y="5839420"/>
            <a:ext cx="3799403" cy="956905"/>
          </a:xfrm>
          <a:prstGeom prst="rect">
            <a:avLst/>
          </a:prstGeom>
          <a:noFill/>
          <a:ln/>
        </p:spPr>
        <p:txBody>
          <a:bodyPr wrap="square" lIns="0" tIns="0" rIns="0" bIns="0" rtlCol="0" anchor="t"/>
          <a:lstStyle/>
          <a:p>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text = "I am Dracula;"</a:t>
            </a:r>
            <a:endParaRPr lang="en-US" sz="1650" dirty="0"/>
          </a:p>
          <a:p>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pattern = 'Dracula'</a:t>
            </a:r>
            <a:endParaRPr lang="en-US" sz="1650" dirty="0"/>
          </a:p>
          <a:p>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result = re.search(pattern, text)</a:t>
            </a:r>
            <a:endParaRPr lang="en-US" sz="165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82639" y="3105150"/>
            <a:ext cx="637937" cy="637937"/>
          </a:xfrm>
          <a:prstGeom prst="rect">
            <a:avLst/>
          </a:prstGeom>
        </p:spPr>
      </p:pic>
      <p:sp>
        <p:nvSpPr>
          <p:cNvPr id="19" name="Text 14"/>
          <p:cNvSpPr/>
          <p:nvPr/>
        </p:nvSpPr>
        <p:spPr>
          <a:xfrm>
            <a:off x="9682639" y="4008834"/>
            <a:ext cx="3619262" cy="332303"/>
          </a:xfrm>
          <a:prstGeom prst="rect">
            <a:avLst/>
          </a:prstGeom>
          <a:noFill/>
          <a:ln/>
        </p:spPr>
        <p:txBody>
          <a:bodyPr wrap="none" lIns="0" tIns="0" rIns="0" bIns="0" rtlCol="0" anchor="t"/>
          <a:lstStyle/>
          <a:p>
            <a:pPr algn="l" indent="0" marL="0">
              <a:lnSpc>
                <a:spcPts val="2600"/>
              </a:lnSpc>
              <a:buNone/>
            </a:pPr>
            <a:r>
              <a:rPr lang="en-US" sz="2050" dirty="0">
                <a:solidFill>
                  <a:srgbClr val="384653"/>
                </a:solidFill>
                <a:latin typeface="Host Grotesk Medium" pitchFamily="34" charset="0"/>
                <a:ea typeface="Host Grotesk Medium" pitchFamily="34" charset="-122"/>
                <a:cs typeface="Host Grotesk Medium" pitchFamily="34" charset="-120"/>
              </a:rPr>
              <a:t>Understanding Match Objects</a:t>
            </a:r>
            <a:endParaRPr lang="en-US" sz="2050" dirty="0"/>
          </a:p>
        </p:txBody>
      </p:sp>
      <p:sp>
        <p:nvSpPr>
          <p:cNvPr id="20" name="Text 15"/>
          <p:cNvSpPr/>
          <p:nvPr/>
        </p:nvSpPr>
        <p:spPr>
          <a:xfrm>
            <a:off x="9682639" y="4468654"/>
            <a:ext cx="4203383" cy="964525"/>
          </a:xfrm>
          <a:prstGeom prst="rect">
            <a:avLst/>
          </a:prstGeom>
          <a:noFill/>
          <a:ln/>
        </p:spPr>
        <p:txBody>
          <a:bodyPr wrap="square" lIns="0" tIns="0" rIns="0" bIns="0" rtlCol="0" anchor="t"/>
          <a:lstStyle/>
          <a:p>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A successful search yields a </a:t>
            </a:r>
            <a:pPr algn="l" indent="0" marL="0">
              <a:lnSpc>
                <a:spcPts val="2500"/>
              </a:lnSpc>
              <a:buNone/>
            </a:pPr>
            <a:r>
              <a:rPr lang="en-US" sz="1650" dirty="0">
                <a:solidFill>
                  <a:srgbClr val="384653"/>
                </a:solidFill>
                <a:highlight>
                  <a:srgbClr val="EDECE8"/>
                </a:highlight>
                <a:latin typeface="Consolas" pitchFamily="34" charset="0"/>
                <a:ea typeface="Consolas" pitchFamily="34" charset="-122"/>
                <a:cs typeface="Consolas" pitchFamily="34" charset="-120"/>
              </a:rPr>
              <a:t>Match</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object, providing details about the match, including the matched string and its position.</a:t>
            </a:r>
            <a:endParaRPr lang="en-US" sz="1650" dirty="0"/>
          </a:p>
        </p:txBody>
      </p:sp>
      <p:sp>
        <p:nvSpPr>
          <p:cNvPr id="21" name="Text 16"/>
          <p:cNvSpPr/>
          <p:nvPr/>
        </p:nvSpPr>
        <p:spPr>
          <a:xfrm>
            <a:off x="9682639" y="5560695"/>
            <a:ext cx="4203383" cy="645557"/>
          </a:xfrm>
          <a:prstGeom prst="rect">
            <a:avLst/>
          </a:prstGeom>
          <a:noFill/>
          <a:ln/>
        </p:spPr>
        <p:txBody>
          <a:bodyPr wrap="square" lIns="0" tIns="0" rIns="0" bIns="0" rtlCol="0" anchor="t"/>
          <a:lstStyle/>
          <a:p>
            <a:pPr algn="l" marL="342900" indent="-342900">
              <a:lnSpc>
                <a:spcPts val="2500"/>
              </a:lnSpc>
              <a:buSzPct val="100000"/>
              <a:buChar char="•"/>
            </a:pPr>
            <a:r>
              <a:rPr lang="en-US" sz="1650" dirty="0">
                <a:solidFill>
                  <a:srgbClr val="384653"/>
                </a:solidFill>
                <a:highlight>
                  <a:srgbClr val="EDECE8"/>
                </a:highlight>
                <a:latin typeface="Consolas" pitchFamily="34" charset="0"/>
                <a:ea typeface="Consolas" pitchFamily="34" charset="-122"/>
                <a:cs typeface="Consolas" pitchFamily="34" charset="-120"/>
              </a:rPr>
              <a:t>result.group()</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Returns the matched string (e.g., 'Dracula').</a:t>
            </a:r>
            <a:endParaRPr lang="en-US" sz="1650" dirty="0"/>
          </a:p>
        </p:txBody>
      </p:sp>
      <p:sp>
        <p:nvSpPr>
          <p:cNvPr id="22" name="Text 17"/>
          <p:cNvSpPr/>
          <p:nvPr/>
        </p:nvSpPr>
        <p:spPr>
          <a:xfrm>
            <a:off x="9682639" y="6280666"/>
            <a:ext cx="4203383" cy="645557"/>
          </a:xfrm>
          <a:prstGeom prst="rect">
            <a:avLst/>
          </a:prstGeom>
          <a:noFill/>
          <a:ln/>
        </p:spPr>
        <p:txBody>
          <a:bodyPr wrap="square" lIns="0" tIns="0" rIns="0" bIns="0" rtlCol="0" anchor="t"/>
          <a:lstStyle/>
          <a:p>
            <a:pPr algn="l" marL="342900" indent="-342900">
              <a:lnSpc>
                <a:spcPts val="2500"/>
              </a:lnSpc>
              <a:buSzPct val="100000"/>
              <a:buChar char="•"/>
            </a:pPr>
            <a:r>
              <a:rPr lang="en-US" sz="1650" dirty="0">
                <a:solidFill>
                  <a:srgbClr val="384653"/>
                </a:solidFill>
                <a:highlight>
                  <a:srgbClr val="EDECE8"/>
                </a:highlight>
                <a:latin typeface="Consolas" pitchFamily="34" charset="0"/>
                <a:ea typeface="Consolas" pitchFamily="34" charset="-122"/>
                <a:cs typeface="Consolas" pitchFamily="34" charset="-120"/>
              </a:rPr>
              <a:t>result.span()</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Returns the start and end indices (e.g., (5, 12)).</a:t>
            </a:r>
            <a:endParaRPr lang="en-US" sz="1650" dirty="0"/>
          </a:p>
        </p:txBody>
      </p:sp>
      <p:sp>
        <p:nvSpPr>
          <p:cNvPr id="23" name="Text 18"/>
          <p:cNvSpPr/>
          <p:nvPr/>
        </p:nvSpPr>
        <p:spPr>
          <a:xfrm>
            <a:off x="9682639" y="7000637"/>
            <a:ext cx="4203383" cy="326588"/>
          </a:xfrm>
          <a:prstGeom prst="rect">
            <a:avLst/>
          </a:prstGeom>
          <a:noFill/>
          <a:ln/>
        </p:spPr>
        <p:txBody>
          <a:bodyPr wrap="none" lIns="0" tIns="0" rIns="0" bIns="0" rtlCol="0" anchor="t"/>
          <a:lstStyle/>
          <a:p>
            <a:pPr algn="l" marL="342900" indent="-342900">
              <a:lnSpc>
                <a:spcPts val="2500"/>
              </a:lnSpc>
              <a:buSzPct val="100000"/>
              <a:buChar char="•"/>
            </a:pPr>
            <a:r>
              <a:rPr lang="en-US" sz="1650" dirty="0">
                <a:solidFill>
                  <a:srgbClr val="384653"/>
                </a:solidFill>
                <a:highlight>
                  <a:srgbClr val="EDECE8"/>
                </a:highlight>
                <a:latin typeface="Consolas" pitchFamily="34" charset="0"/>
                <a:ea typeface="Consolas" pitchFamily="34" charset="-122"/>
                <a:cs typeface="Consolas" pitchFamily="34" charset="-120"/>
              </a:rPr>
              <a:t>result.string</a:t>
            </a:r>
            <a:pPr algn="l" indent="0" marL="0">
              <a:lnSpc>
                <a:spcPts val="2500"/>
              </a:lnSpc>
              <a:buNone/>
            </a:pPr>
            <a:r>
              <a:rPr lang="en-US" sz="1650" dirty="0">
                <a:solidFill>
                  <a:srgbClr val="384653"/>
                </a:solidFill>
                <a:latin typeface="Roboto" pitchFamily="34" charset="0"/>
                <a:ea typeface="Roboto" pitchFamily="34" charset="-122"/>
                <a:cs typeface="Roboto" pitchFamily="34" charset="-120"/>
              </a:rPr>
              <a:t>: The original text searched.</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986433"/>
            <a:ext cx="1223843" cy="408146"/>
          </a:xfrm>
          <a:prstGeom prst="roundRect">
            <a:avLst>
              <a:gd name="adj" fmla="val 18673"/>
            </a:avLst>
          </a:prstGeom>
          <a:solidFill>
            <a:srgbClr val="D9EDF2"/>
          </a:solidFill>
          <a:ln/>
        </p:spPr>
      </p:sp>
      <p:sp>
        <p:nvSpPr>
          <p:cNvPr id="3" name="Text 1"/>
          <p:cNvSpPr/>
          <p:nvPr/>
        </p:nvSpPr>
        <p:spPr>
          <a:xfrm>
            <a:off x="929878" y="1054418"/>
            <a:ext cx="951667" cy="272177"/>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CHAPTER 3</a:t>
            </a:r>
            <a:endParaRPr lang="en-US" sz="1400" dirty="0"/>
          </a:p>
        </p:txBody>
      </p:sp>
      <p:sp>
        <p:nvSpPr>
          <p:cNvPr id="4" name="Text 2"/>
          <p:cNvSpPr/>
          <p:nvPr/>
        </p:nvSpPr>
        <p:spPr>
          <a:xfrm>
            <a:off x="793790" y="1485305"/>
            <a:ext cx="11096982"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Advanced Pattern Matching with Regular Expressions</a:t>
            </a:r>
            <a:endParaRPr lang="en-US" sz="3550" dirty="0"/>
          </a:p>
        </p:txBody>
      </p:sp>
      <p:sp>
        <p:nvSpPr>
          <p:cNvPr id="5" name="Text 3"/>
          <p:cNvSpPr/>
          <p:nvPr/>
        </p:nvSpPr>
        <p:spPr>
          <a:xfrm>
            <a:off x="793790" y="2392442"/>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Regular expressions introduce special characters and syntax that significantly expand your search capabilities beyond exact string matches.</a:t>
            </a:r>
            <a:endParaRPr lang="en-US" sz="1750" dirty="0"/>
          </a:p>
        </p:txBody>
      </p:sp>
      <p:sp>
        <p:nvSpPr>
          <p:cNvPr id="6" name="Shape 4"/>
          <p:cNvSpPr/>
          <p:nvPr/>
        </p:nvSpPr>
        <p:spPr>
          <a:xfrm>
            <a:off x="793790" y="3327916"/>
            <a:ext cx="510302" cy="510302"/>
          </a:xfrm>
          <a:prstGeom prst="roundRect">
            <a:avLst>
              <a:gd name="adj" fmla="val 18669"/>
            </a:avLst>
          </a:prstGeom>
          <a:solidFill>
            <a:srgbClr val="D9EDF2"/>
          </a:solidFill>
          <a:ln w="7620">
            <a:solidFill>
              <a:srgbClr val="BFD3D8"/>
            </a:solidFill>
            <a:prstDash val="solid"/>
          </a:ln>
        </p:spPr>
      </p:sp>
      <p:sp>
        <p:nvSpPr>
          <p:cNvPr id="7" name="Text 5"/>
          <p:cNvSpPr/>
          <p:nvPr/>
        </p:nvSpPr>
        <p:spPr>
          <a:xfrm>
            <a:off x="1530906" y="3405783"/>
            <a:ext cx="2835235" cy="37719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The OR Operator (</a:t>
            </a:r>
            <a:pPr algn="l" indent="0" marL="0">
              <a:lnSpc>
                <a:spcPts val="2750"/>
              </a:lnSpc>
              <a:buNone/>
            </a:pPr>
            <a:r>
              <a:rPr lang="en-US" sz="220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t>
            </a:r>
            <a:endParaRPr lang="en-US" sz="2200" dirty="0"/>
          </a:p>
        </p:txBody>
      </p:sp>
      <p:sp>
        <p:nvSpPr>
          <p:cNvPr id="8" name="Text 6"/>
          <p:cNvSpPr/>
          <p:nvPr/>
        </p:nvSpPr>
        <p:spPr>
          <a:xfrm>
            <a:off x="1530906" y="3919061"/>
            <a:ext cx="3421499" cy="1708428"/>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 vertical bar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allows you to match </a:t>
            </a:r>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either</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one pattern </a:t>
            </a:r>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or</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another. This is invaluable when searching for variations of a word or name.</a:t>
            </a:r>
            <a:endParaRPr lang="en-US" sz="1750" dirty="0"/>
          </a:p>
        </p:txBody>
      </p:sp>
      <p:sp>
        <p:nvSpPr>
          <p:cNvPr id="9" name="Shape 7"/>
          <p:cNvSpPr/>
          <p:nvPr/>
        </p:nvSpPr>
        <p:spPr>
          <a:xfrm>
            <a:off x="1530906" y="5882640"/>
            <a:ext cx="3421499" cy="1360527"/>
          </a:xfrm>
          <a:prstGeom prst="roundRect">
            <a:avLst>
              <a:gd name="adj" fmla="val 7002"/>
            </a:avLst>
          </a:prstGeom>
          <a:solidFill>
            <a:srgbClr val="EDECE8"/>
          </a:solidFill>
          <a:ln/>
        </p:spPr>
      </p:sp>
      <p:sp>
        <p:nvSpPr>
          <p:cNvPr id="10" name="Shape 8"/>
          <p:cNvSpPr/>
          <p:nvPr/>
        </p:nvSpPr>
        <p:spPr>
          <a:xfrm>
            <a:off x="1519595" y="5882640"/>
            <a:ext cx="3444121" cy="1360527"/>
          </a:xfrm>
          <a:prstGeom prst="roundRect">
            <a:avLst>
              <a:gd name="adj" fmla="val 2501"/>
            </a:avLst>
          </a:prstGeom>
          <a:solidFill>
            <a:srgbClr val="EDECE8"/>
          </a:solidFill>
          <a:ln/>
        </p:spPr>
      </p:sp>
      <p:sp>
        <p:nvSpPr>
          <p:cNvPr id="11" name="Text 9"/>
          <p:cNvSpPr/>
          <p:nvPr/>
        </p:nvSpPr>
        <p:spPr>
          <a:xfrm>
            <a:off x="1746409" y="6052661"/>
            <a:ext cx="2990493"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pattern = r'Mina|Murray'</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Matches "Mina" or "Murray"</a:t>
            </a:r>
            <a:endParaRPr lang="en-US" sz="1750" dirty="0"/>
          </a:p>
        </p:txBody>
      </p:sp>
      <p:sp>
        <p:nvSpPr>
          <p:cNvPr id="12" name="Shape 10"/>
          <p:cNvSpPr/>
          <p:nvPr/>
        </p:nvSpPr>
        <p:spPr>
          <a:xfrm>
            <a:off x="5235893" y="3327916"/>
            <a:ext cx="510302" cy="510302"/>
          </a:xfrm>
          <a:prstGeom prst="roundRect">
            <a:avLst>
              <a:gd name="adj" fmla="val 18669"/>
            </a:avLst>
          </a:prstGeom>
          <a:solidFill>
            <a:srgbClr val="D9EDF2"/>
          </a:solidFill>
          <a:ln w="7620">
            <a:solidFill>
              <a:srgbClr val="BFD3D8"/>
            </a:solidFill>
            <a:prstDash val="solid"/>
          </a:ln>
        </p:spPr>
      </p:sp>
      <p:sp>
        <p:nvSpPr>
          <p:cNvPr id="13" name="Text 11"/>
          <p:cNvSpPr/>
          <p:nvPr/>
        </p:nvSpPr>
        <p:spPr>
          <a:xfrm>
            <a:off x="5973008" y="3405783"/>
            <a:ext cx="3421499" cy="754380"/>
          </a:xfrm>
          <a:prstGeom prst="rect">
            <a:avLst/>
          </a:prstGeom>
          <a:noFill/>
          <a:ln/>
        </p:spPr>
        <p:txBody>
          <a:bodyPr wrap="squar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Anchors: Start (</a:t>
            </a:r>
            <a:pPr algn="l" indent="0" marL="0">
              <a:lnSpc>
                <a:spcPts val="2750"/>
              </a:lnSpc>
              <a:buNone/>
            </a:pPr>
            <a:r>
              <a:rPr lang="en-US" sz="220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 and End (</a:t>
            </a:r>
            <a:pPr algn="l" indent="0" marL="0">
              <a:lnSpc>
                <a:spcPts val="2750"/>
              </a:lnSpc>
              <a:buNone/>
            </a:pPr>
            <a:r>
              <a:rPr lang="en-US" sz="220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t>
            </a:r>
            <a:endParaRPr lang="en-US" sz="2200" dirty="0"/>
          </a:p>
        </p:txBody>
      </p:sp>
      <p:sp>
        <p:nvSpPr>
          <p:cNvPr id="14" name="Text 12"/>
          <p:cNvSpPr/>
          <p:nvPr/>
        </p:nvSpPr>
        <p:spPr>
          <a:xfrm>
            <a:off x="5973008" y="4296251"/>
            <a:ext cx="3421499"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These special characters anchor your pattern to specific positions within a string:</a:t>
            </a:r>
            <a:endParaRPr lang="en-US" sz="1750" dirty="0"/>
          </a:p>
        </p:txBody>
      </p:sp>
      <p:sp>
        <p:nvSpPr>
          <p:cNvPr id="15" name="Text 13"/>
          <p:cNvSpPr/>
          <p:nvPr/>
        </p:nvSpPr>
        <p:spPr>
          <a:xfrm>
            <a:off x="5973008" y="5452824"/>
            <a:ext cx="3421499" cy="695563"/>
          </a:xfrm>
          <a:prstGeom prst="rect">
            <a:avLst/>
          </a:prstGeom>
          <a:noFill/>
          <a:ln/>
        </p:spPr>
        <p:txBody>
          <a:bodyPr wrap="squar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Matches the beginning of a line or string (e.g.,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^Dracula</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t>
            </a:r>
            <a:endParaRPr lang="en-US" sz="1750" dirty="0"/>
          </a:p>
        </p:txBody>
      </p:sp>
      <p:sp>
        <p:nvSpPr>
          <p:cNvPr id="16" name="Text 14"/>
          <p:cNvSpPr/>
          <p:nvPr/>
        </p:nvSpPr>
        <p:spPr>
          <a:xfrm>
            <a:off x="5973008" y="6227683"/>
            <a:ext cx="3421499" cy="695563"/>
          </a:xfrm>
          <a:prstGeom prst="rect">
            <a:avLst/>
          </a:prstGeom>
          <a:noFill/>
          <a:ln/>
        </p:spPr>
        <p:txBody>
          <a:bodyPr wrap="squar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Matches the end of a line or string (e.g.,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Harker$</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t>
            </a:r>
            <a:endParaRPr lang="en-US" sz="1750" dirty="0"/>
          </a:p>
        </p:txBody>
      </p:sp>
      <p:sp>
        <p:nvSpPr>
          <p:cNvPr id="17" name="Shape 15"/>
          <p:cNvSpPr/>
          <p:nvPr/>
        </p:nvSpPr>
        <p:spPr>
          <a:xfrm>
            <a:off x="9677995" y="3327916"/>
            <a:ext cx="510302" cy="510302"/>
          </a:xfrm>
          <a:prstGeom prst="roundRect">
            <a:avLst>
              <a:gd name="adj" fmla="val 18669"/>
            </a:avLst>
          </a:prstGeom>
          <a:solidFill>
            <a:srgbClr val="D9EDF2"/>
          </a:solidFill>
          <a:ln w="7620">
            <a:solidFill>
              <a:srgbClr val="BFD3D8"/>
            </a:solidFill>
            <a:prstDash val="solid"/>
          </a:ln>
        </p:spPr>
      </p:sp>
      <p:sp>
        <p:nvSpPr>
          <p:cNvPr id="18" name="Text 16"/>
          <p:cNvSpPr/>
          <p:nvPr/>
        </p:nvSpPr>
        <p:spPr>
          <a:xfrm>
            <a:off x="10415111" y="3405783"/>
            <a:ext cx="3028236" cy="37719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Optional Characters (</a:t>
            </a:r>
            <a:pPr algn="l" indent="0" marL="0">
              <a:lnSpc>
                <a:spcPts val="2750"/>
              </a:lnSpc>
              <a:buNone/>
            </a:pPr>
            <a:r>
              <a:rPr lang="en-US" sz="220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t>
            </a:r>
            <a:endParaRPr lang="en-US" sz="2200" dirty="0"/>
          </a:p>
        </p:txBody>
      </p:sp>
      <p:sp>
        <p:nvSpPr>
          <p:cNvPr id="19" name="Text 17"/>
          <p:cNvSpPr/>
          <p:nvPr/>
        </p:nvSpPr>
        <p:spPr>
          <a:xfrm>
            <a:off x="10415111" y="3919061"/>
            <a:ext cx="3421499" cy="136826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 question mark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makes the preceding character optional, useful for matching variations in spelling.</a:t>
            </a:r>
            <a:endParaRPr lang="en-US" sz="1750" dirty="0"/>
          </a:p>
        </p:txBody>
      </p:sp>
      <p:sp>
        <p:nvSpPr>
          <p:cNvPr id="20" name="Shape 18"/>
          <p:cNvSpPr/>
          <p:nvPr/>
        </p:nvSpPr>
        <p:spPr>
          <a:xfrm>
            <a:off x="10415111" y="5542478"/>
            <a:ext cx="3421499" cy="1360527"/>
          </a:xfrm>
          <a:prstGeom prst="roundRect">
            <a:avLst>
              <a:gd name="adj" fmla="val 7002"/>
            </a:avLst>
          </a:prstGeom>
          <a:solidFill>
            <a:srgbClr val="EDECE8"/>
          </a:solidFill>
          <a:ln/>
        </p:spPr>
      </p:sp>
      <p:sp>
        <p:nvSpPr>
          <p:cNvPr id="21" name="Shape 19"/>
          <p:cNvSpPr/>
          <p:nvPr/>
        </p:nvSpPr>
        <p:spPr>
          <a:xfrm>
            <a:off x="10403800" y="5542478"/>
            <a:ext cx="3444121" cy="1360527"/>
          </a:xfrm>
          <a:prstGeom prst="roundRect">
            <a:avLst>
              <a:gd name="adj" fmla="val 2501"/>
            </a:avLst>
          </a:prstGeom>
          <a:solidFill>
            <a:srgbClr val="EDECE8"/>
          </a:solidFill>
          <a:ln/>
        </p:spPr>
      </p:sp>
      <p:sp>
        <p:nvSpPr>
          <p:cNvPr id="22" name="Text 20"/>
          <p:cNvSpPr/>
          <p:nvPr/>
        </p:nvSpPr>
        <p:spPr>
          <a:xfrm>
            <a:off x="10630614" y="5712500"/>
            <a:ext cx="2990493"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pattern = r'colou?r'</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 Matches "colour" or "color"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12495" y="562570"/>
            <a:ext cx="1092637" cy="364331"/>
          </a:xfrm>
          <a:prstGeom prst="roundRect">
            <a:avLst>
              <a:gd name="adj" fmla="val 18671"/>
            </a:avLst>
          </a:prstGeom>
          <a:solidFill>
            <a:srgbClr val="D9EDF2"/>
          </a:solidFill>
          <a:ln/>
        </p:spPr>
      </p:sp>
      <p:sp>
        <p:nvSpPr>
          <p:cNvPr id="3" name="Text 1"/>
          <p:cNvSpPr/>
          <p:nvPr/>
        </p:nvSpPr>
        <p:spPr>
          <a:xfrm>
            <a:off x="1033939" y="623292"/>
            <a:ext cx="849749" cy="242888"/>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CHAPTER 4</a:t>
            </a:r>
            <a:endParaRPr lang="en-US" sz="1250" dirty="0"/>
          </a:p>
        </p:txBody>
      </p:sp>
      <p:sp>
        <p:nvSpPr>
          <p:cNvPr id="4" name="Text 2"/>
          <p:cNvSpPr/>
          <p:nvPr/>
        </p:nvSpPr>
        <p:spPr>
          <a:xfrm>
            <a:off x="912495" y="1007864"/>
            <a:ext cx="6170652" cy="506135"/>
          </a:xfrm>
          <a:prstGeom prst="rect">
            <a:avLst/>
          </a:prstGeom>
          <a:noFill/>
          <a:ln/>
        </p:spPr>
        <p:txBody>
          <a:bodyPr wrap="none" lIns="0" tIns="0" rIns="0" bIns="0" rtlCol="0" anchor="t"/>
          <a:lstStyle/>
          <a:p>
            <a:pPr algn="l" indent="0" marL="0">
              <a:lnSpc>
                <a:spcPts val="3950"/>
              </a:lnSpc>
              <a:buNone/>
            </a:pPr>
            <a:r>
              <a:rPr lang="en-US" sz="3150" dirty="0">
                <a:solidFill>
                  <a:srgbClr val="2E3C4E"/>
                </a:solidFill>
                <a:latin typeface="Host Grotesk Medium" pitchFamily="34" charset="0"/>
                <a:ea typeface="Host Grotesk Medium" pitchFamily="34" charset="-122"/>
                <a:cs typeface="Host Grotesk Medium" pitchFamily="34" charset="-120"/>
              </a:rPr>
              <a:t>String Substitution with `re.sub()`</a:t>
            </a:r>
            <a:endParaRPr lang="en-US" sz="3150" dirty="0"/>
          </a:p>
        </p:txBody>
      </p:sp>
      <p:sp>
        <p:nvSpPr>
          <p:cNvPr id="5" name="Text 3"/>
          <p:cNvSpPr/>
          <p:nvPr/>
        </p:nvSpPr>
        <p:spPr>
          <a:xfrm>
            <a:off x="912495" y="1817608"/>
            <a:ext cx="12805410" cy="607219"/>
          </a:xfrm>
          <a:prstGeom prst="rect">
            <a:avLst/>
          </a:prstGeom>
          <a:noFill/>
          <a:ln/>
        </p:spPr>
        <p:txBody>
          <a:bodyPr wrap="squar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Beyond just finding patterns, regular expressions excel at replacing them. The </a:t>
            </a:r>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re.sub()</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function enables powerful string substitutions based on complex patterns.</a:t>
            </a:r>
            <a:endParaRPr lang="en-US" sz="1550" dirty="0"/>
          </a:p>
        </p:txBody>
      </p:sp>
      <p:sp>
        <p:nvSpPr>
          <p:cNvPr id="6" name="Text 4"/>
          <p:cNvSpPr/>
          <p:nvPr/>
        </p:nvSpPr>
        <p:spPr>
          <a:xfrm>
            <a:off x="1216104" y="2880122"/>
            <a:ext cx="7182088" cy="303609"/>
          </a:xfrm>
          <a:prstGeom prst="rect">
            <a:avLst/>
          </a:prstGeom>
          <a:noFill/>
          <a:ln/>
        </p:spPr>
        <p:txBody>
          <a:bodyPr wrap="non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The </a:t>
            </a:r>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re.sub()</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function takes three arguments:</a:t>
            </a:r>
            <a:endParaRPr lang="en-US" sz="1550" dirty="0"/>
          </a:p>
        </p:txBody>
      </p:sp>
      <p:sp>
        <p:nvSpPr>
          <p:cNvPr id="7" name="Text 5"/>
          <p:cNvSpPr/>
          <p:nvPr/>
        </p:nvSpPr>
        <p:spPr>
          <a:xfrm>
            <a:off x="1216104" y="3365897"/>
            <a:ext cx="7182088"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latin typeface="Roboto" pitchFamily="34" charset="0"/>
                <a:ea typeface="Roboto" pitchFamily="34" charset="-122"/>
                <a:cs typeface="Roboto" pitchFamily="34" charset="-120"/>
              </a:rPr>
              <a:t>The regular expression </a:t>
            </a:r>
            <a:pPr algn="l" indent="0" marL="0">
              <a:lnSpc>
                <a:spcPts val="2350"/>
              </a:lnSpc>
              <a:buNone/>
            </a:pPr>
            <a:r>
              <a:rPr lang="en-US" sz="1550" b="1" dirty="0">
                <a:solidFill>
                  <a:srgbClr val="384653"/>
                </a:solidFill>
                <a:latin typeface="Roboto" pitchFamily="34" charset="0"/>
                <a:ea typeface="Roboto" pitchFamily="34" charset="-122"/>
                <a:cs typeface="Roboto" pitchFamily="34" charset="-120"/>
              </a:rPr>
              <a:t>pattern</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to search for.</a:t>
            </a:r>
            <a:endParaRPr lang="en-US" sz="1550" dirty="0"/>
          </a:p>
        </p:txBody>
      </p:sp>
      <p:sp>
        <p:nvSpPr>
          <p:cNvPr id="8" name="Text 6"/>
          <p:cNvSpPr/>
          <p:nvPr/>
        </p:nvSpPr>
        <p:spPr>
          <a:xfrm>
            <a:off x="1216104" y="3740348"/>
            <a:ext cx="7182088"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latin typeface="Roboto" pitchFamily="34" charset="0"/>
                <a:ea typeface="Roboto" pitchFamily="34" charset="-122"/>
                <a:cs typeface="Roboto" pitchFamily="34" charset="-120"/>
              </a:rPr>
              <a:t>The </a:t>
            </a:r>
            <a:pPr algn="l" indent="0" marL="0">
              <a:lnSpc>
                <a:spcPts val="2350"/>
              </a:lnSpc>
              <a:buNone/>
            </a:pPr>
            <a:r>
              <a:rPr lang="en-US" sz="1550" b="1" dirty="0">
                <a:solidFill>
                  <a:srgbClr val="384653"/>
                </a:solidFill>
                <a:latin typeface="Roboto" pitchFamily="34" charset="0"/>
                <a:ea typeface="Roboto" pitchFamily="34" charset="-122"/>
                <a:cs typeface="Roboto" pitchFamily="34" charset="-120"/>
              </a:rPr>
              <a:t>replacement string</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to substitute into the text.</a:t>
            </a:r>
            <a:endParaRPr lang="en-US" sz="1550" dirty="0"/>
          </a:p>
        </p:txBody>
      </p:sp>
      <p:sp>
        <p:nvSpPr>
          <p:cNvPr id="9" name="Text 7"/>
          <p:cNvSpPr/>
          <p:nvPr/>
        </p:nvSpPr>
        <p:spPr>
          <a:xfrm>
            <a:off x="1216104" y="4114800"/>
            <a:ext cx="7182088"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latin typeface="Roboto" pitchFamily="34" charset="0"/>
                <a:ea typeface="Roboto" pitchFamily="34" charset="-122"/>
                <a:cs typeface="Roboto" pitchFamily="34" charset="-120"/>
              </a:rPr>
              <a:t>The </a:t>
            </a:r>
            <a:pPr algn="l" indent="0" marL="0">
              <a:lnSpc>
                <a:spcPts val="2350"/>
              </a:lnSpc>
              <a:buNone/>
            </a:pPr>
            <a:r>
              <a:rPr lang="en-US" sz="1550" b="1" dirty="0">
                <a:solidFill>
                  <a:srgbClr val="384653"/>
                </a:solidFill>
                <a:latin typeface="Roboto" pitchFamily="34" charset="0"/>
                <a:ea typeface="Roboto" pitchFamily="34" charset="-122"/>
                <a:cs typeface="Roboto" pitchFamily="34" charset="-120"/>
              </a:rPr>
              <a:t>target string</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where the substitution should occur.</a:t>
            </a:r>
            <a:endParaRPr lang="en-US" sz="1550" dirty="0"/>
          </a:p>
        </p:txBody>
      </p:sp>
      <p:sp>
        <p:nvSpPr>
          <p:cNvPr id="10" name="Shape 8"/>
          <p:cNvSpPr/>
          <p:nvPr/>
        </p:nvSpPr>
        <p:spPr>
          <a:xfrm>
            <a:off x="912495" y="2880122"/>
            <a:ext cx="22860" cy="1538288"/>
          </a:xfrm>
          <a:prstGeom prst="rect">
            <a:avLst/>
          </a:prstGeom>
          <a:solidFill>
            <a:srgbClr val="95CCDA"/>
          </a:solidFill>
          <a:ln/>
        </p:spPr>
      </p:sp>
      <p:sp>
        <p:nvSpPr>
          <p:cNvPr id="11" name="Shape 9"/>
          <p:cNvSpPr/>
          <p:nvPr/>
        </p:nvSpPr>
        <p:spPr>
          <a:xfrm>
            <a:off x="912495" y="4646057"/>
            <a:ext cx="7485698" cy="1518047"/>
          </a:xfrm>
          <a:prstGeom prst="roundRect">
            <a:avLst>
              <a:gd name="adj" fmla="val 5601"/>
            </a:avLst>
          </a:prstGeom>
          <a:solidFill>
            <a:srgbClr val="EDECE8"/>
          </a:solidFill>
          <a:ln/>
        </p:spPr>
      </p:sp>
      <p:sp>
        <p:nvSpPr>
          <p:cNvPr id="12" name="Shape 10"/>
          <p:cNvSpPr/>
          <p:nvPr/>
        </p:nvSpPr>
        <p:spPr>
          <a:xfrm>
            <a:off x="902375" y="4646057"/>
            <a:ext cx="7505938" cy="1518047"/>
          </a:xfrm>
          <a:prstGeom prst="roundRect">
            <a:avLst>
              <a:gd name="adj" fmla="val 2001"/>
            </a:avLst>
          </a:prstGeom>
          <a:solidFill>
            <a:srgbClr val="EDECE8"/>
          </a:solidFill>
          <a:ln/>
        </p:spPr>
      </p:sp>
      <p:sp>
        <p:nvSpPr>
          <p:cNvPr id="13" name="Text 11"/>
          <p:cNvSpPr/>
          <p:nvPr/>
        </p:nvSpPr>
        <p:spPr>
          <a:xfrm>
            <a:off x="1104781" y="4797862"/>
            <a:ext cx="7101126" cy="1214438"/>
          </a:xfrm>
          <a:prstGeom prst="rect">
            <a:avLst/>
          </a:prstGeom>
          <a:noFill/>
          <a:ln/>
        </p:spPr>
        <p:txBody>
          <a:bodyPr wrap="square" lIns="0" tIns="0" rIns="0" bIns="0" rtlCol="0" anchor="t"/>
          <a:lstStyle/>
          <a:p>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pattern = 'cent(er|re)'</a:t>
            </a:r>
            <a:endParaRPr lang="en-US" sz="1550" dirty="0"/>
          </a:p>
          <a:p>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line = "the centre of some sort of"</a:t>
            </a:r>
            <a:endParaRPr lang="en-US" sz="1550" dirty="0"/>
          </a:p>
          <a:p>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 Replace British spelling with American</a:t>
            </a:r>
            <a:endParaRPr lang="en-US" sz="1550" dirty="0"/>
          </a:p>
          <a:p>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re.sub(pattern, 'center', line)</a:t>
            </a:r>
            <a:endParaRPr lang="en-US" sz="1550" dirty="0"/>
          </a:p>
        </p:txBody>
      </p:sp>
      <p:sp>
        <p:nvSpPr>
          <p:cNvPr id="14" name="Text 12"/>
          <p:cNvSpPr/>
          <p:nvPr/>
        </p:nvSpPr>
        <p:spPr>
          <a:xfrm>
            <a:off x="912495" y="6391751"/>
            <a:ext cx="7485698" cy="303609"/>
          </a:xfrm>
          <a:prstGeom prst="rect">
            <a:avLst/>
          </a:prstGeom>
          <a:noFill/>
          <a:ln/>
        </p:spPr>
        <p:txBody>
          <a:bodyPr wrap="none" lIns="0" tIns="0" rIns="0" bIns="0" rtlCol="0" anchor="t"/>
          <a:lstStyle/>
          <a:p>
            <a:pPr algn="l" indent="0" marL="0">
              <a:lnSpc>
                <a:spcPts val="2350"/>
              </a:lnSpc>
              <a:buNone/>
            </a:pPr>
            <a:r>
              <a:rPr lang="en-US" sz="1550" b="1" dirty="0">
                <a:solidFill>
                  <a:srgbClr val="384653"/>
                </a:solidFill>
                <a:latin typeface="Roboto" pitchFamily="34" charset="0"/>
                <a:ea typeface="Roboto" pitchFamily="34" charset="-122"/>
                <a:cs typeface="Roboto" pitchFamily="34" charset="-120"/>
              </a:rPr>
              <a:t>Result:</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"the center of some sort of"</a:t>
            </a:r>
            <a:endParaRPr lang="en-US" sz="1550" dirty="0"/>
          </a:p>
        </p:txBody>
      </p:sp>
      <p:sp>
        <p:nvSpPr>
          <p:cNvPr id="15" name="Text 13"/>
          <p:cNvSpPr/>
          <p:nvPr/>
        </p:nvSpPr>
        <p:spPr>
          <a:xfrm>
            <a:off x="912495" y="6877526"/>
            <a:ext cx="7485698" cy="607219"/>
          </a:xfrm>
          <a:prstGeom prst="rect">
            <a:avLst/>
          </a:prstGeom>
          <a:noFill/>
          <a:ln/>
        </p:spPr>
        <p:txBody>
          <a:bodyPr wrap="squar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This allows for systematic transformations, like converting British English spellings to American English throughout a text.</a:t>
            </a:r>
            <a:endParaRPr lang="en-US" sz="1550" dirty="0"/>
          </a:p>
        </p:txBody>
      </p:sp>
      <p:sp>
        <p:nvSpPr>
          <p:cNvPr id="16" name="Text 14"/>
          <p:cNvSpPr/>
          <p:nvPr/>
        </p:nvSpPr>
        <p:spPr>
          <a:xfrm>
            <a:off x="8899684" y="2834640"/>
            <a:ext cx="4825841" cy="303609"/>
          </a:xfrm>
          <a:prstGeom prst="rect">
            <a:avLst/>
          </a:prstGeom>
          <a:noFill/>
          <a:ln/>
        </p:spPr>
        <p:txBody>
          <a:bodyPr wrap="none" lIns="0" tIns="0" rIns="0" bIns="0" rtlCol="0" anchor="t"/>
          <a:lstStyle/>
          <a:p>
            <a:pPr algn="l" indent="0" marL="0">
              <a:lnSpc>
                <a:spcPts val="2350"/>
              </a:lnSpc>
              <a:buNone/>
            </a:pP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328142" y="522208"/>
            <a:ext cx="1021318" cy="340757"/>
          </a:xfrm>
          <a:prstGeom prst="roundRect">
            <a:avLst>
              <a:gd name="adj" fmla="val 18667"/>
            </a:avLst>
          </a:prstGeom>
          <a:solidFill>
            <a:srgbClr val="D9EDF2"/>
          </a:solidFill>
          <a:ln/>
        </p:spPr>
      </p:sp>
      <p:sp>
        <p:nvSpPr>
          <p:cNvPr id="3" name="Text 1"/>
          <p:cNvSpPr/>
          <p:nvPr/>
        </p:nvSpPr>
        <p:spPr>
          <a:xfrm>
            <a:off x="1441728" y="579001"/>
            <a:ext cx="794147" cy="227171"/>
          </a:xfrm>
          <a:prstGeom prst="rect">
            <a:avLst/>
          </a:prstGeom>
          <a:noFill/>
          <a:ln/>
        </p:spPr>
        <p:txBody>
          <a:bodyPr wrap="none" lIns="0" tIns="0" rIns="0" bIns="0" rtlCol="0" anchor="t"/>
          <a:lstStyle/>
          <a:p>
            <a:pPr algn="l" indent="0" marL="0">
              <a:lnSpc>
                <a:spcPts val="1750"/>
              </a:lnSpc>
              <a:buNone/>
            </a:pPr>
            <a:r>
              <a:rPr lang="en-US" sz="1150" dirty="0">
                <a:solidFill>
                  <a:srgbClr val="384653"/>
                </a:solidFill>
                <a:latin typeface="Roboto" pitchFamily="34" charset="0"/>
                <a:ea typeface="Roboto" pitchFamily="34" charset="-122"/>
                <a:cs typeface="Roboto" pitchFamily="34" charset="-120"/>
              </a:rPr>
              <a:t>CHAPTER 5</a:t>
            </a:r>
            <a:endParaRPr lang="en-US" sz="1150" dirty="0"/>
          </a:p>
        </p:txBody>
      </p:sp>
      <p:sp>
        <p:nvSpPr>
          <p:cNvPr id="4" name="Text 2"/>
          <p:cNvSpPr/>
          <p:nvPr/>
        </p:nvSpPr>
        <p:spPr>
          <a:xfrm>
            <a:off x="1328142" y="938689"/>
            <a:ext cx="9820989" cy="473273"/>
          </a:xfrm>
          <a:prstGeom prst="rect">
            <a:avLst/>
          </a:prstGeom>
          <a:noFill/>
          <a:ln/>
        </p:spPr>
        <p:txBody>
          <a:bodyPr wrap="none" lIns="0" tIns="0" rIns="0" bIns="0" rtlCol="0" anchor="t"/>
          <a:lstStyle/>
          <a:p>
            <a:pPr algn="l" indent="0" marL="0">
              <a:lnSpc>
                <a:spcPts val="3700"/>
              </a:lnSpc>
              <a:buNone/>
            </a:pPr>
            <a:r>
              <a:rPr lang="en-US" sz="2950" dirty="0">
                <a:solidFill>
                  <a:srgbClr val="2E3C4E"/>
                </a:solidFill>
                <a:latin typeface="Host Grotesk Medium" pitchFamily="34" charset="0"/>
                <a:ea typeface="Host Grotesk Medium" pitchFamily="34" charset="-122"/>
                <a:cs typeface="Host Grotesk Medium" pitchFamily="34" charset="-120"/>
              </a:rPr>
              <a:t>Debugging and Advanced Regular Expression Use Cases</a:t>
            </a:r>
            <a:endParaRPr lang="en-US" sz="2950" dirty="0"/>
          </a:p>
        </p:txBody>
      </p:sp>
      <p:sp>
        <p:nvSpPr>
          <p:cNvPr id="5" name="Text 3"/>
          <p:cNvSpPr/>
          <p:nvPr/>
        </p:nvSpPr>
        <p:spPr>
          <a:xfrm>
            <a:off x="1328142" y="1695926"/>
            <a:ext cx="11974116"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Efficiently working with large text files and complex patterns often requires strategic debugging and a deeper understanding of regex capabilities.</a:t>
            </a:r>
            <a:endParaRPr lang="en-US" sz="1450" dirty="0"/>
          </a:p>
        </p:txBody>
      </p:sp>
      <p:sp>
        <p:nvSpPr>
          <p:cNvPr id="6" name="Text 4"/>
          <p:cNvSpPr/>
          <p:nvPr/>
        </p:nvSpPr>
        <p:spPr>
          <a:xfrm>
            <a:off x="1328142" y="2476738"/>
            <a:ext cx="189309" cy="236577"/>
          </a:xfrm>
          <a:prstGeom prst="rect">
            <a:avLst/>
          </a:prstGeom>
          <a:noFill/>
          <a:ln/>
        </p:spPr>
        <p:txBody>
          <a:bodyPr wrap="none" lIns="0" tIns="0" rIns="0" bIns="0" rtlCol="0" anchor="t"/>
          <a:lstStyle/>
          <a:p>
            <a:pPr algn="l" indent="0" marL="0">
              <a:lnSpc>
                <a:spcPts val="2200"/>
              </a:lnSpc>
              <a:buNone/>
            </a:pPr>
            <a:r>
              <a:rPr lang="en-US" sz="1450" dirty="0">
                <a:solidFill>
                  <a:srgbClr val="384653"/>
                </a:solidFill>
                <a:latin typeface="Host Grotesk Light" pitchFamily="34" charset="0"/>
                <a:ea typeface="Host Grotesk Light" pitchFamily="34" charset="-122"/>
                <a:cs typeface="Host Grotesk Light" pitchFamily="34" charset="-120"/>
              </a:rPr>
              <a:t>01</a:t>
            </a:r>
            <a:endParaRPr lang="en-US" sz="1450" dirty="0"/>
          </a:p>
        </p:txBody>
      </p:sp>
      <p:pic>
        <p:nvPicPr>
          <p:cNvPr id="7" name="Image 0" descr="preencoded.png">    </p:cNvPr>
          <p:cNvPicPr>
            <a:picLocks noChangeAspect="1"/>
          </p:cNvPicPr>
          <p:nvPr/>
        </p:nvPicPr>
        <p:blipFill>
          <a:blip r:embed="rId1"/>
          <a:stretch>
            <a:fillRect/>
          </a:stretch>
        </p:blipFill>
        <p:spPr>
          <a:xfrm>
            <a:off x="1328142" y="2775585"/>
            <a:ext cx="5892403" cy="22860"/>
          </a:xfrm>
          <a:prstGeom prst="rect">
            <a:avLst/>
          </a:prstGeom>
        </p:spPr>
      </p:pic>
      <p:sp>
        <p:nvSpPr>
          <p:cNvPr id="8" name="Text 5"/>
          <p:cNvSpPr/>
          <p:nvPr/>
        </p:nvSpPr>
        <p:spPr>
          <a:xfrm>
            <a:off x="1328142" y="2915960"/>
            <a:ext cx="2400419"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Debugging Large Files</a:t>
            </a:r>
            <a:endParaRPr lang="en-US" sz="1850" dirty="0"/>
          </a:p>
        </p:txBody>
      </p:sp>
      <p:sp>
        <p:nvSpPr>
          <p:cNvPr id="9" name="Text 6"/>
          <p:cNvSpPr/>
          <p:nvPr/>
        </p:nvSpPr>
        <p:spPr>
          <a:xfrm>
            <a:off x="1328142" y="3325416"/>
            <a:ext cx="5892403" cy="859512"/>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Use shell commands like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!head</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and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!tail</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in Jupyter notebooks to quickly inspect parts of large files, or redirect output to smaller test files.</a:t>
            </a:r>
            <a:endParaRPr lang="en-US" sz="1450" dirty="0"/>
          </a:p>
        </p:txBody>
      </p:sp>
      <p:sp>
        <p:nvSpPr>
          <p:cNvPr id="10" name="Shape 7"/>
          <p:cNvSpPr/>
          <p:nvPr/>
        </p:nvSpPr>
        <p:spPr>
          <a:xfrm>
            <a:off x="1328142" y="4378881"/>
            <a:ext cx="5892403" cy="851773"/>
          </a:xfrm>
          <a:prstGeom prst="roundRect">
            <a:avLst>
              <a:gd name="adj" fmla="val 9335"/>
            </a:avLst>
          </a:prstGeom>
          <a:solidFill>
            <a:srgbClr val="EDECE8"/>
          </a:solidFill>
          <a:ln/>
        </p:spPr>
      </p:sp>
      <p:sp>
        <p:nvSpPr>
          <p:cNvPr id="11" name="Shape 8"/>
          <p:cNvSpPr/>
          <p:nvPr/>
        </p:nvSpPr>
        <p:spPr>
          <a:xfrm>
            <a:off x="1318736" y="4378881"/>
            <a:ext cx="5911215" cy="851773"/>
          </a:xfrm>
          <a:prstGeom prst="roundRect">
            <a:avLst>
              <a:gd name="adj" fmla="val 3334"/>
            </a:avLst>
          </a:prstGeom>
          <a:solidFill>
            <a:srgbClr val="EDECE8"/>
          </a:solidFill>
          <a:ln/>
        </p:spPr>
      </p:sp>
      <p:sp>
        <p:nvSpPr>
          <p:cNvPr id="12" name="Text 9"/>
          <p:cNvSpPr/>
          <p:nvPr/>
        </p:nvSpPr>
        <p:spPr>
          <a:xfrm>
            <a:off x="1508046" y="4539734"/>
            <a:ext cx="5532596"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!head pg345_cleaned.txt &gt; pg345_test.txt</a:t>
            </a:r>
            <a:endParaRPr lang="en-US" sz="1450" dirty="0"/>
          </a:p>
          <a:p>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!head -100 pg345_cleaned.txt &gt; 100_lines.txt</a:t>
            </a:r>
            <a:endParaRPr lang="en-US" sz="1450" dirty="0"/>
          </a:p>
        </p:txBody>
      </p:sp>
      <p:sp>
        <p:nvSpPr>
          <p:cNvPr id="13" name="Text 10"/>
          <p:cNvSpPr/>
          <p:nvPr/>
        </p:nvSpPr>
        <p:spPr>
          <a:xfrm>
            <a:off x="7409855" y="2476738"/>
            <a:ext cx="189309" cy="236577"/>
          </a:xfrm>
          <a:prstGeom prst="rect">
            <a:avLst/>
          </a:prstGeom>
          <a:noFill/>
          <a:ln/>
        </p:spPr>
        <p:txBody>
          <a:bodyPr wrap="none" lIns="0" tIns="0" rIns="0" bIns="0" rtlCol="0" anchor="t"/>
          <a:lstStyle/>
          <a:p>
            <a:pPr algn="l" indent="0" marL="0">
              <a:lnSpc>
                <a:spcPts val="2200"/>
              </a:lnSpc>
              <a:buNone/>
            </a:pPr>
            <a:r>
              <a:rPr lang="en-US" sz="1450" dirty="0">
                <a:solidFill>
                  <a:srgbClr val="384653"/>
                </a:solidFill>
                <a:latin typeface="Host Grotesk Light" pitchFamily="34" charset="0"/>
                <a:ea typeface="Host Grotesk Light" pitchFamily="34" charset="-122"/>
                <a:cs typeface="Host Grotesk Light" pitchFamily="34" charset="-120"/>
              </a:rPr>
              <a:t>02</a:t>
            </a:r>
            <a:endParaRPr lang="en-US" sz="1450" dirty="0"/>
          </a:p>
        </p:txBody>
      </p:sp>
      <p:pic>
        <p:nvPicPr>
          <p:cNvPr id="14" name="Image 1" descr="preencoded.png">    </p:cNvPr>
          <p:cNvPicPr>
            <a:picLocks noChangeAspect="1"/>
          </p:cNvPicPr>
          <p:nvPr/>
        </p:nvPicPr>
        <p:blipFill>
          <a:blip r:embed="rId2"/>
          <a:stretch>
            <a:fillRect/>
          </a:stretch>
        </p:blipFill>
        <p:spPr>
          <a:xfrm>
            <a:off x="7409855" y="2794516"/>
            <a:ext cx="5892403" cy="22860"/>
          </a:xfrm>
          <a:prstGeom prst="rect">
            <a:avLst/>
          </a:prstGeom>
        </p:spPr>
      </p:pic>
      <p:sp>
        <p:nvSpPr>
          <p:cNvPr id="15" name="Text 11"/>
          <p:cNvSpPr/>
          <p:nvPr/>
        </p:nvSpPr>
        <p:spPr>
          <a:xfrm>
            <a:off x="7409855" y="2915960"/>
            <a:ext cx="2760226"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Exploring Regex Potential</a:t>
            </a:r>
            <a:endParaRPr lang="en-US" sz="1850" dirty="0"/>
          </a:p>
        </p:txBody>
      </p:sp>
      <p:sp>
        <p:nvSpPr>
          <p:cNvPr id="16" name="Text 12"/>
          <p:cNvSpPr/>
          <p:nvPr/>
        </p:nvSpPr>
        <p:spPr>
          <a:xfrm>
            <a:off x="7409855" y="3325416"/>
            <a:ext cx="5892403"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Regular expressions offer far more than basic searches. Explore their capabilities by asking a virtual assistant about:</a:t>
            </a:r>
            <a:endParaRPr lang="en-US" sz="1450" dirty="0"/>
          </a:p>
        </p:txBody>
      </p:sp>
      <p:sp>
        <p:nvSpPr>
          <p:cNvPr id="17" name="Text 13"/>
          <p:cNvSpPr/>
          <p:nvPr/>
        </p:nvSpPr>
        <p:spPr>
          <a:xfrm>
            <a:off x="7409855" y="4006929"/>
            <a:ext cx="5892403" cy="291584"/>
          </a:xfrm>
          <a:prstGeom prst="rect">
            <a:avLst/>
          </a:prstGeom>
          <a:noFill/>
          <a:ln/>
        </p:spPr>
        <p:txBody>
          <a:bodyPr wrap="none" lIns="0" tIns="0" rIns="0" bIns="0" rtlCol="0" anchor="t"/>
          <a:lstStyle/>
          <a:p>
            <a:pPr algn="l" marL="342900" indent="-342900">
              <a:lnSpc>
                <a:spcPts val="2200"/>
              </a:lnSpc>
              <a:buSzPct val="100000"/>
              <a:buChar char="•"/>
            </a:pPr>
            <a:r>
              <a:rPr lang="en-US" sz="1450" dirty="0">
                <a:solidFill>
                  <a:srgbClr val="384653"/>
                </a:solidFill>
                <a:latin typeface="Roboto" pitchFamily="34" charset="0"/>
                <a:ea typeface="Roboto" pitchFamily="34" charset="-122"/>
                <a:cs typeface="Roboto" pitchFamily="34" charset="-120"/>
              </a:rPr>
              <a:t>Common special characters (e.g.,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a:t>
            </a:r>
            <a:endParaRPr lang="en-US" sz="1450" dirty="0"/>
          </a:p>
        </p:txBody>
      </p:sp>
      <p:sp>
        <p:nvSpPr>
          <p:cNvPr id="18" name="Text 14"/>
          <p:cNvSpPr/>
          <p:nvPr/>
        </p:nvSpPr>
        <p:spPr>
          <a:xfrm>
            <a:off x="7409855" y="4364712"/>
            <a:ext cx="5892403" cy="283964"/>
          </a:xfrm>
          <a:prstGeom prst="rect">
            <a:avLst/>
          </a:prstGeom>
          <a:noFill/>
          <a:ln/>
        </p:spPr>
        <p:txBody>
          <a:bodyPr wrap="none" lIns="0" tIns="0" rIns="0" bIns="0" rtlCol="0" anchor="t"/>
          <a:lstStyle/>
          <a:p>
            <a:pPr algn="l" marL="342900" indent="-342900">
              <a:lnSpc>
                <a:spcPts val="2200"/>
              </a:lnSpc>
              <a:buSzPct val="100000"/>
              <a:buChar char="•"/>
            </a:pPr>
            <a:r>
              <a:rPr lang="en-US" sz="1450" dirty="0">
                <a:solidFill>
                  <a:srgbClr val="384653"/>
                </a:solidFill>
                <a:latin typeface="Roboto" pitchFamily="34" charset="0"/>
                <a:ea typeface="Roboto" pitchFamily="34" charset="-122"/>
                <a:cs typeface="Roboto" pitchFamily="34" charset="-120"/>
              </a:rPr>
              <a:t>Patterns for phone numbers, addresses, or complex names.</a:t>
            </a:r>
            <a:endParaRPr lang="en-US" sz="1450" dirty="0"/>
          </a:p>
        </p:txBody>
      </p:sp>
      <p:sp>
        <p:nvSpPr>
          <p:cNvPr id="19" name="Text 15"/>
          <p:cNvSpPr/>
          <p:nvPr/>
        </p:nvSpPr>
        <p:spPr>
          <a:xfrm>
            <a:off x="7409855" y="4714875"/>
            <a:ext cx="5892403" cy="291584"/>
          </a:xfrm>
          <a:prstGeom prst="rect">
            <a:avLst/>
          </a:prstGeom>
          <a:noFill/>
          <a:ln/>
        </p:spPr>
        <p:txBody>
          <a:bodyPr wrap="none" lIns="0" tIns="0" rIns="0" bIns="0" rtlCol="0" anchor="t"/>
          <a:lstStyle/>
          <a:p>
            <a:pPr algn="l" marL="342900" indent="-342900">
              <a:lnSpc>
                <a:spcPts val="2200"/>
              </a:lnSpc>
              <a:buSzPct val="100000"/>
              <a:buChar char="•"/>
            </a:pPr>
            <a:r>
              <a:rPr lang="en-US" sz="1450" dirty="0">
                <a:solidFill>
                  <a:srgbClr val="384653"/>
                </a:solidFill>
                <a:latin typeface="Roboto" pitchFamily="34" charset="0"/>
                <a:ea typeface="Roboto" pitchFamily="34" charset="-122"/>
                <a:cs typeface="Roboto" pitchFamily="34" charset="-120"/>
              </a:rPr>
              <a:t>The concept of "raw strings"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r''</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in Python regex.</a:t>
            </a:r>
            <a:endParaRPr lang="en-US" sz="1450" dirty="0"/>
          </a:p>
        </p:txBody>
      </p:sp>
      <p:sp>
        <p:nvSpPr>
          <p:cNvPr id="20" name="Text 16"/>
          <p:cNvSpPr/>
          <p:nvPr/>
        </p:nvSpPr>
        <p:spPr>
          <a:xfrm>
            <a:off x="1328142" y="5580817"/>
            <a:ext cx="189309" cy="236577"/>
          </a:xfrm>
          <a:prstGeom prst="rect">
            <a:avLst/>
          </a:prstGeom>
          <a:noFill/>
          <a:ln/>
        </p:spPr>
        <p:txBody>
          <a:bodyPr wrap="none" lIns="0" tIns="0" rIns="0" bIns="0" rtlCol="0" anchor="t"/>
          <a:lstStyle/>
          <a:p>
            <a:pPr algn="l" indent="0" marL="0">
              <a:lnSpc>
                <a:spcPts val="2200"/>
              </a:lnSpc>
              <a:buNone/>
            </a:pPr>
            <a:r>
              <a:rPr lang="en-US" sz="1450" dirty="0">
                <a:solidFill>
                  <a:srgbClr val="384653"/>
                </a:solidFill>
                <a:latin typeface="Host Grotesk Light" pitchFamily="34" charset="0"/>
                <a:ea typeface="Host Grotesk Light" pitchFamily="34" charset="-122"/>
                <a:cs typeface="Host Grotesk Light" pitchFamily="34" charset="-120"/>
              </a:rPr>
              <a:t>03</a:t>
            </a:r>
            <a:endParaRPr lang="en-US" sz="1450" dirty="0"/>
          </a:p>
        </p:txBody>
      </p:sp>
      <p:pic>
        <p:nvPicPr>
          <p:cNvPr id="21" name="Image 2" descr="preencoded.png">    </p:cNvPr>
          <p:cNvPicPr>
            <a:picLocks noChangeAspect="1"/>
          </p:cNvPicPr>
          <p:nvPr/>
        </p:nvPicPr>
        <p:blipFill>
          <a:blip r:embed="rId3"/>
          <a:stretch>
            <a:fillRect/>
          </a:stretch>
        </p:blipFill>
        <p:spPr>
          <a:xfrm>
            <a:off x="1328142" y="5860733"/>
            <a:ext cx="5892403" cy="22860"/>
          </a:xfrm>
          <a:prstGeom prst="rect">
            <a:avLst/>
          </a:prstGeom>
        </p:spPr>
      </p:pic>
      <p:sp>
        <p:nvSpPr>
          <p:cNvPr id="22" name="Text 17"/>
          <p:cNvSpPr/>
          <p:nvPr/>
        </p:nvSpPr>
        <p:spPr>
          <a:xfrm>
            <a:off x="1328142" y="6020038"/>
            <a:ext cx="3847981"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Practical Applications: Word Games</a:t>
            </a:r>
            <a:endParaRPr lang="en-US" sz="1850" dirty="0"/>
          </a:p>
        </p:txBody>
      </p:sp>
      <p:sp>
        <p:nvSpPr>
          <p:cNvPr id="23" name="Text 18"/>
          <p:cNvSpPr/>
          <p:nvPr/>
        </p:nvSpPr>
        <p:spPr>
          <a:xfrm>
            <a:off x="1328142" y="6429494"/>
            <a:ext cx="5892403" cy="851892"/>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Regular expressions are powerful tools for logic puzzles. For example, they can be used to filter word lists in games like Wordle, matching words based on letter presence, absence, and position.</a:t>
            </a:r>
            <a:endParaRPr lang="en-US" sz="1450" dirty="0"/>
          </a:p>
        </p:txBody>
      </p:sp>
      <p:sp>
        <p:nvSpPr>
          <p:cNvPr id="24" name="Text 19"/>
          <p:cNvSpPr/>
          <p:nvPr/>
        </p:nvSpPr>
        <p:spPr>
          <a:xfrm>
            <a:off x="7409855" y="5580817"/>
            <a:ext cx="189309" cy="236577"/>
          </a:xfrm>
          <a:prstGeom prst="rect">
            <a:avLst/>
          </a:prstGeom>
          <a:noFill/>
          <a:ln/>
        </p:spPr>
        <p:txBody>
          <a:bodyPr wrap="none" lIns="0" tIns="0" rIns="0" bIns="0" rtlCol="0" anchor="t"/>
          <a:lstStyle/>
          <a:p>
            <a:pPr algn="l" indent="0" marL="0">
              <a:lnSpc>
                <a:spcPts val="2200"/>
              </a:lnSpc>
              <a:buNone/>
            </a:pPr>
            <a:r>
              <a:rPr lang="en-US" sz="1450" dirty="0">
                <a:solidFill>
                  <a:srgbClr val="384653"/>
                </a:solidFill>
                <a:latin typeface="Host Grotesk Light" pitchFamily="34" charset="0"/>
                <a:ea typeface="Host Grotesk Light" pitchFamily="34" charset="-122"/>
                <a:cs typeface="Host Grotesk Light" pitchFamily="34" charset="-120"/>
              </a:rPr>
              <a:t>04</a:t>
            </a:r>
            <a:endParaRPr lang="en-US" sz="1450" dirty="0"/>
          </a:p>
        </p:txBody>
      </p:sp>
      <p:pic>
        <p:nvPicPr>
          <p:cNvPr id="25" name="Image 3" descr="preencoded.png">    </p:cNvPr>
          <p:cNvPicPr>
            <a:picLocks noChangeAspect="1"/>
          </p:cNvPicPr>
          <p:nvPr/>
        </p:nvPicPr>
        <p:blipFill>
          <a:blip r:embed="rId4"/>
          <a:stretch>
            <a:fillRect/>
          </a:stretch>
        </p:blipFill>
        <p:spPr>
          <a:xfrm>
            <a:off x="7409855" y="5860733"/>
            <a:ext cx="5892403" cy="22860"/>
          </a:xfrm>
          <a:prstGeom prst="rect">
            <a:avLst/>
          </a:prstGeom>
        </p:spPr>
      </p:pic>
      <p:sp>
        <p:nvSpPr>
          <p:cNvPr id="26" name="Text 20"/>
          <p:cNvSpPr/>
          <p:nvPr/>
        </p:nvSpPr>
        <p:spPr>
          <a:xfrm>
            <a:off x="7409855" y="6020038"/>
            <a:ext cx="2591514"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Analyzing Literary Texts</a:t>
            </a:r>
            <a:endParaRPr lang="en-US" sz="1850" dirty="0"/>
          </a:p>
        </p:txBody>
      </p:sp>
      <p:sp>
        <p:nvSpPr>
          <p:cNvPr id="27" name="Text 21"/>
          <p:cNvSpPr/>
          <p:nvPr/>
        </p:nvSpPr>
        <p:spPr>
          <a:xfrm>
            <a:off x="7409855" y="6429494"/>
            <a:ext cx="5892403" cy="1135856"/>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Beyond simple replacements, regex can analyze linguistic patterns, such as verifying claims about repetitive language in classic literature by precisely counting word variations (e.g., "pale", "pales", "paled", "paleness", "pallor").</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2026-01-15T06:03:16Z</dcterms:created>
  <dcterms:modified xsi:type="dcterms:W3CDTF">2026-01-15T06:03:16Z</dcterms:modified>
</cp:coreProperties>
</file>