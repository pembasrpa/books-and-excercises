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4630400" cy="8229600"/>
  <p:notesSz cx="8229600" cy="14630400"/>
  <p:embeddedFontLst>
    <p:embeddedFont>
      <p:font typeface="Host Grotesk Medium"/>
      <p:regular r:id="rId14"/>
    </p:embeddedFont>
    <p:embeddedFont>
      <p:font typeface="Host Grotesk Medium"/>
      <p:regular r:id="rId15"/>
    </p:embeddedFont>
    <p:embeddedFont>
      <p:font typeface="Host Grotesk Medium"/>
      <p:regular r:id="rId16"/>
    </p:embeddedFont>
    <p:embeddedFont>
      <p:font typeface="Host Grotesk Medium"/>
      <p:regular r:id="rId17"/>
    </p:embeddedFont>
    <p:embeddedFont>
      <p:font typeface="Roboto"/>
      <p:regular r:id="rId18"/>
    </p:embeddedFont>
    <p:embeddedFont>
      <p:font typeface="Roboto"/>
      <p:regular r:id="rId19"/>
    </p:embeddedFont>
    <p:embeddedFont>
      <p:font typeface="Roboto"/>
      <p:regular r:id="rId20"/>
    </p:embeddedFont>
    <p:embeddedFont>
      <p:font typeface="Roboto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Relationship Id="rId20" Type="http://schemas.openxmlformats.org/officeDocument/2006/relationships/font" Target="fonts/font7.fntdata"/><Relationship Id="rId2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slideLayout" Target="../slideLayouts/slideLayout7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193375"/>
            <a:ext cx="786229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Unlocking Recursion in Python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355783"/>
            <a:ext cx="13042821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Learn how to define and implement recursive functions, starting with the basics and progressing to more advanced concepts and error handling.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556742"/>
            <a:ext cx="1223843" cy="408146"/>
          </a:xfrm>
          <a:prstGeom prst="roundRect">
            <a:avLst>
              <a:gd name="adj" fmla="val 18673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624727"/>
            <a:ext cx="95166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CHAPTER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055614"/>
            <a:ext cx="744081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Understanding Recursive Definitions</a:t>
            </a:r>
            <a:endParaRPr lang="en-US" sz="3550" dirty="0"/>
          </a:p>
        </p:txBody>
      </p:sp>
      <p:sp>
        <p:nvSpPr>
          <p:cNvPr id="5" name="Shape 3"/>
          <p:cNvSpPr/>
          <p:nvPr/>
        </p:nvSpPr>
        <p:spPr>
          <a:xfrm>
            <a:off x="793790" y="3302913"/>
            <a:ext cx="4196358" cy="3369826"/>
          </a:xfrm>
          <a:prstGeom prst="roundRect">
            <a:avLst>
              <a:gd name="adj" fmla="val 4342"/>
            </a:avLst>
          </a:prstGeom>
          <a:solidFill>
            <a:srgbClr val="FAF9F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272433"/>
            <a:ext cx="4196358" cy="12192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688" y="2962751"/>
            <a:ext cx="680442" cy="6804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55761" y="3132892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1051084" y="3869888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The Foundation of Recursion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051084" y="4714637"/>
            <a:ext cx="3681770" cy="1700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 you can write a recursive definition for a concept, you can translate it directly into a Python program. This powerful approach allows functions to call themselves.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5216962" y="3302913"/>
            <a:ext cx="4196358" cy="3369826"/>
          </a:xfrm>
          <a:prstGeom prst="roundRect">
            <a:avLst>
              <a:gd name="adj" fmla="val 4342"/>
            </a:avLst>
          </a:prstGeom>
          <a:solidFill>
            <a:srgbClr val="FAF9F5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962" y="3272433"/>
            <a:ext cx="4196358" cy="121920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4860" y="2962751"/>
            <a:ext cx="680442" cy="68044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178933" y="3132892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</a:t>
            </a:r>
            <a:endParaRPr lang="en-US" sz="2100" dirty="0"/>
          </a:p>
        </p:txBody>
      </p:sp>
      <p:sp>
        <p:nvSpPr>
          <p:cNvPr id="15" name="Text 9"/>
          <p:cNvSpPr/>
          <p:nvPr/>
        </p:nvSpPr>
        <p:spPr>
          <a:xfrm>
            <a:off x="5474256" y="3869888"/>
            <a:ext cx="331005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Incremental Development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5474256" y="4360307"/>
            <a:ext cx="3681770" cy="1700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Start with a simple function and build it up step-by-step. This method helps in isolating issues and verifying each part of your recursive logic.</a:t>
            </a:r>
            <a:endParaRPr lang="en-US" sz="1750" dirty="0"/>
          </a:p>
        </p:txBody>
      </p:sp>
      <p:sp>
        <p:nvSpPr>
          <p:cNvPr id="17" name="Shape 11"/>
          <p:cNvSpPr/>
          <p:nvPr/>
        </p:nvSpPr>
        <p:spPr>
          <a:xfrm>
            <a:off x="9640133" y="3302913"/>
            <a:ext cx="4196358" cy="3369826"/>
          </a:xfrm>
          <a:prstGeom prst="roundRect">
            <a:avLst>
              <a:gd name="adj" fmla="val 4342"/>
            </a:avLst>
          </a:prstGeom>
          <a:solidFill>
            <a:srgbClr val="FAF9F5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0133" y="3272433"/>
            <a:ext cx="4196358" cy="121920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98032" y="2962751"/>
            <a:ext cx="680442" cy="68044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1602105" y="3132892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</a:t>
            </a:r>
            <a:endParaRPr lang="en-US" sz="2100" dirty="0"/>
          </a:p>
        </p:txBody>
      </p:sp>
      <p:sp>
        <p:nvSpPr>
          <p:cNvPr id="21" name="Text 13"/>
          <p:cNvSpPr/>
          <p:nvPr/>
        </p:nvSpPr>
        <p:spPr>
          <a:xfrm>
            <a:off x="9897427" y="3869888"/>
            <a:ext cx="35174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Example: Factorial Function</a:t>
            </a:r>
            <a:endParaRPr lang="en-US" sz="2200" dirty="0"/>
          </a:p>
        </p:txBody>
      </p:sp>
      <p:sp>
        <p:nvSpPr>
          <p:cNvPr id="22" name="Text 14"/>
          <p:cNvSpPr/>
          <p:nvPr/>
        </p:nvSpPr>
        <p:spPr>
          <a:xfrm>
            <a:off x="9897427" y="4360307"/>
            <a:ext cx="3681770" cy="1360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We'll use the factorial function to illustrate this process, moving from a basic placeholder to a fully functional recursive implementation.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817007"/>
            <a:ext cx="1223843" cy="408146"/>
          </a:xfrm>
          <a:prstGeom prst="roundRect">
            <a:avLst>
              <a:gd name="adj" fmla="val 18673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884992"/>
            <a:ext cx="95166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CHAPTER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315879"/>
            <a:ext cx="911744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Building the Factorial Function Incrementally</a:t>
            </a:r>
            <a:endParaRPr lang="en-US" sz="3550" dirty="0"/>
          </a:p>
        </p:txBody>
      </p:sp>
      <p:sp>
        <p:nvSpPr>
          <p:cNvPr id="5" name="Shape 3"/>
          <p:cNvSpPr/>
          <p:nvPr/>
        </p:nvSpPr>
        <p:spPr>
          <a:xfrm>
            <a:off x="793790" y="2903458"/>
            <a:ext cx="4196358" cy="226814"/>
          </a:xfrm>
          <a:prstGeom prst="roundRect">
            <a:avLst>
              <a:gd name="adj" fmla="val 42003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0604" y="3357086"/>
            <a:ext cx="32831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Step 1: Initial Placeholder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20604" y="3847505"/>
            <a:ext cx="3742730" cy="1360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Begin with a function that always returns zero. This establishes the function's signature and provides a starting point for development.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1020604" y="5463302"/>
            <a:ext cx="3742730" cy="1020366"/>
          </a:xfrm>
          <a:prstGeom prst="roundRect">
            <a:avLst>
              <a:gd name="adj" fmla="val 9337"/>
            </a:avLst>
          </a:prstGeom>
          <a:solidFill>
            <a:srgbClr val="EDECE8"/>
          </a:solidFill>
          <a:ln/>
        </p:spPr>
      </p:sp>
      <p:sp>
        <p:nvSpPr>
          <p:cNvPr id="9" name="Shape 7"/>
          <p:cNvSpPr/>
          <p:nvPr/>
        </p:nvSpPr>
        <p:spPr>
          <a:xfrm>
            <a:off x="1009293" y="5463302"/>
            <a:ext cx="3765352" cy="1020366"/>
          </a:xfrm>
          <a:prstGeom prst="roundRect">
            <a:avLst>
              <a:gd name="adj" fmla="val 3335"/>
            </a:avLst>
          </a:prstGeom>
          <a:solidFill>
            <a:srgbClr val="EDECE8"/>
          </a:solidFill>
          <a:ln/>
        </p:spPr>
      </p:sp>
      <p:sp>
        <p:nvSpPr>
          <p:cNvPr id="10" name="Text 8"/>
          <p:cNvSpPr/>
          <p:nvPr/>
        </p:nvSpPr>
        <p:spPr>
          <a:xfrm>
            <a:off x="1236107" y="5633323"/>
            <a:ext cx="3311723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 factorial(n):</a:t>
            </a:r>
            <a:endParaRPr lang="en-US" sz="1750" dirty="0"/>
          </a:p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5216962" y="2563178"/>
            <a:ext cx="4196358" cy="226814"/>
          </a:xfrm>
          <a:prstGeom prst="roundRect">
            <a:avLst>
              <a:gd name="adj" fmla="val 42003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43776" y="3016806"/>
            <a:ext cx="37427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Step 2: Implement Base Case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43776" y="3861554"/>
            <a:ext cx="3742730" cy="1028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the condition for the simplest scenario: if 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return 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This stops the recursion.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5443776" y="5144810"/>
            <a:ext cx="3742730" cy="2040850"/>
          </a:xfrm>
          <a:prstGeom prst="roundRect">
            <a:avLst>
              <a:gd name="adj" fmla="val 4668"/>
            </a:avLst>
          </a:prstGeom>
          <a:solidFill>
            <a:srgbClr val="EDECE8"/>
          </a:solidFill>
          <a:ln/>
        </p:spPr>
      </p:sp>
      <p:sp>
        <p:nvSpPr>
          <p:cNvPr id="15" name="Shape 13"/>
          <p:cNvSpPr/>
          <p:nvPr/>
        </p:nvSpPr>
        <p:spPr>
          <a:xfrm>
            <a:off x="5432465" y="5144810"/>
            <a:ext cx="3765352" cy="2040850"/>
          </a:xfrm>
          <a:prstGeom prst="roundRect">
            <a:avLst>
              <a:gd name="adj" fmla="val 1667"/>
            </a:avLst>
          </a:prstGeom>
          <a:solidFill>
            <a:srgbClr val="EDECE8"/>
          </a:solidFill>
          <a:ln/>
        </p:spPr>
      </p:sp>
      <p:sp>
        <p:nvSpPr>
          <p:cNvPr id="16" name="Text 14"/>
          <p:cNvSpPr/>
          <p:nvPr/>
        </p:nvSpPr>
        <p:spPr>
          <a:xfrm>
            <a:off x="5659279" y="5314831"/>
            <a:ext cx="3311723" cy="1700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 factorial(n):</a:t>
            </a:r>
            <a:endParaRPr lang="en-US" sz="1750" dirty="0"/>
          </a:p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== 0:</a:t>
            </a:r>
            <a:endParaRPr lang="en-US" sz="1750" dirty="0"/>
          </a:p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1</a:t>
            </a:r>
            <a:endParaRPr lang="en-US" sz="1750" dirty="0"/>
          </a:p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750" dirty="0"/>
          </a:p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0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9640133" y="2223016"/>
            <a:ext cx="4196358" cy="226814"/>
          </a:xfrm>
          <a:prstGeom prst="roundRect">
            <a:avLst>
              <a:gd name="adj" fmla="val 42003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66948" y="26766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Step 3: Recursive Call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866948" y="3167063"/>
            <a:ext cx="3742730" cy="103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other cases, make a recursive call with 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n-1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multiply the result by 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9866948" y="4457938"/>
            <a:ext cx="3742730" cy="2381012"/>
          </a:xfrm>
          <a:prstGeom prst="roundRect">
            <a:avLst>
              <a:gd name="adj" fmla="val 4001"/>
            </a:avLst>
          </a:prstGeom>
          <a:solidFill>
            <a:srgbClr val="EDECE8"/>
          </a:solidFill>
          <a:ln/>
        </p:spPr>
      </p:sp>
      <p:sp>
        <p:nvSpPr>
          <p:cNvPr id="21" name="Shape 19"/>
          <p:cNvSpPr/>
          <p:nvPr/>
        </p:nvSpPr>
        <p:spPr>
          <a:xfrm>
            <a:off x="9855637" y="4457938"/>
            <a:ext cx="3765352" cy="2381012"/>
          </a:xfrm>
          <a:prstGeom prst="roundRect">
            <a:avLst>
              <a:gd name="adj" fmla="val 1429"/>
            </a:avLst>
          </a:prstGeom>
          <a:solidFill>
            <a:srgbClr val="EDECE8"/>
          </a:solidFill>
          <a:ln/>
        </p:spPr>
      </p:sp>
      <p:sp>
        <p:nvSpPr>
          <p:cNvPr id="22" name="Text 20"/>
          <p:cNvSpPr/>
          <p:nvPr/>
        </p:nvSpPr>
        <p:spPr>
          <a:xfrm>
            <a:off x="10082451" y="4627959"/>
            <a:ext cx="3311723" cy="2040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 factorial(n):</a:t>
            </a:r>
            <a:endParaRPr lang="en-US" sz="1750" dirty="0"/>
          </a:p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if n == 0:</a:t>
            </a:r>
            <a:endParaRPr lang="en-US" sz="1750" dirty="0"/>
          </a:p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return 1</a:t>
            </a:r>
            <a:endParaRPr lang="en-US" sz="1750" dirty="0"/>
          </a:p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else:</a:t>
            </a:r>
            <a:endParaRPr lang="en-US" sz="1750" dirty="0"/>
          </a:p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recurse = factorial(n-1)</a:t>
            </a:r>
            <a:endParaRPr lang="en-US" sz="1750" dirty="0"/>
          </a:p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return n * recurse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584246"/>
            <a:ext cx="1223843" cy="408146"/>
          </a:xfrm>
          <a:prstGeom prst="roundRect">
            <a:avLst>
              <a:gd name="adj" fmla="val 18673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652230"/>
            <a:ext cx="95166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CHAPTER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083118"/>
            <a:ext cx="656736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The "Leap of Faith" in Recursion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793790" y="3194328"/>
            <a:ext cx="6924437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Tracing the execution flow of recursive functions can be complex. Instead, embrace the "leap of faith": trust that the recursive call will work correctly.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133951" y="4469963"/>
            <a:ext cx="6584275" cy="695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"Assuming that I can compute the factorial of 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 - 1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can I compute the factorial of 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?"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93790" y="4469963"/>
            <a:ext cx="30480" cy="695563"/>
          </a:xfrm>
          <a:prstGeom prst="rect">
            <a:avLst/>
          </a:prstGeom>
          <a:solidFill>
            <a:srgbClr val="95CCDA"/>
          </a:solidFill>
          <a:ln/>
        </p:spPr>
      </p:sp>
      <p:sp>
        <p:nvSpPr>
          <p:cNvPr id="8" name="Text 6"/>
          <p:cNvSpPr/>
          <p:nvPr/>
        </p:nvSpPr>
        <p:spPr>
          <a:xfrm>
            <a:off x="793790" y="5420678"/>
            <a:ext cx="6924437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perspective simplifies reasoning about recursive programs, much like how you trust built-in functions without inspecting their inner workings.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8279249" y="3194328"/>
            <a:ext cx="5564862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333" y="593408"/>
            <a:ext cx="1164193" cy="388263"/>
          </a:xfrm>
          <a:prstGeom prst="roundRect">
            <a:avLst>
              <a:gd name="adj" fmla="val 18677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884753" y="658058"/>
            <a:ext cx="905351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CHAPTER 4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55333" y="1067991"/>
            <a:ext cx="7564755" cy="53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Implementing the Fibonacci Sequence</a:t>
            </a:r>
            <a:endParaRPr lang="en-US" sz="3350" dirty="0"/>
          </a:p>
        </p:txBody>
      </p:sp>
      <p:sp>
        <p:nvSpPr>
          <p:cNvPr id="5" name="Text 3"/>
          <p:cNvSpPr/>
          <p:nvPr/>
        </p:nvSpPr>
        <p:spPr>
          <a:xfrm>
            <a:off x="755333" y="1931194"/>
            <a:ext cx="13119735" cy="323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After factorial, the Fibonacci sequence is a classic example of recursion, defined by two base cases and a recursive step.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55333" y="2497693"/>
            <a:ext cx="6451997" cy="3662124"/>
          </a:xfrm>
          <a:prstGeom prst="roundRect">
            <a:avLst>
              <a:gd name="adj" fmla="val 3995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852" y="2497693"/>
            <a:ext cx="121920" cy="36621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2994" y="2743914"/>
            <a:ext cx="2697718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Fibonacci Definition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92994" y="3210520"/>
            <a:ext cx="5868114" cy="338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fibonacci(0) = 0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092994" y="3624977"/>
            <a:ext cx="5868114" cy="338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fibonacci(1) = 1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092994" y="4039433"/>
            <a:ext cx="5868114" cy="338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fibonacci(n) = fibonacci(n - 1) + fibonacci(n - 2)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7423071" y="2497693"/>
            <a:ext cx="6451997" cy="3662124"/>
          </a:xfrm>
          <a:prstGeom prst="roundRect">
            <a:avLst>
              <a:gd name="adj" fmla="val 3995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2591" y="2497693"/>
            <a:ext cx="121920" cy="36621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760732" y="2743914"/>
            <a:ext cx="2868573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Python Implementation</a:t>
            </a:r>
            <a:endParaRPr lang="en-US" sz="2100" dirty="0"/>
          </a:p>
        </p:txBody>
      </p:sp>
      <p:sp>
        <p:nvSpPr>
          <p:cNvPr id="15" name="Shape 11"/>
          <p:cNvSpPr/>
          <p:nvPr/>
        </p:nvSpPr>
        <p:spPr>
          <a:xfrm>
            <a:off x="7760732" y="3323868"/>
            <a:ext cx="5868114" cy="2589728"/>
          </a:xfrm>
          <a:prstGeom prst="roundRect">
            <a:avLst>
              <a:gd name="adj" fmla="val 3500"/>
            </a:avLst>
          </a:prstGeom>
          <a:solidFill>
            <a:srgbClr val="EDECE8"/>
          </a:solidFill>
          <a:ln/>
        </p:spPr>
      </p:sp>
      <p:sp>
        <p:nvSpPr>
          <p:cNvPr id="16" name="Shape 12"/>
          <p:cNvSpPr/>
          <p:nvPr/>
        </p:nvSpPr>
        <p:spPr>
          <a:xfrm>
            <a:off x="7750016" y="3323868"/>
            <a:ext cx="5889546" cy="2589728"/>
          </a:xfrm>
          <a:prstGeom prst="roundRect">
            <a:avLst>
              <a:gd name="adj" fmla="val 1250"/>
            </a:avLst>
          </a:prstGeom>
          <a:solidFill>
            <a:srgbClr val="EDECE8"/>
          </a:solidFill>
          <a:ln/>
        </p:spPr>
      </p:sp>
      <p:sp>
        <p:nvSpPr>
          <p:cNvPr id="17" name="Text 13"/>
          <p:cNvSpPr/>
          <p:nvPr/>
        </p:nvSpPr>
        <p:spPr>
          <a:xfrm>
            <a:off x="7965758" y="3485674"/>
            <a:ext cx="5458063" cy="2266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 fibonacci(n):</a:t>
            </a:r>
            <a:endParaRPr lang="en-US" sz="16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== 0:</a:t>
            </a:r>
            <a:endParaRPr lang="en-US" sz="16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0</a:t>
            </a:r>
            <a:endParaRPr lang="en-US" sz="16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n == 1:</a:t>
            </a:r>
            <a:endParaRPr lang="en-US" sz="16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1</a:t>
            </a:r>
            <a:endParaRPr lang="en-US" sz="16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6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fibonacci(n-1) + fibonacci(n-2)</a:t>
            </a:r>
            <a:endParaRPr lang="en-US" sz="1650" dirty="0"/>
          </a:p>
        </p:txBody>
      </p:sp>
      <p:sp>
        <p:nvSpPr>
          <p:cNvPr id="18" name="Shape 14"/>
          <p:cNvSpPr/>
          <p:nvPr/>
        </p:nvSpPr>
        <p:spPr>
          <a:xfrm>
            <a:off x="755333" y="6402586"/>
            <a:ext cx="13119735" cy="1234440"/>
          </a:xfrm>
          <a:prstGeom prst="roundRect">
            <a:avLst>
              <a:gd name="adj" fmla="val 7343"/>
            </a:avLst>
          </a:prstGeom>
          <a:solidFill>
            <a:srgbClr val="C6E4E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74" y="6712029"/>
            <a:ext cx="269677" cy="21574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56492" y="6672263"/>
            <a:ext cx="12202835" cy="662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While elegant, this direct recursive approach for Fibonacci is highly inefficient for larger </a:t>
            </a:r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000000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due to repeated calculations. More optimized methods exist.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4502" y="609957"/>
            <a:ext cx="1193959" cy="398145"/>
          </a:xfrm>
          <a:prstGeom prst="roundRect">
            <a:avLst>
              <a:gd name="adj" fmla="val 18675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907256" y="676275"/>
            <a:ext cx="928449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CHAPTER 5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74502" y="1096566"/>
            <a:ext cx="9763244" cy="55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Robust Recursion: Type Checking and Validation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774502" y="1981557"/>
            <a:ext cx="13081397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Prevent infinite recursion and unexpected behavior by validating input parameters before making recursive calls.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4502" y="2562344"/>
            <a:ext cx="4212908" cy="5057180"/>
          </a:xfrm>
          <a:prstGeom prst="roundRect">
            <a:avLst>
              <a:gd name="adj" fmla="val 2206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340" y="2791182"/>
            <a:ext cx="663773" cy="663773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5863" y="2973586"/>
            <a:ext cx="298728" cy="2987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3340" y="3676174"/>
            <a:ext cx="3318748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Avoiding Infinite Recursion</a:t>
            </a:r>
            <a:endParaRPr lang="en-US" sz="2150" dirty="0"/>
          </a:p>
        </p:txBody>
      </p:sp>
      <p:sp>
        <p:nvSpPr>
          <p:cNvPr id="10" name="Text 6"/>
          <p:cNvSpPr/>
          <p:nvPr/>
        </p:nvSpPr>
        <p:spPr>
          <a:xfrm>
            <a:off x="1003340" y="4154567"/>
            <a:ext cx="3755231" cy="1335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Non-integer arguments can cause the base case to be missed, leading to a 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RecursionError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Always ensure your input types are correct.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208627" y="2562344"/>
            <a:ext cx="4213027" cy="5057180"/>
          </a:xfrm>
          <a:prstGeom prst="roundRect">
            <a:avLst>
              <a:gd name="adj" fmla="val 2206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7465" y="2791182"/>
            <a:ext cx="663773" cy="663773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19988" y="2973586"/>
            <a:ext cx="298728" cy="29872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437465" y="3676174"/>
            <a:ext cx="2766179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Using </a:t>
            </a:r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isinstance()</a:t>
            </a:r>
            <a:endParaRPr lang="en-US" sz="2150" dirty="0"/>
          </a:p>
        </p:txBody>
      </p:sp>
      <p:sp>
        <p:nvSpPr>
          <p:cNvPr id="15" name="Text 9"/>
          <p:cNvSpPr/>
          <p:nvPr/>
        </p:nvSpPr>
        <p:spPr>
          <a:xfrm>
            <a:off x="5437465" y="4177427"/>
            <a:ext cx="3755350" cy="1335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isinstance(value, type)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function is crucial for checking if a variable is of an expected type, such as an integer.</a:t>
            </a:r>
            <a:endParaRPr lang="en-US" sz="1700" dirty="0"/>
          </a:p>
        </p:txBody>
      </p:sp>
      <p:sp>
        <p:nvSpPr>
          <p:cNvPr id="16" name="Shape 10"/>
          <p:cNvSpPr/>
          <p:nvPr/>
        </p:nvSpPr>
        <p:spPr>
          <a:xfrm>
            <a:off x="5437465" y="5761673"/>
            <a:ext cx="3755350" cy="995601"/>
          </a:xfrm>
          <a:prstGeom prst="roundRect">
            <a:avLst>
              <a:gd name="adj" fmla="val 9335"/>
            </a:avLst>
          </a:prstGeom>
          <a:solidFill>
            <a:srgbClr val="EDECE8"/>
          </a:solidFill>
          <a:ln/>
        </p:spPr>
      </p:sp>
      <p:sp>
        <p:nvSpPr>
          <p:cNvPr id="17" name="Shape 11"/>
          <p:cNvSpPr/>
          <p:nvPr/>
        </p:nvSpPr>
        <p:spPr>
          <a:xfrm>
            <a:off x="5426512" y="5761673"/>
            <a:ext cx="3777258" cy="995601"/>
          </a:xfrm>
          <a:prstGeom prst="roundRect">
            <a:avLst>
              <a:gd name="adj" fmla="val 3334"/>
            </a:avLst>
          </a:prstGeom>
          <a:solidFill>
            <a:srgbClr val="EDECE8"/>
          </a:solidFill>
          <a:ln/>
        </p:spPr>
      </p:sp>
      <p:sp>
        <p:nvSpPr>
          <p:cNvPr id="18" name="Text 12"/>
          <p:cNvSpPr/>
          <p:nvPr/>
        </p:nvSpPr>
        <p:spPr>
          <a:xfrm>
            <a:off x="5647730" y="5927527"/>
            <a:ext cx="3334822" cy="663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isinstance(3, int)  # True</a:t>
            </a:r>
            <a:endParaRPr lang="en-US" sz="17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isinstance(1.5, int) # False</a:t>
            </a:r>
            <a:endParaRPr lang="en-US" sz="1700" dirty="0"/>
          </a:p>
        </p:txBody>
      </p:sp>
      <p:sp>
        <p:nvSpPr>
          <p:cNvPr id="19" name="Shape 13"/>
          <p:cNvSpPr/>
          <p:nvPr/>
        </p:nvSpPr>
        <p:spPr>
          <a:xfrm>
            <a:off x="9642872" y="2562344"/>
            <a:ext cx="4213027" cy="5057180"/>
          </a:xfrm>
          <a:prstGeom prst="roundRect">
            <a:avLst>
              <a:gd name="adj" fmla="val 2206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1710" y="2791182"/>
            <a:ext cx="663773" cy="663773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54233" y="2973586"/>
            <a:ext cx="298728" cy="29872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9871710" y="3676174"/>
            <a:ext cx="3393400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Input Validation in Factorial</a:t>
            </a:r>
            <a:endParaRPr lang="en-US" sz="2150" dirty="0"/>
          </a:p>
        </p:txBody>
      </p:sp>
      <p:sp>
        <p:nvSpPr>
          <p:cNvPr id="23" name="Text 15"/>
          <p:cNvSpPr/>
          <p:nvPr/>
        </p:nvSpPr>
        <p:spPr>
          <a:xfrm>
            <a:off x="9871710" y="4154567"/>
            <a:ext cx="3755350" cy="1327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 checks for both type and value (e.g., negative numbers) to ensure your function receives valid arguments.</a:t>
            </a:r>
            <a:endParaRPr lang="en-US" sz="1700" dirty="0"/>
          </a:p>
        </p:txBody>
      </p:sp>
      <p:sp>
        <p:nvSpPr>
          <p:cNvPr id="24" name="Shape 16"/>
          <p:cNvSpPr/>
          <p:nvPr/>
        </p:nvSpPr>
        <p:spPr>
          <a:xfrm>
            <a:off x="9871710" y="5731193"/>
            <a:ext cx="3755350" cy="1659493"/>
          </a:xfrm>
          <a:prstGeom prst="roundRect">
            <a:avLst>
              <a:gd name="adj" fmla="val 5601"/>
            </a:avLst>
          </a:prstGeom>
          <a:solidFill>
            <a:srgbClr val="EDECE8"/>
          </a:solidFill>
          <a:ln/>
        </p:spPr>
      </p:sp>
      <p:sp>
        <p:nvSpPr>
          <p:cNvPr id="25" name="Shape 17"/>
          <p:cNvSpPr/>
          <p:nvPr/>
        </p:nvSpPr>
        <p:spPr>
          <a:xfrm>
            <a:off x="9860756" y="5731193"/>
            <a:ext cx="3777258" cy="1659493"/>
          </a:xfrm>
          <a:prstGeom prst="roundRect">
            <a:avLst>
              <a:gd name="adj" fmla="val 2000"/>
            </a:avLst>
          </a:prstGeom>
          <a:solidFill>
            <a:srgbClr val="EDECE8"/>
          </a:solidFill>
          <a:ln/>
        </p:spPr>
      </p:sp>
      <p:sp>
        <p:nvSpPr>
          <p:cNvPr id="26" name="Text 18"/>
          <p:cNvSpPr/>
          <p:nvPr/>
        </p:nvSpPr>
        <p:spPr>
          <a:xfrm>
            <a:off x="10081974" y="5897047"/>
            <a:ext cx="3334822" cy="1327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not isinstance(n, int):</a:t>
            </a:r>
            <a:endParaRPr lang="en-US" sz="17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# ... error handling ...</a:t>
            </a:r>
            <a:endParaRPr lang="en-US" sz="17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elif n &lt; 0:</a:t>
            </a:r>
            <a:endParaRPr lang="en-US" sz="17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# ... error handling ...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198721"/>
            <a:ext cx="1223843" cy="408146"/>
          </a:xfrm>
          <a:prstGeom prst="roundRect">
            <a:avLst>
              <a:gd name="adj" fmla="val 18673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266706"/>
            <a:ext cx="95166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CHAPTER 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697593"/>
            <a:ext cx="649700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Debugging Recursive Functions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793790" y="2604730"/>
            <a:ext cx="130428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Effective debugging involves strategic placement of checkpoints and clear visibility into execution flow and return values.</a:t>
            </a:r>
            <a:endParaRPr lang="en-US" sz="17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320534"/>
            <a:ext cx="113348" cy="1133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3951" y="3200043"/>
            <a:ext cx="30788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Analyze Potential Issues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133951" y="3690461"/>
            <a:ext cx="6039445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Consider three areas: faulty arguments (preconditions), errors within the function (postconditions), or incorrect handling of return values by the caller.</a:t>
            </a:r>
            <a:endParaRPr lang="en-US" sz="17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6884" y="3320534"/>
            <a:ext cx="113348" cy="1133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97046" y="32000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Precondition Checks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7797046" y="3690461"/>
            <a:ext cx="6039564" cy="1028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print()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statements at the function's start to display parameter values and types, or implement explicit precondition checks.</a:t>
            </a:r>
            <a:endParaRPr lang="en-US" sz="17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292685"/>
            <a:ext cx="113348" cy="1133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33951" y="5172194"/>
            <a:ext cx="327326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Postcondition Verification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133951" y="5662613"/>
            <a:ext cx="6039445" cy="1028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Insert 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print()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statements before each 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show the value being returned. Test with simple inputs to easily verify results.</a:t>
            </a:r>
            <a:endParaRPr lang="en-US" sz="17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884" y="5292685"/>
            <a:ext cx="113348" cy="11334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797046" y="5172194"/>
            <a:ext cx="30490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Scaffolding for Visibility</a:t>
            </a:r>
            <a:endParaRPr lang="en-US" sz="2200" dirty="0"/>
          </a:p>
        </p:txBody>
      </p:sp>
      <p:sp>
        <p:nvSpPr>
          <p:cNvPr id="17" name="Text 11"/>
          <p:cNvSpPr/>
          <p:nvPr/>
        </p:nvSpPr>
        <p:spPr>
          <a:xfrm>
            <a:off x="7797046" y="5662613"/>
            <a:ext cx="6039564" cy="1368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temporary code (scaffolding) like indentation-controlled 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print()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statements to visualize the depth and return path of recursive calls, as shown in the example below.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2026-01-15T05:34:30Z</dcterms:created>
  <dcterms:modified xsi:type="dcterms:W3CDTF">2026-01-15T05:34:30Z</dcterms:modified>
</cp:coreProperties>
</file>