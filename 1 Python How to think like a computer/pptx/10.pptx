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embeddedFontLst>
    <p:embeddedFont>
      <p:font typeface="Host Grotesk Medium"/>
      <p:regular r:id="rId12"/>
    </p:embeddedFont>
    <p:embeddedFont>
      <p:font typeface="Host Grotesk Medium"/>
      <p:regular r:id="rId13"/>
    </p:embeddedFont>
    <p:embeddedFont>
      <p:font typeface="Host Grotesk Medium"/>
      <p:regular r:id="rId14"/>
    </p:embeddedFont>
    <p:embeddedFont>
      <p:font typeface="Host Grotesk Medium"/>
      <p:regular r:id="rId15"/>
    </p:embeddedFont>
    <p:embeddedFont>
      <p:font typeface="Roboto"/>
      <p:regular r:id="rId16"/>
    </p:embeddedFont>
    <p:embeddedFont>
      <p:font typeface="Roboto"/>
      <p:regular r:id="rId17"/>
    </p:embeddedFont>
    <p:embeddedFont>
      <p:font typeface="Roboto"/>
      <p:regular r:id="rId18"/>
    </p:embeddedFont>
    <p:embeddedFont>
      <p:font typeface="Roboto"/>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193375"/>
            <a:ext cx="9510474"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Unlocking Python's Dictionary Power</a:t>
            </a:r>
            <a:endParaRPr lang="en-US" sz="4450" dirty="0"/>
          </a:p>
        </p:txBody>
      </p:sp>
      <p:sp>
        <p:nvSpPr>
          <p:cNvPr id="3" name="Text 1"/>
          <p:cNvSpPr/>
          <p:nvPr/>
        </p:nvSpPr>
        <p:spPr>
          <a:xfrm>
            <a:off x="793790" y="4355783"/>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Dive deeper into Python dictionaries: from handling hashable keys and efficiently accumulating data to optimizing functions with memoization and mastering debugging techniques for large datasets.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921425"/>
            <a:ext cx="2058948" cy="408146"/>
          </a:xfrm>
          <a:prstGeom prst="roundRect">
            <a:avLst>
              <a:gd name="adj" fmla="val 18673"/>
            </a:avLst>
          </a:prstGeom>
          <a:solidFill>
            <a:srgbClr val="D9EDF2"/>
          </a:solidFill>
          <a:ln/>
        </p:spPr>
      </p:sp>
      <p:sp>
        <p:nvSpPr>
          <p:cNvPr id="3" name="Text 1"/>
          <p:cNvSpPr/>
          <p:nvPr/>
        </p:nvSpPr>
        <p:spPr>
          <a:xfrm>
            <a:off x="929878" y="989409"/>
            <a:ext cx="1786771" cy="272177"/>
          </a:xfrm>
          <a:prstGeom prst="rect">
            <a:avLst/>
          </a:prstGeom>
          <a:noFill/>
          <a:ln/>
        </p:spPr>
        <p:txBody>
          <a:bodyPr wrap="none" lIns="0" tIns="0" rIns="0" bIns="0" rtlCol="0" anchor="t"/>
          <a:lstStyle/>
          <a:p>
            <a:pPr algn="l" indent="0" marL="0">
              <a:lnSpc>
                <a:spcPts val="2100"/>
              </a:lnSpc>
              <a:buNone/>
            </a:pPr>
            <a:r>
              <a:rPr lang="en-US" sz="1400" dirty="0">
                <a:solidFill>
                  <a:srgbClr val="384653"/>
                </a:solidFill>
                <a:latin typeface="Roboto" pitchFamily="34" charset="0"/>
                <a:ea typeface="Roboto" pitchFamily="34" charset="-122"/>
                <a:cs typeface="Roboto" pitchFamily="34" charset="-120"/>
              </a:rPr>
              <a:t>CHAPTER HIGHLIGHT</a:t>
            </a:r>
            <a:endParaRPr lang="en-US" sz="1400" dirty="0"/>
          </a:p>
        </p:txBody>
      </p:sp>
      <p:sp>
        <p:nvSpPr>
          <p:cNvPr id="4" name="Text 2"/>
          <p:cNvSpPr/>
          <p:nvPr/>
        </p:nvSpPr>
        <p:spPr>
          <a:xfrm>
            <a:off x="793790" y="1420297"/>
            <a:ext cx="11366302"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The Essence of Dictionaries: Keys, Values &amp; Hashability</a:t>
            </a:r>
            <a:endParaRPr lang="en-US" sz="3550" dirty="0"/>
          </a:p>
        </p:txBody>
      </p:sp>
      <p:sp>
        <p:nvSpPr>
          <p:cNvPr id="5" name="Text 3"/>
          <p:cNvSpPr/>
          <p:nvPr/>
        </p:nvSpPr>
        <p:spPr>
          <a:xfrm>
            <a:off x="793790" y="2554248"/>
            <a:ext cx="362521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Mutable vs. Immutable Keys</a:t>
            </a:r>
            <a:endParaRPr lang="en-US" sz="2200" dirty="0"/>
          </a:p>
        </p:txBody>
      </p:sp>
      <p:sp>
        <p:nvSpPr>
          <p:cNvPr id="6" name="Text 4"/>
          <p:cNvSpPr/>
          <p:nvPr/>
        </p:nvSpPr>
        <p:spPr>
          <a:xfrm>
            <a:off x="793790" y="3135392"/>
            <a:ext cx="6244709"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Python dictionaries are powerful, mapping keys to values. While values can be any data type, keys have a crucial constraint: they must be immutable (hashable).</a:t>
            </a:r>
            <a:endParaRPr lang="en-US" sz="1750" dirty="0"/>
          </a:p>
        </p:txBody>
      </p:sp>
      <p:sp>
        <p:nvSpPr>
          <p:cNvPr id="7" name="Text 5"/>
          <p:cNvSpPr/>
          <p:nvPr/>
        </p:nvSpPr>
        <p:spPr>
          <a:xfrm>
            <a:off x="793790" y="4359950"/>
            <a:ext cx="6244709" cy="680323"/>
          </a:xfrm>
          <a:prstGeom prst="rect">
            <a:avLst/>
          </a:prstGeom>
          <a:noFill/>
          <a:ln/>
        </p:spPr>
        <p:txBody>
          <a:bodyPr wrap="square" lIns="0" tIns="0" rIns="0" bIns="0" rtlCol="0" anchor="t"/>
          <a:lstStyle/>
          <a:p>
            <a:pPr algn="l" marL="342900" indent="-342900">
              <a:lnSpc>
                <a:spcPts val="2650"/>
              </a:lnSpc>
              <a:buSzPct val="100000"/>
              <a:buChar char="•"/>
            </a:pPr>
            <a:r>
              <a:rPr lang="en-US" sz="1750" b="1" dirty="0">
                <a:solidFill>
                  <a:srgbClr val="384653"/>
                </a:solidFill>
                <a:latin typeface="Roboto" pitchFamily="34" charset="0"/>
                <a:ea typeface="Roboto" pitchFamily="34" charset="-122"/>
                <a:cs typeface="Roboto" pitchFamily="34" charset="-120"/>
              </a:rPr>
              <a:t>Valid Keys:</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Integers, floats, strings, and tuples (if all their elements are immutable).</a:t>
            </a:r>
            <a:endParaRPr lang="en-US" sz="1750" dirty="0"/>
          </a:p>
        </p:txBody>
      </p:sp>
      <p:sp>
        <p:nvSpPr>
          <p:cNvPr id="8" name="Text 6"/>
          <p:cNvSpPr/>
          <p:nvPr/>
        </p:nvSpPr>
        <p:spPr>
          <a:xfrm>
            <a:off x="793790" y="5119568"/>
            <a:ext cx="6244709" cy="1020485"/>
          </a:xfrm>
          <a:prstGeom prst="rect">
            <a:avLst/>
          </a:prstGeom>
          <a:noFill/>
          <a:ln/>
        </p:spPr>
        <p:txBody>
          <a:bodyPr wrap="square" lIns="0" tIns="0" rIns="0" bIns="0" rtlCol="0" anchor="t"/>
          <a:lstStyle/>
          <a:p>
            <a:pPr algn="l" marL="342900" indent="-342900">
              <a:lnSpc>
                <a:spcPts val="2650"/>
              </a:lnSpc>
              <a:buSzPct val="100000"/>
              <a:buChar char="•"/>
            </a:pPr>
            <a:r>
              <a:rPr lang="en-US" sz="1750" b="1" dirty="0">
                <a:solidFill>
                  <a:srgbClr val="384653"/>
                </a:solidFill>
                <a:latin typeface="Roboto" pitchFamily="34" charset="0"/>
                <a:ea typeface="Roboto" pitchFamily="34" charset="-122"/>
                <a:cs typeface="Roboto" pitchFamily="34" charset="-120"/>
              </a:rPr>
              <a:t>Invalid Keys:</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Lists and other mutable types cannot be dictionary keys. Why? Because their content can change, which would alter their hash value.</a:t>
            </a:r>
            <a:endParaRPr lang="en-US" sz="1750" dirty="0"/>
          </a:p>
        </p:txBody>
      </p:sp>
      <p:sp>
        <p:nvSpPr>
          <p:cNvPr id="9" name="Text 7"/>
          <p:cNvSpPr/>
          <p:nvPr/>
        </p:nvSpPr>
        <p:spPr>
          <a:xfrm>
            <a:off x="7599521" y="255424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Why Hashable Keys?</a:t>
            </a:r>
            <a:endParaRPr lang="en-US" sz="2200" dirty="0"/>
          </a:p>
        </p:txBody>
      </p:sp>
      <p:sp>
        <p:nvSpPr>
          <p:cNvPr id="10" name="Text 8"/>
          <p:cNvSpPr/>
          <p:nvPr/>
        </p:nvSpPr>
        <p:spPr>
          <a:xfrm>
            <a:off x="7599521" y="3135392"/>
            <a:ext cx="6244709" cy="136064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Dictionaries rely on </a:t>
            </a:r>
            <a:pPr algn="l" indent="0" marL="0">
              <a:lnSpc>
                <a:spcPts val="2650"/>
              </a:lnSpc>
              <a:buNone/>
            </a:pPr>
            <a:r>
              <a:rPr lang="en-US" sz="1750" b="1" dirty="0">
                <a:solidFill>
                  <a:srgbClr val="384653"/>
                </a:solidFill>
                <a:latin typeface="Roboto" pitchFamily="34" charset="0"/>
                <a:ea typeface="Roboto" pitchFamily="34" charset="-122"/>
                <a:cs typeface="Roboto" pitchFamily="34" charset="-120"/>
              </a:rPr>
              <a:t>hash tables</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for efficient data storage and retrieval. A </a:t>
            </a:r>
            <a:pPr algn="l" indent="0" marL="0">
              <a:lnSpc>
                <a:spcPts val="2650"/>
              </a:lnSpc>
              <a:buNone/>
            </a:pPr>
            <a:r>
              <a:rPr lang="en-US" sz="1750" b="1" dirty="0">
                <a:solidFill>
                  <a:srgbClr val="384653"/>
                </a:solidFill>
                <a:latin typeface="Roboto" pitchFamily="34" charset="0"/>
                <a:ea typeface="Roboto" pitchFamily="34" charset="-122"/>
                <a:cs typeface="Roboto" pitchFamily="34" charset="-120"/>
              </a:rPr>
              <a:t>hash function</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takes a key and generates an integer (its hash value). This value helps quickly locate where the key-value pair is stored.</a:t>
            </a:r>
            <a:endParaRPr lang="en-US" sz="1750" dirty="0"/>
          </a:p>
        </p:txBody>
      </p:sp>
      <p:sp>
        <p:nvSpPr>
          <p:cNvPr id="11" name="Shape 9"/>
          <p:cNvSpPr/>
          <p:nvPr/>
        </p:nvSpPr>
        <p:spPr>
          <a:xfrm>
            <a:off x="7599521" y="4751189"/>
            <a:ext cx="6244709" cy="2301716"/>
          </a:xfrm>
          <a:prstGeom prst="roundRect">
            <a:avLst>
              <a:gd name="adj" fmla="val 4139"/>
            </a:avLst>
          </a:prstGeom>
          <a:solidFill>
            <a:srgbClr val="C6E4EB"/>
          </a:solidFill>
          <a:ln/>
        </p:spPr>
      </p:sp>
      <p:pic>
        <p:nvPicPr>
          <p:cNvPr id="12" name="Image 0" descr="preencoded.png">    </p:cNvPr>
          <p:cNvPicPr>
            <a:picLocks noChangeAspect="1"/>
          </p:cNvPicPr>
          <p:nvPr/>
        </p:nvPicPr>
        <p:blipFill>
          <a:blip r:embed="rId1"/>
          <a:stretch>
            <a:fillRect/>
          </a:stretch>
        </p:blipFill>
        <p:spPr>
          <a:xfrm>
            <a:off x="7826335" y="5080040"/>
            <a:ext cx="283488" cy="226814"/>
          </a:xfrm>
          <a:prstGeom prst="rect">
            <a:avLst/>
          </a:prstGeom>
        </p:spPr>
      </p:pic>
      <p:sp>
        <p:nvSpPr>
          <p:cNvPr id="13" name="Text 10"/>
          <p:cNvSpPr/>
          <p:nvPr/>
        </p:nvSpPr>
        <p:spPr>
          <a:xfrm>
            <a:off x="8336637" y="5034677"/>
            <a:ext cx="5280779" cy="1700808"/>
          </a:xfrm>
          <a:prstGeom prst="rect">
            <a:avLst/>
          </a:prstGeom>
          <a:noFill/>
          <a:ln/>
        </p:spPr>
        <p:txBody>
          <a:bodyPr wrap="square" lIns="0" tIns="0" rIns="0" bIns="0" rtlCol="0" anchor="t"/>
          <a:lstStyle/>
          <a:p>
            <a:pPr algn="l" indent="0" marL="0">
              <a:lnSpc>
                <a:spcPts val="2650"/>
              </a:lnSpc>
              <a:buNone/>
            </a:pPr>
            <a:r>
              <a:rPr lang="en-US" sz="1750" dirty="0">
                <a:solidFill>
                  <a:srgbClr val="000000"/>
                </a:solidFill>
                <a:latin typeface="Roboto" pitchFamily="34" charset="0"/>
                <a:ea typeface="Roboto" pitchFamily="34" charset="-122"/>
                <a:cs typeface="Roboto" pitchFamily="34" charset="-120"/>
              </a:rPr>
              <a:t>If a key were mutable, its hash value could change, making it impossible for the dictionary to reliably find the stored value. This is why mutability and hashability are mutually exclusive for dictionary keys.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328142" y="520541"/>
            <a:ext cx="2102406" cy="340757"/>
          </a:xfrm>
          <a:prstGeom prst="roundRect">
            <a:avLst>
              <a:gd name="adj" fmla="val 18667"/>
            </a:avLst>
          </a:prstGeom>
          <a:solidFill>
            <a:srgbClr val="D9EDF2"/>
          </a:solidFill>
          <a:ln/>
        </p:spPr>
      </p:sp>
      <p:sp>
        <p:nvSpPr>
          <p:cNvPr id="3" name="Text 1"/>
          <p:cNvSpPr/>
          <p:nvPr/>
        </p:nvSpPr>
        <p:spPr>
          <a:xfrm>
            <a:off x="1441728" y="577334"/>
            <a:ext cx="1875234" cy="227171"/>
          </a:xfrm>
          <a:prstGeom prst="rect">
            <a:avLst/>
          </a:prstGeom>
          <a:noFill/>
          <a:ln/>
        </p:spPr>
        <p:txBody>
          <a:bodyPr wrap="none" lIns="0" tIns="0" rIns="0" bIns="0" rtlCol="0" anchor="t"/>
          <a:lstStyle/>
          <a:p>
            <a:pPr algn="l" indent="0" marL="0">
              <a:lnSpc>
                <a:spcPts val="1750"/>
              </a:lnSpc>
              <a:buNone/>
            </a:pPr>
            <a:r>
              <a:rPr lang="en-US" sz="1150" dirty="0">
                <a:solidFill>
                  <a:srgbClr val="384653"/>
                </a:solidFill>
                <a:latin typeface="Roboto" pitchFamily="34" charset="0"/>
                <a:ea typeface="Roboto" pitchFamily="34" charset="-122"/>
                <a:cs typeface="Roboto" pitchFamily="34" charset="-120"/>
              </a:rPr>
              <a:t>PROGRAMMING PATTERNS</a:t>
            </a:r>
            <a:endParaRPr lang="en-US" sz="1150" dirty="0"/>
          </a:p>
        </p:txBody>
      </p:sp>
      <p:sp>
        <p:nvSpPr>
          <p:cNvPr id="4" name="Text 2"/>
          <p:cNvSpPr/>
          <p:nvPr/>
        </p:nvSpPr>
        <p:spPr>
          <a:xfrm>
            <a:off x="1328142" y="937022"/>
            <a:ext cx="7889081" cy="473273"/>
          </a:xfrm>
          <a:prstGeom prst="rect">
            <a:avLst/>
          </a:prstGeom>
          <a:noFill/>
          <a:ln/>
        </p:spPr>
        <p:txBody>
          <a:bodyPr wrap="none" lIns="0" tIns="0" rIns="0" bIns="0" rtlCol="0" anchor="t"/>
          <a:lstStyle/>
          <a:p>
            <a:pPr algn="l" indent="0" marL="0">
              <a:lnSpc>
                <a:spcPts val="3700"/>
              </a:lnSpc>
              <a:buNone/>
            </a:pPr>
            <a:r>
              <a:rPr lang="en-US" sz="2950" dirty="0">
                <a:solidFill>
                  <a:srgbClr val="2E3C4E"/>
                </a:solidFill>
                <a:latin typeface="Host Grotesk Medium" pitchFamily="34" charset="0"/>
                <a:ea typeface="Host Grotesk Medium" pitchFamily="34" charset="-122"/>
                <a:cs typeface="Host Grotesk Medium" pitchFamily="34" charset="-120"/>
              </a:rPr>
              <a:t>Accumulators: Building Data Through Iteration</a:t>
            </a:r>
            <a:endParaRPr lang="en-US" sz="2950" dirty="0"/>
          </a:p>
        </p:txBody>
      </p:sp>
      <p:sp>
        <p:nvSpPr>
          <p:cNvPr id="5" name="Text 3"/>
          <p:cNvSpPr/>
          <p:nvPr/>
        </p:nvSpPr>
        <p:spPr>
          <a:xfrm>
            <a:off x="1328142" y="1694259"/>
            <a:ext cx="11974116" cy="283964"/>
          </a:xfrm>
          <a:prstGeom prst="rect">
            <a:avLst/>
          </a:prstGeom>
          <a:noFill/>
          <a:ln/>
        </p:spPr>
        <p:txBody>
          <a:bodyPr wrap="non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Accumulators are variables used within loops to collect or aggregate data, transforming raw input into structured output.</a:t>
            </a:r>
            <a:endParaRPr lang="en-US" sz="1450" dirty="0"/>
          </a:p>
        </p:txBody>
      </p:sp>
      <p:pic>
        <p:nvPicPr>
          <p:cNvPr id="6" name="Image 0" descr="preencoded.png">    </p:cNvPr>
          <p:cNvPicPr>
            <a:picLocks noChangeAspect="1"/>
          </p:cNvPicPr>
          <p:nvPr/>
        </p:nvPicPr>
        <p:blipFill>
          <a:blip r:embed="rId1"/>
          <a:stretch>
            <a:fillRect/>
          </a:stretch>
        </p:blipFill>
        <p:spPr>
          <a:xfrm>
            <a:off x="1328142" y="2191107"/>
            <a:ext cx="5987058" cy="757238"/>
          </a:xfrm>
          <a:prstGeom prst="rect">
            <a:avLst/>
          </a:prstGeom>
        </p:spPr>
      </p:pic>
      <p:sp>
        <p:nvSpPr>
          <p:cNvPr id="7" name="Text 4"/>
          <p:cNvSpPr/>
          <p:nvPr/>
        </p:nvSpPr>
        <p:spPr>
          <a:xfrm>
            <a:off x="1517452" y="3137654"/>
            <a:ext cx="2366367" cy="295870"/>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1. Initialization</a:t>
            </a:r>
            <a:endParaRPr lang="en-US" sz="1850" dirty="0"/>
          </a:p>
        </p:txBody>
      </p:sp>
      <p:sp>
        <p:nvSpPr>
          <p:cNvPr id="8" name="Text 5"/>
          <p:cNvSpPr/>
          <p:nvPr/>
        </p:nvSpPr>
        <p:spPr>
          <a:xfrm>
            <a:off x="1517452" y="3547110"/>
            <a:ext cx="5608439" cy="567928"/>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Begin by initializing an empty accumulator (e.g., an empty list or a counter set to zero) before entering the loop.</a:t>
            </a:r>
            <a:endParaRPr lang="en-US" sz="1450" dirty="0"/>
          </a:p>
        </p:txBody>
      </p:sp>
      <p:pic>
        <p:nvPicPr>
          <p:cNvPr id="9" name="Image 1" descr="preencoded.png">    </p:cNvPr>
          <p:cNvPicPr>
            <a:picLocks noChangeAspect="1"/>
          </p:cNvPicPr>
          <p:nvPr/>
        </p:nvPicPr>
        <p:blipFill>
          <a:blip r:embed="rId2"/>
          <a:stretch>
            <a:fillRect/>
          </a:stretch>
        </p:blipFill>
        <p:spPr>
          <a:xfrm>
            <a:off x="7315200" y="2191107"/>
            <a:ext cx="5987058" cy="757238"/>
          </a:xfrm>
          <a:prstGeom prst="rect">
            <a:avLst/>
          </a:prstGeom>
        </p:spPr>
      </p:pic>
      <p:sp>
        <p:nvSpPr>
          <p:cNvPr id="10" name="Text 6"/>
          <p:cNvSpPr/>
          <p:nvPr/>
        </p:nvSpPr>
        <p:spPr>
          <a:xfrm>
            <a:off x="7504509" y="3137654"/>
            <a:ext cx="2508052" cy="295870"/>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2. Iteration &amp; Condition</a:t>
            </a:r>
            <a:endParaRPr lang="en-US" sz="1850" dirty="0"/>
          </a:p>
        </p:txBody>
      </p:sp>
      <p:sp>
        <p:nvSpPr>
          <p:cNvPr id="11" name="Text 7"/>
          <p:cNvSpPr/>
          <p:nvPr/>
        </p:nvSpPr>
        <p:spPr>
          <a:xfrm>
            <a:off x="7504509" y="3547110"/>
            <a:ext cx="5608439" cy="567928"/>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Inside the loop, process each item. Apply a condition to determine if the item should be added to the accumulator.</a:t>
            </a:r>
            <a:endParaRPr lang="en-US" sz="1450" dirty="0"/>
          </a:p>
        </p:txBody>
      </p:sp>
      <p:pic>
        <p:nvPicPr>
          <p:cNvPr id="12" name="Image 2" descr="preencoded.png">    </p:cNvPr>
          <p:cNvPicPr>
            <a:picLocks noChangeAspect="1"/>
          </p:cNvPicPr>
          <p:nvPr/>
        </p:nvPicPr>
        <p:blipFill>
          <a:blip r:embed="rId3"/>
          <a:stretch>
            <a:fillRect/>
          </a:stretch>
        </p:blipFill>
        <p:spPr>
          <a:xfrm>
            <a:off x="1328142" y="4304348"/>
            <a:ext cx="5987058" cy="757238"/>
          </a:xfrm>
          <a:prstGeom prst="rect">
            <a:avLst/>
          </a:prstGeom>
        </p:spPr>
      </p:pic>
      <p:sp>
        <p:nvSpPr>
          <p:cNvPr id="13" name="Text 8"/>
          <p:cNvSpPr/>
          <p:nvPr/>
        </p:nvSpPr>
        <p:spPr>
          <a:xfrm>
            <a:off x="1517452" y="5250894"/>
            <a:ext cx="2366367" cy="295870"/>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3. Accumulation</a:t>
            </a:r>
            <a:endParaRPr lang="en-US" sz="1850" dirty="0"/>
          </a:p>
        </p:txBody>
      </p:sp>
      <p:sp>
        <p:nvSpPr>
          <p:cNvPr id="14" name="Text 9"/>
          <p:cNvSpPr/>
          <p:nvPr/>
        </p:nvSpPr>
        <p:spPr>
          <a:xfrm>
            <a:off x="1517452" y="5660350"/>
            <a:ext cx="5608439" cy="567928"/>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If the condition is met, update the accumulator (e.g., append to a list, increment a counter).</a:t>
            </a:r>
            <a:endParaRPr lang="en-US" sz="1450" dirty="0"/>
          </a:p>
        </p:txBody>
      </p:sp>
      <p:pic>
        <p:nvPicPr>
          <p:cNvPr id="15" name="Image 3" descr="preencoded.png">    </p:cNvPr>
          <p:cNvPicPr>
            <a:picLocks noChangeAspect="1"/>
          </p:cNvPicPr>
          <p:nvPr/>
        </p:nvPicPr>
        <p:blipFill>
          <a:blip r:embed="rId4"/>
          <a:stretch>
            <a:fillRect/>
          </a:stretch>
        </p:blipFill>
        <p:spPr>
          <a:xfrm>
            <a:off x="7315200" y="4304348"/>
            <a:ext cx="5987058" cy="757238"/>
          </a:xfrm>
          <a:prstGeom prst="rect">
            <a:avLst/>
          </a:prstGeom>
        </p:spPr>
      </p:pic>
      <p:sp>
        <p:nvSpPr>
          <p:cNvPr id="16" name="Text 10"/>
          <p:cNvSpPr/>
          <p:nvPr/>
        </p:nvSpPr>
        <p:spPr>
          <a:xfrm>
            <a:off x="7504509" y="5250894"/>
            <a:ext cx="2366367" cy="295870"/>
          </a:xfrm>
          <a:prstGeom prst="rect">
            <a:avLst/>
          </a:prstGeom>
          <a:noFill/>
          <a:ln/>
        </p:spPr>
        <p:txBody>
          <a:bodyPr wrap="none" lIns="0" tIns="0" rIns="0" bIns="0" rtlCol="0" anchor="t"/>
          <a:lstStyle/>
          <a:p>
            <a:pPr algn="l" indent="0" marL="0">
              <a:lnSpc>
                <a:spcPts val="2300"/>
              </a:lnSpc>
              <a:buNone/>
            </a:pPr>
            <a:r>
              <a:rPr lang="en-US" sz="1850" dirty="0">
                <a:solidFill>
                  <a:srgbClr val="384653"/>
                </a:solidFill>
                <a:latin typeface="Host Grotesk Medium" pitchFamily="34" charset="0"/>
                <a:ea typeface="Host Grotesk Medium" pitchFamily="34" charset="-122"/>
                <a:cs typeface="Host Grotesk Medium" pitchFamily="34" charset="-120"/>
              </a:rPr>
              <a:t>4. Result</a:t>
            </a:r>
            <a:endParaRPr lang="en-US" sz="1850" dirty="0"/>
          </a:p>
        </p:txBody>
      </p:sp>
      <p:sp>
        <p:nvSpPr>
          <p:cNvPr id="17" name="Text 11"/>
          <p:cNvSpPr/>
          <p:nvPr/>
        </p:nvSpPr>
        <p:spPr>
          <a:xfrm>
            <a:off x="7504509" y="5660350"/>
            <a:ext cx="5608439" cy="567928"/>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After the loop completes, the accumulator holds the final, aggregated result.</a:t>
            </a:r>
            <a:endParaRPr lang="en-US" sz="1450" dirty="0"/>
          </a:p>
        </p:txBody>
      </p:sp>
      <p:sp>
        <p:nvSpPr>
          <p:cNvPr id="18" name="Text 12"/>
          <p:cNvSpPr/>
          <p:nvPr/>
        </p:nvSpPr>
        <p:spPr>
          <a:xfrm>
            <a:off x="1328142" y="6630472"/>
            <a:ext cx="11974116" cy="283964"/>
          </a:xfrm>
          <a:prstGeom prst="rect">
            <a:avLst/>
          </a:prstGeom>
          <a:noFill/>
          <a:ln/>
        </p:spPr>
        <p:txBody>
          <a:bodyPr wrap="none" lIns="0" tIns="0" rIns="0" bIns="0" rtlCol="0" anchor="t"/>
          <a:lstStyle/>
          <a:p>
            <a:pPr algn="l" indent="0" marL="0">
              <a:lnSpc>
                <a:spcPts val="2200"/>
              </a:lnSpc>
              <a:buNone/>
            </a:pPr>
            <a:r>
              <a:rPr lang="en-US" sz="1450" b="1" dirty="0">
                <a:solidFill>
                  <a:srgbClr val="384653"/>
                </a:solidFill>
                <a:latin typeface="Roboto" pitchFamily="34" charset="0"/>
                <a:ea typeface="Roboto" pitchFamily="34" charset="-122"/>
                <a:cs typeface="Roboto" pitchFamily="34" charset="-120"/>
              </a:rPr>
              <a:t>Example: Filtering Palindromes</a:t>
            </a:r>
            <a:endParaRPr lang="en-US" sz="1450" dirty="0"/>
          </a:p>
        </p:txBody>
      </p:sp>
      <p:sp>
        <p:nvSpPr>
          <p:cNvPr id="19" name="Text 13"/>
          <p:cNvSpPr/>
          <p:nvPr/>
        </p:nvSpPr>
        <p:spPr>
          <a:xfrm>
            <a:off x="1328142" y="7127319"/>
            <a:ext cx="11974116" cy="583168"/>
          </a:xfrm>
          <a:prstGeom prst="rect">
            <a:avLst/>
          </a:prstGeom>
          <a:noFill/>
          <a:ln/>
        </p:spPr>
        <p:txBody>
          <a:bodyPr wrap="square" lIns="0" tIns="0" rIns="0" bIns="0" rtlCol="0" anchor="t"/>
          <a:lstStyle/>
          <a:p>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To build a list of palindromes from a dictionary of words, you initialize an empty list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palindromes = []</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Within the loop, if a word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is_palindrome(word)</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you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palindromes.append(word)</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The final </a:t>
            </a:r>
            <a:pPr algn="l" indent="0" marL="0">
              <a:lnSpc>
                <a:spcPts val="2200"/>
              </a:lnSpc>
              <a:buNone/>
            </a:pPr>
            <a:r>
              <a:rPr lang="en-US" sz="1450" dirty="0">
                <a:solidFill>
                  <a:srgbClr val="384653"/>
                </a:solidFill>
                <a:highlight>
                  <a:srgbClr val="EDECE8"/>
                </a:highlight>
                <a:latin typeface="Consolas" pitchFamily="34" charset="0"/>
                <a:ea typeface="Consolas" pitchFamily="34" charset="-122"/>
                <a:cs typeface="Consolas" pitchFamily="34" charset="-120"/>
              </a:rPr>
              <a:t>palindromes</a:t>
            </a:r>
            <a:pPr algn="l" indent="0" marL="0">
              <a:lnSpc>
                <a:spcPts val="2200"/>
              </a:lnSpc>
              <a:buNone/>
            </a:pPr>
            <a:r>
              <a:rPr lang="en-US" sz="1450" dirty="0">
                <a:solidFill>
                  <a:srgbClr val="384653"/>
                </a:solidFill>
                <a:latin typeface="Roboto" pitchFamily="34" charset="0"/>
                <a:ea typeface="Roboto" pitchFamily="34" charset="-122"/>
                <a:cs typeface="Roboto" pitchFamily="34" charset="-120"/>
              </a:rPr>
              <a:t> list holds all the matched words.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3468410" y="357664"/>
            <a:ext cx="1356360" cy="218718"/>
          </a:xfrm>
          <a:prstGeom prst="roundRect">
            <a:avLst>
              <a:gd name="adj" fmla="val 18686"/>
            </a:avLst>
          </a:prstGeom>
          <a:solidFill>
            <a:srgbClr val="D9EDF2"/>
          </a:solidFill>
          <a:ln/>
        </p:spPr>
      </p:sp>
      <p:sp>
        <p:nvSpPr>
          <p:cNvPr id="3" name="Text 1"/>
          <p:cNvSpPr/>
          <p:nvPr/>
        </p:nvSpPr>
        <p:spPr>
          <a:xfrm>
            <a:off x="3541276" y="394097"/>
            <a:ext cx="1210628" cy="145852"/>
          </a:xfrm>
          <a:prstGeom prst="rect">
            <a:avLst/>
          </a:prstGeom>
          <a:noFill/>
          <a:ln/>
        </p:spPr>
        <p:txBody>
          <a:bodyPr wrap="none" lIns="0" tIns="0" rIns="0" bIns="0" rtlCol="0" anchor="t"/>
          <a:lstStyle/>
          <a:p>
            <a:pPr algn="l" indent="0" marL="0">
              <a:lnSpc>
                <a:spcPts val="1100"/>
              </a:lnSpc>
              <a:buNone/>
            </a:pPr>
            <a:r>
              <a:rPr lang="en-US" sz="750" dirty="0">
                <a:solidFill>
                  <a:srgbClr val="384653"/>
                </a:solidFill>
                <a:latin typeface="Roboto" pitchFamily="34" charset="0"/>
                <a:ea typeface="Roboto" pitchFamily="34" charset="-122"/>
                <a:cs typeface="Roboto" pitchFamily="34" charset="-120"/>
              </a:rPr>
              <a:t>OPTIMIZATION TECHNIQUE</a:t>
            </a:r>
            <a:endParaRPr lang="en-US" sz="750" dirty="0"/>
          </a:p>
        </p:txBody>
      </p:sp>
      <p:sp>
        <p:nvSpPr>
          <p:cNvPr id="4" name="Text 2"/>
          <p:cNvSpPr/>
          <p:nvPr/>
        </p:nvSpPr>
        <p:spPr>
          <a:xfrm>
            <a:off x="3468410" y="624959"/>
            <a:ext cx="6216253" cy="303967"/>
          </a:xfrm>
          <a:prstGeom prst="rect">
            <a:avLst/>
          </a:prstGeom>
          <a:noFill/>
          <a:ln/>
        </p:spPr>
        <p:txBody>
          <a:bodyPr wrap="none" lIns="0" tIns="0" rIns="0" bIns="0" rtlCol="0" anchor="t"/>
          <a:lstStyle/>
          <a:p>
            <a:pPr algn="l" indent="0" marL="0">
              <a:lnSpc>
                <a:spcPts val="2350"/>
              </a:lnSpc>
              <a:buNone/>
            </a:pPr>
            <a:r>
              <a:rPr lang="en-US" sz="1900" dirty="0">
                <a:solidFill>
                  <a:srgbClr val="2E3C4E"/>
                </a:solidFill>
                <a:latin typeface="Host Grotesk Medium" pitchFamily="34" charset="0"/>
                <a:ea typeface="Host Grotesk Medium" pitchFamily="34" charset="-122"/>
                <a:cs typeface="Host Grotesk Medium" pitchFamily="34" charset="-120"/>
              </a:rPr>
              <a:t>Memoization: Boosting Performance with Stored Results</a:t>
            </a:r>
            <a:endParaRPr lang="en-US" sz="1900" dirty="0"/>
          </a:p>
        </p:txBody>
      </p:sp>
      <p:sp>
        <p:nvSpPr>
          <p:cNvPr id="5" name="Text 3"/>
          <p:cNvSpPr/>
          <p:nvPr/>
        </p:nvSpPr>
        <p:spPr>
          <a:xfrm>
            <a:off x="3468410" y="1111329"/>
            <a:ext cx="7693462" cy="365046"/>
          </a:xfrm>
          <a:prstGeom prst="rect">
            <a:avLst/>
          </a:prstGeom>
          <a:noFill/>
          <a:ln/>
        </p:spPr>
        <p:txBody>
          <a:bodyPr wrap="square" lIns="0" tIns="0" rIns="0" bIns="0" rtlCol="0" anchor="t"/>
          <a:lstStyle/>
          <a:p>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Memoization is an optimization technique where you store the results of expensive function calls and return the cached result when the same inputs occur again. This dramatically speeds up functions that recompute the same values many times.</a:t>
            </a:r>
            <a:endParaRPr lang="en-US" sz="950" dirty="0"/>
          </a:p>
        </p:txBody>
      </p:sp>
      <p:sp>
        <p:nvSpPr>
          <p:cNvPr id="6" name="Text 4"/>
          <p:cNvSpPr/>
          <p:nvPr/>
        </p:nvSpPr>
        <p:spPr>
          <a:xfrm>
            <a:off x="3468410" y="1658779"/>
            <a:ext cx="2959060" cy="228005"/>
          </a:xfrm>
          <a:prstGeom prst="rect">
            <a:avLst/>
          </a:prstGeom>
          <a:noFill/>
          <a:ln/>
        </p:spPr>
        <p:txBody>
          <a:bodyPr wrap="none" lIns="0" tIns="0" rIns="0" bIns="0" rtlCol="0" anchor="t"/>
          <a:lstStyle/>
          <a:p>
            <a:pPr algn="l" indent="0" marL="0">
              <a:lnSpc>
                <a:spcPts val="1750"/>
              </a:lnSpc>
              <a:buNone/>
            </a:pPr>
            <a:r>
              <a:rPr lang="en-US" sz="1400" dirty="0">
                <a:solidFill>
                  <a:srgbClr val="2E3C4E"/>
                </a:solidFill>
                <a:latin typeface="Host Grotesk Medium" pitchFamily="34" charset="0"/>
                <a:ea typeface="Host Grotesk Medium" pitchFamily="34" charset="-122"/>
                <a:cs typeface="Host Grotesk Medium" pitchFamily="34" charset="-120"/>
              </a:rPr>
              <a:t>The Problem: Recursive Inefficiency</a:t>
            </a:r>
            <a:endParaRPr lang="en-US" sz="1400" dirty="0"/>
          </a:p>
        </p:txBody>
      </p:sp>
      <p:sp>
        <p:nvSpPr>
          <p:cNvPr id="7" name="Text 5"/>
          <p:cNvSpPr/>
          <p:nvPr/>
        </p:nvSpPr>
        <p:spPr>
          <a:xfrm>
            <a:off x="3468410" y="2069187"/>
            <a:ext cx="7693462" cy="365046"/>
          </a:xfrm>
          <a:prstGeom prst="rect">
            <a:avLst/>
          </a:prstGeom>
          <a:noFill/>
          <a:ln/>
        </p:spPr>
        <p:txBody>
          <a:bodyPr wrap="square" lIns="0" tIns="0" rIns="0" bIns="0" rtlCol="0" anchor="t"/>
          <a:lstStyle/>
          <a:p>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Consider the classic Fibonacci sequence: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fibonacci(n-1) + fibonacci(n-2)</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Without memoization, functions like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fibonacci(4)</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repeatedly calculate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fibonacci(2)</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and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fibonacci(1)</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leading to exponential runtime as 'n' grows.</a:t>
            </a:r>
            <a:endParaRPr lang="en-US" sz="950" dirty="0"/>
          </a:p>
        </p:txBody>
      </p:sp>
      <p:pic>
        <p:nvPicPr>
          <p:cNvPr id="8" name="Image 0" descr="preencoded.png">    </p:cNvPr>
          <p:cNvPicPr>
            <a:picLocks noChangeAspect="1"/>
          </p:cNvPicPr>
          <p:nvPr/>
        </p:nvPicPr>
        <p:blipFill>
          <a:blip r:embed="rId1"/>
          <a:stretch>
            <a:fillRect/>
          </a:stretch>
        </p:blipFill>
        <p:spPr>
          <a:xfrm>
            <a:off x="3482578" y="2571036"/>
            <a:ext cx="7665125" cy="3573542"/>
          </a:xfrm>
          <a:prstGeom prst="rect">
            <a:avLst/>
          </a:prstGeom>
        </p:spPr>
      </p:pic>
      <p:sp>
        <p:nvSpPr>
          <p:cNvPr id="9" name="Text 6"/>
          <p:cNvSpPr/>
          <p:nvPr/>
        </p:nvSpPr>
        <p:spPr>
          <a:xfrm>
            <a:off x="3764590" y="3062993"/>
            <a:ext cx="1731019" cy="216377"/>
          </a:xfrm>
          <a:prstGeom prst="rect">
            <a:avLst/>
          </a:prstGeom>
          <a:noFill/>
          <a:ln/>
        </p:spPr>
        <p:txBody>
          <a:bodyPr wrap="none" lIns="0" tIns="0" rIns="0" bIns="0" rtlCol="0" anchor="t"/>
          <a:lstStyle/>
          <a:p>
            <a:pPr algn="r" indent="0" marL="0">
              <a:lnSpc>
                <a:spcPts val="1650"/>
              </a:lnSpc>
              <a:buNone/>
            </a:pPr>
            <a:r>
              <a:rPr lang="en-US" sz="1350" dirty="0">
                <a:solidFill>
                  <a:srgbClr val="384653"/>
                </a:solidFill>
                <a:latin typeface="Host Grotesk Medium" pitchFamily="34" charset="0"/>
                <a:ea typeface="Host Grotesk Medium" pitchFamily="34" charset="-122"/>
                <a:cs typeface="Host Grotesk Medium" pitchFamily="34" charset="-120"/>
              </a:rPr>
              <a:t>Root Call</a:t>
            </a:r>
            <a:endParaRPr lang="en-US" sz="1350" dirty="0"/>
          </a:p>
        </p:txBody>
      </p:sp>
      <p:sp>
        <p:nvSpPr>
          <p:cNvPr id="10" name="Text 7"/>
          <p:cNvSpPr/>
          <p:nvPr/>
        </p:nvSpPr>
        <p:spPr>
          <a:xfrm>
            <a:off x="3664575" y="3340917"/>
            <a:ext cx="1831034" cy="346204"/>
          </a:xfrm>
          <a:prstGeom prst="rect">
            <a:avLst/>
          </a:prstGeom>
          <a:noFill/>
          <a:ln/>
        </p:spPr>
        <p:txBody>
          <a:bodyPr wrap="square" lIns="0" tIns="0" rIns="0" bIns="0" rtlCol="0" anchor="t"/>
          <a:lstStyle/>
          <a:p>
            <a:pPr algn="r" indent="0" marL="0">
              <a:lnSpc>
                <a:spcPts val="1350"/>
              </a:lnSpc>
              <a:buNone/>
            </a:pPr>
            <a:r>
              <a:rPr lang="en-US" sz="1050" dirty="0">
                <a:solidFill>
                  <a:srgbClr val="384653"/>
                </a:solidFill>
                <a:latin typeface="Roboto" pitchFamily="34" charset="0"/>
                <a:ea typeface="Roboto" pitchFamily="34" charset="-122"/>
                <a:cs typeface="Roboto" pitchFamily="34" charset="-120"/>
              </a:rPr>
              <a:t>fibonacci(3) splits into two calls.</a:t>
            </a:r>
            <a:endParaRPr lang="en-US" sz="1050" dirty="0"/>
          </a:p>
        </p:txBody>
      </p:sp>
      <p:sp>
        <p:nvSpPr>
          <p:cNvPr id="11" name="Text 8"/>
          <p:cNvSpPr/>
          <p:nvPr/>
        </p:nvSpPr>
        <p:spPr>
          <a:xfrm>
            <a:off x="9134597" y="3647693"/>
            <a:ext cx="1731019" cy="216377"/>
          </a:xfrm>
          <a:prstGeom prst="rect">
            <a:avLst/>
          </a:prstGeom>
          <a:noFill/>
          <a:ln/>
        </p:spPr>
        <p:txBody>
          <a:bodyPr wrap="none" lIns="0" tIns="0" rIns="0" bIns="0" rtlCol="0" anchor="t"/>
          <a:lstStyle/>
          <a:p>
            <a:pPr algn="l" indent="0" marL="0">
              <a:lnSpc>
                <a:spcPts val="1650"/>
              </a:lnSpc>
              <a:buNone/>
            </a:pPr>
            <a:r>
              <a:rPr lang="en-US" sz="1350" dirty="0">
                <a:solidFill>
                  <a:srgbClr val="384653"/>
                </a:solidFill>
                <a:latin typeface="Host Grotesk Medium" pitchFamily="34" charset="0"/>
                <a:ea typeface="Host Grotesk Medium" pitchFamily="34" charset="-122"/>
                <a:cs typeface="Host Grotesk Medium" pitchFamily="34" charset="-120"/>
              </a:rPr>
              <a:t>First Branch</a:t>
            </a:r>
            <a:endParaRPr lang="en-US" sz="1350" dirty="0"/>
          </a:p>
        </p:txBody>
      </p:sp>
      <p:sp>
        <p:nvSpPr>
          <p:cNvPr id="12" name="Text 9"/>
          <p:cNvSpPr/>
          <p:nvPr/>
        </p:nvSpPr>
        <p:spPr>
          <a:xfrm>
            <a:off x="9134597" y="3925617"/>
            <a:ext cx="1831033" cy="346204"/>
          </a:xfrm>
          <a:prstGeom prst="rect">
            <a:avLst/>
          </a:prstGeom>
          <a:noFill/>
          <a:ln/>
        </p:spPr>
        <p:txBody>
          <a:bodyPr wrap="square" lIns="0" tIns="0" rIns="0" bIns="0" rtlCol="0" anchor="t"/>
          <a:lstStyle/>
          <a:p>
            <a:pPr algn="l" indent="0" marL="0">
              <a:lnSpc>
                <a:spcPts val="1350"/>
              </a:lnSpc>
              <a:buNone/>
            </a:pPr>
            <a:r>
              <a:rPr lang="en-US" sz="1050" dirty="0">
                <a:solidFill>
                  <a:srgbClr val="384653"/>
                </a:solidFill>
                <a:latin typeface="Roboto" pitchFamily="34" charset="0"/>
                <a:ea typeface="Roboto" pitchFamily="34" charset="-122"/>
                <a:cs typeface="Roboto" pitchFamily="34" charset="-120"/>
              </a:rPr>
              <a:t>fibonacci(2) calls fibonacci(1) and fibonacci(0).</a:t>
            </a:r>
            <a:endParaRPr lang="en-US" sz="1050" dirty="0"/>
          </a:p>
        </p:txBody>
      </p:sp>
      <p:sp>
        <p:nvSpPr>
          <p:cNvPr id="13" name="Text 10"/>
          <p:cNvSpPr/>
          <p:nvPr/>
        </p:nvSpPr>
        <p:spPr>
          <a:xfrm>
            <a:off x="3764590" y="4247779"/>
            <a:ext cx="1731019" cy="216377"/>
          </a:xfrm>
          <a:prstGeom prst="rect">
            <a:avLst/>
          </a:prstGeom>
          <a:noFill/>
          <a:ln/>
        </p:spPr>
        <p:txBody>
          <a:bodyPr wrap="none" lIns="0" tIns="0" rIns="0" bIns="0" rtlCol="0" anchor="t"/>
          <a:lstStyle/>
          <a:p>
            <a:pPr algn="r" indent="0" marL="0">
              <a:lnSpc>
                <a:spcPts val="1650"/>
              </a:lnSpc>
              <a:buNone/>
            </a:pPr>
            <a:r>
              <a:rPr lang="en-US" sz="1350" dirty="0">
                <a:solidFill>
                  <a:srgbClr val="384653"/>
                </a:solidFill>
                <a:latin typeface="Host Grotesk Medium" pitchFamily="34" charset="0"/>
                <a:ea typeface="Host Grotesk Medium" pitchFamily="34" charset="-122"/>
                <a:cs typeface="Host Grotesk Medium" pitchFamily="34" charset="-120"/>
              </a:rPr>
              <a:t>Second Branch</a:t>
            </a:r>
            <a:endParaRPr lang="en-US" sz="1350" dirty="0"/>
          </a:p>
        </p:txBody>
      </p:sp>
      <p:sp>
        <p:nvSpPr>
          <p:cNvPr id="14" name="Text 11"/>
          <p:cNvSpPr/>
          <p:nvPr/>
        </p:nvSpPr>
        <p:spPr>
          <a:xfrm>
            <a:off x="3664575" y="4525704"/>
            <a:ext cx="1831034" cy="346204"/>
          </a:xfrm>
          <a:prstGeom prst="rect">
            <a:avLst/>
          </a:prstGeom>
          <a:noFill/>
          <a:ln/>
        </p:spPr>
        <p:txBody>
          <a:bodyPr wrap="square" lIns="0" tIns="0" rIns="0" bIns="0" rtlCol="0" anchor="t"/>
          <a:lstStyle/>
          <a:p>
            <a:pPr algn="r" indent="0" marL="0">
              <a:lnSpc>
                <a:spcPts val="1350"/>
              </a:lnSpc>
              <a:buNone/>
            </a:pPr>
            <a:r>
              <a:rPr lang="en-US" sz="1050" dirty="0">
                <a:solidFill>
                  <a:srgbClr val="384653"/>
                </a:solidFill>
                <a:latin typeface="Roboto" pitchFamily="34" charset="0"/>
                <a:ea typeface="Roboto" pitchFamily="34" charset="-122"/>
                <a:cs typeface="Roboto" pitchFamily="34" charset="-120"/>
              </a:rPr>
              <a:t>Another fibonacci(2) repeats fibonacci(1) and fibonacci(0).</a:t>
            </a:r>
            <a:endParaRPr lang="en-US" sz="1050" dirty="0"/>
          </a:p>
        </p:txBody>
      </p:sp>
      <p:sp>
        <p:nvSpPr>
          <p:cNvPr id="15" name="Text 12"/>
          <p:cNvSpPr/>
          <p:nvPr/>
        </p:nvSpPr>
        <p:spPr>
          <a:xfrm>
            <a:off x="9134597" y="4917107"/>
            <a:ext cx="1731019" cy="216377"/>
          </a:xfrm>
          <a:prstGeom prst="rect">
            <a:avLst/>
          </a:prstGeom>
          <a:noFill/>
          <a:ln/>
        </p:spPr>
        <p:txBody>
          <a:bodyPr wrap="none" lIns="0" tIns="0" rIns="0" bIns="0" rtlCol="0" anchor="t"/>
          <a:lstStyle/>
          <a:p>
            <a:pPr algn="l" indent="0" marL="0">
              <a:lnSpc>
                <a:spcPts val="1650"/>
              </a:lnSpc>
              <a:buNone/>
            </a:pPr>
            <a:r>
              <a:rPr lang="en-US" sz="1350" dirty="0">
                <a:solidFill>
                  <a:srgbClr val="384653"/>
                </a:solidFill>
                <a:latin typeface="Host Grotesk Medium" pitchFamily="34" charset="0"/>
                <a:ea typeface="Host Grotesk Medium" pitchFamily="34" charset="-122"/>
                <a:cs typeface="Host Grotesk Medium" pitchFamily="34" charset="-120"/>
              </a:rPr>
              <a:t>Base Results</a:t>
            </a:r>
            <a:endParaRPr lang="en-US" sz="1350" dirty="0"/>
          </a:p>
        </p:txBody>
      </p:sp>
      <p:sp>
        <p:nvSpPr>
          <p:cNvPr id="16" name="Text 13"/>
          <p:cNvSpPr/>
          <p:nvPr/>
        </p:nvSpPr>
        <p:spPr>
          <a:xfrm>
            <a:off x="9134597" y="5195032"/>
            <a:ext cx="1831033" cy="346204"/>
          </a:xfrm>
          <a:prstGeom prst="rect">
            <a:avLst/>
          </a:prstGeom>
          <a:noFill/>
          <a:ln/>
        </p:spPr>
        <p:txBody>
          <a:bodyPr wrap="square" lIns="0" tIns="0" rIns="0" bIns="0" rtlCol="0" anchor="t"/>
          <a:lstStyle/>
          <a:p>
            <a:pPr algn="l" indent="0" marL="0">
              <a:lnSpc>
                <a:spcPts val="1350"/>
              </a:lnSpc>
              <a:buNone/>
            </a:pPr>
            <a:r>
              <a:rPr lang="en-US" sz="1050" dirty="0">
                <a:solidFill>
                  <a:srgbClr val="384653"/>
                </a:solidFill>
                <a:latin typeface="Roboto" pitchFamily="34" charset="0"/>
                <a:ea typeface="Roboto" pitchFamily="34" charset="-122"/>
                <a:cs typeface="Roboto" pitchFamily="34" charset="-120"/>
              </a:rPr>
              <a:t>fibonacci(1)=1 and fibonacci(0)=0 returned.</a:t>
            </a:r>
            <a:endParaRPr lang="en-US" sz="1050" dirty="0"/>
          </a:p>
        </p:txBody>
      </p:sp>
      <p:sp>
        <p:nvSpPr>
          <p:cNvPr id="17" name="Text 14"/>
          <p:cNvSpPr/>
          <p:nvPr/>
        </p:nvSpPr>
        <p:spPr>
          <a:xfrm>
            <a:off x="3468410" y="6326981"/>
            <a:ext cx="3033236" cy="228005"/>
          </a:xfrm>
          <a:prstGeom prst="rect">
            <a:avLst/>
          </a:prstGeom>
          <a:noFill/>
          <a:ln/>
        </p:spPr>
        <p:txBody>
          <a:bodyPr wrap="none" lIns="0" tIns="0" rIns="0" bIns="0" rtlCol="0" anchor="t"/>
          <a:lstStyle/>
          <a:p>
            <a:pPr algn="l" indent="0" marL="0">
              <a:lnSpc>
                <a:spcPts val="1750"/>
              </a:lnSpc>
              <a:buNone/>
            </a:pPr>
            <a:r>
              <a:rPr lang="en-US" sz="1400" dirty="0">
                <a:solidFill>
                  <a:srgbClr val="2E3C4E"/>
                </a:solidFill>
                <a:latin typeface="Host Grotesk Medium" pitchFamily="34" charset="0"/>
                <a:ea typeface="Host Grotesk Medium" pitchFamily="34" charset="-122"/>
                <a:cs typeface="Host Grotesk Medium" pitchFamily="34" charset="-120"/>
              </a:rPr>
              <a:t>The Solution: A Memoized Approach</a:t>
            </a:r>
            <a:endParaRPr lang="en-US" sz="1400" dirty="0"/>
          </a:p>
        </p:txBody>
      </p:sp>
      <p:sp>
        <p:nvSpPr>
          <p:cNvPr id="18" name="Text 15"/>
          <p:cNvSpPr/>
          <p:nvPr/>
        </p:nvSpPr>
        <p:spPr>
          <a:xfrm>
            <a:off x="3468410" y="6737390"/>
            <a:ext cx="7693462" cy="365046"/>
          </a:xfrm>
          <a:prstGeom prst="rect">
            <a:avLst/>
          </a:prstGeom>
          <a:noFill/>
          <a:ln/>
        </p:spPr>
        <p:txBody>
          <a:bodyPr wrap="square" lIns="0" tIns="0" rIns="0" bIns="0" rtlCol="0" anchor="t"/>
          <a:lstStyle/>
          <a:p>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By storing computed Fibonacci numbers in a dictionary,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fibonacci_memo</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avoids redundant calculations. For example,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fibonacci_memo(40)</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can execute millions of times faster than its non-memoized counterpart.</a:t>
            </a:r>
            <a:endParaRPr lang="en-US" sz="950" dirty="0"/>
          </a:p>
        </p:txBody>
      </p:sp>
      <p:sp>
        <p:nvSpPr>
          <p:cNvPr id="19" name="Text 16"/>
          <p:cNvSpPr/>
          <p:nvPr/>
        </p:nvSpPr>
        <p:spPr>
          <a:xfrm>
            <a:off x="3468410" y="7239238"/>
            <a:ext cx="7693462" cy="182523"/>
          </a:xfrm>
          <a:prstGeom prst="rect">
            <a:avLst/>
          </a:prstGeom>
          <a:noFill/>
          <a:ln/>
        </p:spPr>
        <p:txBody>
          <a:bodyPr wrap="none" lIns="0" tIns="0" rIns="0" bIns="0" rtlCol="0" anchor="t"/>
          <a:lstStyle/>
          <a:p>
            <a:pPr algn="l" marL="342900" indent="-342900">
              <a:lnSpc>
                <a:spcPts val="1400"/>
              </a:lnSpc>
              <a:buSzPct val="100000"/>
              <a:buChar char="•"/>
            </a:pPr>
            <a:r>
              <a:rPr lang="en-US" sz="950" dirty="0">
                <a:solidFill>
                  <a:srgbClr val="384653"/>
                </a:solidFill>
                <a:highlight>
                  <a:srgbClr val="EDECE8"/>
                </a:highlight>
                <a:latin typeface="Consolas" pitchFamily="34" charset="0"/>
                <a:ea typeface="Consolas" pitchFamily="34" charset="-122"/>
                <a:cs typeface="Consolas" pitchFamily="34" charset="-120"/>
              </a:rPr>
              <a:t>known</a:t>
            </a:r>
            <a:pPr algn="l" indent="0" marL="0">
              <a:lnSpc>
                <a:spcPts val="1400"/>
              </a:lnSpc>
              <a:buNone/>
            </a:pPr>
            <a:r>
              <a:rPr lang="en-US" sz="950" b="1" dirty="0">
                <a:solidFill>
                  <a:srgbClr val="384653"/>
                </a:solidFill>
                <a:latin typeface="Roboto" pitchFamily="34" charset="0"/>
                <a:ea typeface="Roboto" pitchFamily="34" charset="-122"/>
                <a:cs typeface="Roboto" pitchFamily="34" charset="-120"/>
              </a:rPr>
              <a:t> Dictionary:</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Stores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{0:0, 1:1}</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initially.</a:t>
            </a:r>
            <a:endParaRPr lang="en-US" sz="950" dirty="0"/>
          </a:p>
        </p:txBody>
      </p:sp>
      <p:sp>
        <p:nvSpPr>
          <p:cNvPr id="20" name="Text 17"/>
          <p:cNvSpPr/>
          <p:nvPr/>
        </p:nvSpPr>
        <p:spPr>
          <a:xfrm>
            <a:off x="3468410" y="7464266"/>
            <a:ext cx="7693462" cy="182523"/>
          </a:xfrm>
          <a:prstGeom prst="rect">
            <a:avLst/>
          </a:prstGeom>
          <a:noFill/>
          <a:ln/>
        </p:spPr>
        <p:txBody>
          <a:bodyPr wrap="none" lIns="0" tIns="0" rIns="0" bIns="0" rtlCol="0" anchor="t"/>
          <a:lstStyle/>
          <a:p>
            <a:pPr algn="l" marL="342900" indent="-342900">
              <a:lnSpc>
                <a:spcPts val="1400"/>
              </a:lnSpc>
              <a:buSzPct val="100000"/>
              <a:buChar char="•"/>
            </a:pPr>
            <a:r>
              <a:rPr lang="en-US" sz="950" b="1" dirty="0">
                <a:solidFill>
                  <a:srgbClr val="384653"/>
                </a:solidFill>
                <a:latin typeface="Roboto" pitchFamily="34" charset="0"/>
                <a:ea typeface="Roboto" pitchFamily="34" charset="-122"/>
                <a:cs typeface="Roboto" pitchFamily="34" charset="-120"/>
              </a:rPr>
              <a:t>Check Cache:</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Before computing, check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known</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If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n</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is found, return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known[n]</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a:t>
            </a:r>
            <a:endParaRPr lang="en-US" sz="950" dirty="0"/>
          </a:p>
        </p:txBody>
      </p:sp>
      <p:sp>
        <p:nvSpPr>
          <p:cNvPr id="21" name="Text 18"/>
          <p:cNvSpPr/>
          <p:nvPr/>
        </p:nvSpPr>
        <p:spPr>
          <a:xfrm>
            <a:off x="3468410" y="7689294"/>
            <a:ext cx="7693462" cy="182523"/>
          </a:xfrm>
          <a:prstGeom prst="rect">
            <a:avLst/>
          </a:prstGeom>
          <a:noFill/>
          <a:ln/>
        </p:spPr>
        <p:txBody>
          <a:bodyPr wrap="none" lIns="0" tIns="0" rIns="0" bIns="0" rtlCol="0" anchor="t"/>
          <a:lstStyle/>
          <a:p>
            <a:pPr algn="l" marL="342900" indent="-342900">
              <a:lnSpc>
                <a:spcPts val="1400"/>
              </a:lnSpc>
              <a:buSzPct val="100000"/>
              <a:buChar char="•"/>
            </a:pPr>
            <a:r>
              <a:rPr lang="en-US" sz="950" b="1" dirty="0">
                <a:solidFill>
                  <a:srgbClr val="384653"/>
                </a:solidFill>
                <a:latin typeface="Roboto" pitchFamily="34" charset="0"/>
                <a:ea typeface="Roboto" pitchFamily="34" charset="-122"/>
                <a:cs typeface="Roboto" pitchFamily="34" charset="-120"/>
              </a:rPr>
              <a:t>Compute &amp; Store:</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If not found, compute the value, store it in </a:t>
            </a:r>
            <a:pPr algn="l" indent="0" marL="0">
              <a:lnSpc>
                <a:spcPts val="1400"/>
              </a:lnSpc>
              <a:buNone/>
            </a:pPr>
            <a:r>
              <a:rPr lang="en-US" sz="950" dirty="0">
                <a:solidFill>
                  <a:srgbClr val="384653"/>
                </a:solidFill>
                <a:highlight>
                  <a:srgbClr val="EDECE8"/>
                </a:highlight>
                <a:latin typeface="Consolas" pitchFamily="34" charset="0"/>
                <a:ea typeface="Consolas" pitchFamily="34" charset="-122"/>
                <a:cs typeface="Consolas" pitchFamily="34" charset="-120"/>
              </a:rPr>
              <a:t>known[n]</a:t>
            </a:r>
            <a:pPr algn="l" indent="0" marL="0">
              <a:lnSpc>
                <a:spcPts val="1400"/>
              </a:lnSpc>
              <a:buNone/>
            </a:pPr>
            <a:r>
              <a:rPr lang="en-US" sz="950" dirty="0">
                <a:solidFill>
                  <a:srgbClr val="384653"/>
                </a:solidFill>
                <a:latin typeface="Roboto" pitchFamily="34" charset="0"/>
                <a:ea typeface="Roboto" pitchFamily="34" charset="-122"/>
                <a:cs typeface="Roboto" pitchFamily="34" charset="-120"/>
              </a:rPr>
              <a:t>, then return it.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953697" y="535900"/>
            <a:ext cx="1263372" cy="305038"/>
          </a:xfrm>
          <a:prstGeom prst="roundRect">
            <a:avLst>
              <a:gd name="adj" fmla="val 18674"/>
            </a:avLst>
          </a:prstGeom>
          <a:solidFill>
            <a:srgbClr val="D9EDF2"/>
          </a:solidFill>
          <a:ln/>
        </p:spPr>
      </p:sp>
      <p:sp>
        <p:nvSpPr>
          <p:cNvPr id="3" name="Text 1"/>
          <p:cNvSpPr/>
          <p:nvPr/>
        </p:nvSpPr>
        <p:spPr>
          <a:xfrm>
            <a:off x="2055376" y="586740"/>
            <a:ext cx="1060013" cy="203359"/>
          </a:xfrm>
          <a:prstGeom prst="rect">
            <a:avLst/>
          </a:prstGeom>
          <a:noFill/>
          <a:ln/>
        </p:spPr>
        <p:txBody>
          <a:bodyPr wrap="none" lIns="0" tIns="0" rIns="0" bIns="0" rtlCol="0" anchor="t"/>
          <a:lstStyle/>
          <a:p>
            <a:pPr algn="l" indent="0" marL="0">
              <a:lnSpc>
                <a:spcPts val="1600"/>
              </a:lnSpc>
              <a:buNone/>
            </a:pPr>
            <a:r>
              <a:rPr lang="en-US" sz="1050" dirty="0">
                <a:solidFill>
                  <a:srgbClr val="384653"/>
                </a:solidFill>
                <a:latin typeface="Roboto" pitchFamily="34" charset="0"/>
                <a:ea typeface="Roboto" pitchFamily="34" charset="-122"/>
                <a:cs typeface="Roboto" pitchFamily="34" charset="-120"/>
              </a:rPr>
              <a:t>BEST PRACTICES</a:t>
            </a:r>
            <a:endParaRPr lang="en-US" sz="1050" dirty="0"/>
          </a:p>
        </p:txBody>
      </p:sp>
      <p:sp>
        <p:nvSpPr>
          <p:cNvPr id="4" name="Text 2"/>
          <p:cNvSpPr/>
          <p:nvPr/>
        </p:nvSpPr>
        <p:spPr>
          <a:xfrm>
            <a:off x="1953697" y="908685"/>
            <a:ext cx="6309598" cy="423863"/>
          </a:xfrm>
          <a:prstGeom prst="rect">
            <a:avLst/>
          </a:prstGeom>
          <a:noFill/>
          <a:ln/>
        </p:spPr>
        <p:txBody>
          <a:bodyPr wrap="none" lIns="0" tIns="0" rIns="0" bIns="0" rtlCol="0" anchor="t"/>
          <a:lstStyle/>
          <a:p>
            <a:pPr algn="l" indent="0" marL="0">
              <a:lnSpc>
                <a:spcPts val="3300"/>
              </a:lnSpc>
              <a:buNone/>
            </a:pPr>
            <a:r>
              <a:rPr lang="en-US" sz="2650" dirty="0">
                <a:solidFill>
                  <a:srgbClr val="2E3C4E"/>
                </a:solidFill>
                <a:latin typeface="Host Grotesk Medium" pitchFamily="34" charset="0"/>
                <a:ea typeface="Host Grotesk Medium" pitchFamily="34" charset="-122"/>
                <a:cs typeface="Host Grotesk Medium" pitchFamily="34" charset="-120"/>
              </a:rPr>
              <a:t>Debugging Strategies for Large Datasets</a:t>
            </a:r>
            <a:endParaRPr lang="en-US" sz="2650" dirty="0"/>
          </a:p>
        </p:txBody>
      </p:sp>
      <p:sp>
        <p:nvSpPr>
          <p:cNvPr id="5" name="Text 3"/>
          <p:cNvSpPr/>
          <p:nvPr/>
        </p:nvSpPr>
        <p:spPr>
          <a:xfrm>
            <a:off x="1953697" y="1586746"/>
            <a:ext cx="10722888" cy="508635"/>
          </a:xfrm>
          <a:prstGeom prst="rect">
            <a:avLst/>
          </a:prstGeom>
          <a:noFill/>
          <a:ln/>
        </p:spPr>
        <p:txBody>
          <a:bodyPr wrap="square" lIns="0" tIns="0" rIns="0" bIns="0" rtlCol="0" anchor="t"/>
          <a:lstStyle/>
          <a:p>
            <a:pPr algn="l" indent="0" marL="0">
              <a:lnSpc>
                <a:spcPts val="2000"/>
              </a:lnSpc>
              <a:buNone/>
            </a:pPr>
            <a:r>
              <a:rPr lang="en-US" sz="1300" dirty="0">
                <a:solidFill>
                  <a:srgbClr val="384653"/>
                </a:solidFill>
                <a:latin typeface="Roboto" pitchFamily="34" charset="0"/>
                <a:ea typeface="Roboto" pitchFamily="34" charset="-122"/>
                <a:cs typeface="Roboto" pitchFamily="34" charset="-120"/>
              </a:rPr>
              <a:t>Effective debugging is crucial when working with extensive datasets. These strategies help streamline the process and pinpoint issues efficiently.</a:t>
            </a:r>
            <a:endParaRPr lang="en-US" sz="1300" dirty="0"/>
          </a:p>
        </p:txBody>
      </p:sp>
      <p:sp>
        <p:nvSpPr>
          <p:cNvPr id="6" name="Shape 4"/>
          <p:cNvSpPr/>
          <p:nvPr/>
        </p:nvSpPr>
        <p:spPr>
          <a:xfrm>
            <a:off x="7303651" y="2286000"/>
            <a:ext cx="22860" cy="4581406"/>
          </a:xfrm>
          <a:prstGeom prst="roundRect">
            <a:avLst>
              <a:gd name="adj" fmla="val 311477"/>
            </a:avLst>
          </a:prstGeom>
          <a:solidFill>
            <a:srgbClr val="BFD3D8"/>
          </a:solidFill>
          <a:ln/>
        </p:spPr>
      </p:sp>
      <p:sp>
        <p:nvSpPr>
          <p:cNvPr id="7" name="Shape 5"/>
          <p:cNvSpPr/>
          <p:nvPr/>
        </p:nvSpPr>
        <p:spPr>
          <a:xfrm>
            <a:off x="6829425" y="3016329"/>
            <a:ext cx="508516" cy="22860"/>
          </a:xfrm>
          <a:prstGeom prst="roundRect">
            <a:avLst>
              <a:gd name="adj" fmla="val 311477"/>
            </a:avLst>
          </a:prstGeom>
          <a:solidFill>
            <a:srgbClr val="BFD3D8"/>
          </a:solidFill>
          <a:ln/>
        </p:spPr>
      </p:sp>
      <p:pic>
        <p:nvPicPr>
          <p:cNvPr id="8" name="Image 0" descr="preencoded.png">    </p:cNvPr>
          <p:cNvPicPr>
            <a:picLocks noChangeAspect="1"/>
          </p:cNvPicPr>
          <p:nvPr/>
        </p:nvPicPr>
        <p:blipFill>
          <a:blip r:embed="rId1"/>
          <a:stretch>
            <a:fillRect/>
          </a:stretch>
        </p:blipFill>
        <p:spPr>
          <a:xfrm>
            <a:off x="7251561" y="2964240"/>
            <a:ext cx="127040" cy="127040"/>
          </a:xfrm>
          <a:prstGeom prst="rect">
            <a:avLst/>
          </a:prstGeom>
        </p:spPr>
      </p:pic>
      <p:sp>
        <p:nvSpPr>
          <p:cNvPr id="9" name="Shape 6"/>
          <p:cNvSpPr/>
          <p:nvPr/>
        </p:nvSpPr>
        <p:spPr>
          <a:xfrm>
            <a:off x="1953697" y="2286000"/>
            <a:ext cx="4852868" cy="1483638"/>
          </a:xfrm>
          <a:prstGeom prst="roundRect">
            <a:avLst>
              <a:gd name="adj" fmla="val 4799"/>
            </a:avLst>
          </a:prstGeom>
          <a:solidFill>
            <a:srgbClr val="D9EDF2"/>
          </a:solidFill>
          <a:ln w="7620">
            <a:solidFill>
              <a:srgbClr val="BFD3D8"/>
            </a:solidFill>
            <a:prstDash val="solid"/>
          </a:ln>
        </p:spPr>
      </p:sp>
      <p:sp>
        <p:nvSpPr>
          <p:cNvPr id="10" name="Text 7"/>
          <p:cNvSpPr/>
          <p:nvPr/>
        </p:nvSpPr>
        <p:spPr>
          <a:xfrm>
            <a:off x="4510445" y="2463046"/>
            <a:ext cx="2119074" cy="264914"/>
          </a:xfrm>
          <a:prstGeom prst="rect">
            <a:avLst/>
          </a:prstGeom>
          <a:noFill/>
          <a:ln/>
        </p:spPr>
        <p:txBody>
          <a:bodyPr wrap="none" lIns="0" tIns="0" rIns="0" bIns="0" rtlCol="0" anchor="t"/>
          <a:lstStyle/>
          <a:p>
            <a:pPr algn="r" indent="0" marL="0">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Scale Down Input</a:t>
            </a:r>
            <a:endParaRPr lang="en-US" sz="1650" dirty="0"/>
          </a:p>
        </p:txBody>
      </p:sp>
      <p:sp>
        <p:nvSpPr>
          <p:cNvPr id="11" name="Text 8"/>
          <p:cNvSpPr/>
          <p:nvPr/>
        </p:nvSpPr>
        <p:spPr>
          <a:xfrm>
            <a:off x="2130743" y="2829639"/>
            <a:ext cx="4498777" cy="762953"/>
          </a:xfrm>
          <a:prstGeom prst="rect">
            <a:avLst/>
          </a:prstGeom>
          <a:noFill/>
          <a:ln/>
        </p:spPr>
        <p:txBody>
          <a:bodyPr wrap="square" lIns="0" tIns="0" rIns="0" bIns="0" rtlCol="0" anchor="t"/>
          <a:lstStyle/>
          <a:p>
            <a:pPr algn="r" indent="0" marL="0">
              <a:lnSpc>
                <a:spcPts val="2000"/>
              </a:lnSpc>
              <a:buNone/>
            </a:pPr>
            <a:r>
              <a:rPr lang="en-US" sz="1300" dirty="0">
                <a:solidFill>
                  <a:srgbClr val="384653"/>
                </a:solidFill>
                <a:latin typeface="Roboto" pitchFamily="34" charset="0"/>
                <a:ea typeface="Roboto" pitchFamily="34" charset="-122"/>
                <a:cs typeface="Roboto" pitchFamily="34" charset="-120"/>
              </a:rPr>
              <a:t>Reduce the dataset size (e.g., process only the first 10 lines of a file) to isolate the smallest case that triggers an error. Gradually increase the size as bugs are resolved.</a:t>
            </a:r>
            <a:endParaRPr lang="en-US" sz="1300" dirty="0"/>
          </a:p>
        </p:txBody>
      </p:sp>
      <p:sp>
        <p:nvSpPr>
          <p:cNvPr id="12" name="Shape 9"/>
          <p:cNvSpPr/>
          <p:nvPr/>
        </p:nvSpPr>
        <p:spPr>
          <a:xfrm>
            <a:off x="7292221" y="4033361"/>
            <a:ext cx="508516" cy="22860"/>
          </a:xfrm>
          <a:prstGeom prst="roundRect">
            <a:avLst>
              <a:gd name="adj" fmla="val 311477"/>
            </a:avLst>
          </a:prstGeom>
          <a:solidFill>
            <a:srgbClr val="BFD3D8"/>
          </a:solidFill>
          <a:ln/>
        </p:spPr>
      </p:sp>
      <p:pic>
        <p:nvPicPr>
          <p:cNvPr id="13" name="Image 1" descr="preencoded.png">    </p:cNvPr>
          <p:cNvPicPr>
            <a:picLocks noChangeAspect="1"/>
          </p:cNvPicPr>
          <p:nvPr/>
        </p:nvPicPr>
        <p:blipFill>
          <a:blip r:embed="rId2"/>
          <a:stretch>
            <a:fillRect/>
          </a:stretch>
        </p:blipFill>
        <p:spPr>
          <a:xfrm>
            <a:off x="7251561" y="3981271"/>
            <a:ext cx="127040" cy="127040"/>
          </a:xfrm>
          <a:prstGeom prst="rect">
            <a:avLst/>
          </a:prstGeom>
        </p:spPr>
      </p:pic>
      <p:sp>
        <p:nvSpPr>
          <p:cNvPr id="14" name="Shape 10"/>
          <p:cNvSpPr/>
          <p:nvPr/>
        </p:nvSpPr>
        <p:spPr>
          <a:xfrm>
            <a:off x="7823597" y="3303032"/>
            <a:ext cx="4852987" cy="1483638"/>
          </a:xfrm>
          <a:prstGeom prst="roundRect">
            <a:avLst>
              <a:gd name="adj" fmla="val 4799"/>
            </a:avLst>
          </a:prstGeom>
          <a:solidFill>
            <a:srgbClr val="D9EDF2"/>
          </a:solidFill>
          <a:ln w="7620">
            <a:solidFill>
              <a:srgbClr val="BFD3D8"/>
            </a:solidFill>
            <a:prstDash val="solid"/>
          </a:ln>
        </p:spPr>
      </p:sp>
      <p:sp>
        <p:nvSpPr>
          <p:cNvPr id="15" name="Text 11"/>
          <p:cNvSpPr/>
          <p:nvPr/>
        </p:nvSpPr>
        <p:spPr>
          <a:xfrm>
            <a:off x="8000643" y="3480078"/>
            <a:ext cx="2608064" cy="264914"/>
          </a:xfrm>
          <a:prstGeom prst="rect">
            <a:avLst/>
          </a:prstGeom>
          <a:noFill/>
          <a:ln/>
        </p:spPr>
        <p:txBody>
          <a:bodyPr wrap="none" lIns="0" tIns="0" rIns="0" bIns="0" rtlCol="0" anchor="t"/>
          <a:lstStyle/>
          <a:p>
            <a:pPr algn="l" indent="0" marL="0">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Check Summaries &amp; Types</a:t>
            </a:r>
            <a:endParaRPr lang="en-US" sz="1650" dirty="0"/>
          </a:p>
        </p:txBody>
      </p:sp>
      <p:sp>
        <p:nvSpPr>
          <p:cNvPr id="16" name="Text 12"/>
          <p:cNvSpPr/>
          <p:nvPr/>
        </p:nvSpPr>
        <p:spPr>
          <a:xfrm>
            <a:off x="8000643" y="3846671"/>
            <a:ext cx="4498896" cy="762953"/>
          </a:xfrm>
          <a:prstGeom prst="rect">
            <a:avLst/>
          </a:prstGeom>
          <a:noFill/>
          <a:ln/>
        </p:spPr>
        <p:txBody>
          <a:bodyPr wrap="square" lIns="0" tIns="0" rIns="0" bIns="0" rtlCol="0" anchor="t"/>
          <a:lstStyle/>
          <a:p>
            <a:pPr algn="l" indent="0" marL="0">
              <a:lnSpc>
                <a:spcPts val="2000"/>
              </a:lnSpc>
              <a:buNone/>
            </a:pPr>
            <a:r>
              <a:rPr lang="en-US" sz="1300" dirty="0">
                <a:solidFill>
                  <a:srgbClr val="384653"/>
                </a:solidFill>
                <a:latin typeface="Roboto" pitchFamily="34" charset="0"/>
                <a:ea typeface="Roboto" pitchFamily="34" charset="-122"/>
                <a:cs typeface="Roboto" pitchFamily="34" charset="-120"/>
              </a:rPr>
              <a:t>Instead of printing entire datasets, print summaries (e.g., dictionary item counts, list totals) or check variable types to quickly identify unexpected values or mismatches.</a:t>
            </a:r>
            <a:endParaRPr lang="en-US" sz="1300" dirty="0"/>
          </a:p>
        </p:txBody>
      </p:sp>
      <p:sp>
        <p:nvSpPr>
          <p:cNvPr id="17" name="Shape 13"/>
          <p:cNvSpPr/>
          <p:nvPr/>
        </p:nvSpPr>
        <p:spPr>
          <a:xfrm>
            <a:off x="6829425" y="5071824"/>
            <a:ext cx="508516" cy="22860"/>
          </a:xfrm>
          <a:prstGeom prst="roundRect">
            <a:avLst>
              <a:gd name="adj" fmla="val 311477"/>
            </a:avLst>
          </a:prstGeom>
          <a:solidFill>
            <a:srgbClr val="BFD3D8"/>
          </a:solidFill>
          <a:ln/>
        </p:spPr>
      </p:sp>
      <p:pic>
        <p:nvPicPr>
          <p:cNvPr id="18" name="Image 2" descr="preencoded.png">    </p:cNvPr>
          <p:cNvPicPr>
            <a:picLocks noChangeAspect="1"/>
          </p:cNvPicPr>
          <p:nvPr/>
        </p:nvPicPr>
        <p:blipFill>
          <a:blip r:embed="rId3"/>
          <a:stretch>
            <a:fillRect/>
          </a:stretch>
        </p:blipFill>
        <p:spPr>
          <a:xfrm>
            <a:off x="7251561" y="5019735"/>
            <a:ext cx="127040" cy="127040"/>
          </a:xfrm>
          <a:prstGeom prst="rect">
            <a:avLst/>
          </a:prstGeom>
        </p:spPr>
      </p:pic>
      <p:sp>
        <p:nvSpPr>
          <p:cNvPr id="19" name="Shape 14"/>
          <p:cNvSpPr/>
          <p:nvPr/>
        </p:nvSpPr>
        <p:spPr>
          <a:xfrm>
            <a:off x="1953697" y="4214336"/>
            <a:ext cx="4852868" cy="1737955"/>
          </a:xfrm>
          <a:prstGeom prst="roundRect">
            <a:avLst>
              <a:gd name="adj" fmla="val 4097"/>
            </a:avLst>
          </a:prstGeom>
          <a:solidFill>
            <a:srgbClr val="D9EDF2"/>
          </a:solidFill>
          <a:ln w="7620">
            <a:solidFill>
              <a:srgbClr val="BFD3D8"/>
            </a:solidFill>
            <a:prstDash val="solid"/>
          </a:ln>
        </p:spPr>
      </p:sp>
      <p:sp>
        <p:nvSpPr>
          <p:cNvPr id="20" name="Text 15"/>
          <p:cNvSpPr/>
          <p:nvPr/>
        </p:nvSpPr>
        <p:spPr>
          <a:xfrm>
            <a:off x="4357807" y="4391382"/>
            <a:ext cx="2271713" cy="264914"/>
          </a:xfrm>
          <a:prstGeom prst="rect">
            <a:avLst/>
          </a:prstGeom>
          <a:noFill/>
          <a:ln/>
        </p:spPr>
        <p:txBody>
          <a:bodyPr wrap="none" lIns="0" tIns="0" rIns="0" bIns="0" rtlCol="0" anchor="t"/>
          <a:lstStyle/>
          <a:p>
            <a:pPr algn="r" indent="0" marL="0">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Implement Self-Checks</a:t>
            </a:r>
            <a:endParaRPr lang="en-US" sz="1650" dirty="0"/>
          </a:p>
        </p:txBody>
      </p:sp>
      <p:sp>
        <p:nvSpPr>
          <p:cNvPr id="21" name="Text 16"/>
          <p:cNvSpPr/>
          <p:nvPr/>
        </p:nvSpPr>
        <p:spPr>
          <a:xfrm>
            <a:off x="2130743" y="4757976"/>
            <a:ext cx="4498777" cy="1017270"/>
          </a:xfrm>
          <a:prstGeom prst="rect">
            <a:avLst/>
          </a:prstGeom>
          <a:noFill/>
          <a:ln/>
        </p:spPr>
        <p:txBody>
          <a:bodyPr wrap="square" lIns="0" tIns="0" rIns="0" bIns="0" rtlCol="0" anchor="t"/>
          <a:lstStyle/>
          <a:p>
            <a:pPr algn="r" indent="0" marL="0">
              <a:lnSpc>
                <a:spcPts val="2000"/>
              </a:lnSpc>
              <a:buNone/>
            </a:pPr>
            <a:r>
              <a:rPr lang="en-US" sz="1300" dirty="0">
                <a:solidFill>
                  <a:srgbClr val="384653"/>
                </a:solidFill>
                <a:latin typeface="Roboto" pitchFamily="34" charset="0"/>
                <a:ea typeface="Roboto" pitchFamily="34" charset="-122"/>
                <a:cs typeface="Roboto" pitchFamily="34" charset="-120"/>
              </a:rPr>
              <a:t>Automate error detection with "sanity checks" (e.g., ensuring a calculated average falls within expected bounds) and "consistency checks" (comparing results from different computations).</a:t>
            </a:r>
            <a:endParaRPr lang="en-US" sz="1300" dirty="0"/>
          </a:p>
        </p:txBody>
      </p:sp>
      <p:sp>
        <p:nvSpPr>
          <p:cNvPr id="22" name="Shape 17"/>
          <p:cNvSpPr/>
          <p:nvPr/>
        </p:nvSpPr>
        <p:spPr>
          <a:xfrm>
            <a:off x="7292221" y="5986939"/>
            <a:ext cx="508516" cy="22860"/>
          </a:xfrm>
          <a:prstGeom prst="roundRect">
            <a:avLst>
              <a:gd name="adj" fmla="val 311477"/>
            </a:avLst>
          </a:prstGeom>
          <a:solidFill>
            <a:srgbClr val="BFD3D8"/>
          </a:solidFill>
          <a:ln/>
        </p:spPr>
      </p:sp>
      <p:pic>
        <p:nvPicPr>
          <p:cNvPr id="23" name="Image 3" descr="preencoded.png">    </p:cNvPr>
          <p:cNvPicPr>
            <a:picLocks noChangeAspect="1"/>
          </p:cNvPicPr>
          <p:nvPr/>
        </p:nvPicPr>
        <p:blipFill>
          <a:blip r:embed="rId4"/>
          <a:stretch>
            <a:fillRect/>
          </a:stretch>
        </p:blipFill>
        <p:spPr>
          <a:xfrm>
            <a:off x="7251561" y="5934849"/>
            <a:ext cx="127040" cy="127040"/>
          </a:xfrm>
          <a:prstGeom prst="rect">
            <a:avLst/>
          </a:prstGeom>
        </p:spPr>
      </p:pic>
      <p:sp>
        <p:nvSpPr>
          <p:cNvPr id="24" name="Shape 18"/>
          <p:cNvSpPr/>
          <p:nvPr/>
        </p:nvSpPr>
        <p:spPr>
          <a:xfrm>
            <a:off x="7823597" y="5252799"/>
            <a:ext cx="4852987" cy="1491258"/>
          </a:xfrm>
          <a:prstGeom prst="roundRect">
            <a:avLst>
              <a:gd name="adj" fmla="val 4775"/>
            </a:avLst>
          </a:prstGeom>
          <a:solidFill>
            <a:srgbClr val="D9EDF2"/>
          </a:solidFill>
          <a:ln w="7620">
            <a:solidFill>
              <a:srgbClr val="BFD3D8"/>
            </a:solidFill>
            <a:prstDash val="solid"/>
          </a:ln>
        </p:spPr>
      </p:sp>
      <p:sp>
        <p:nvSpPr>
          <p:cNvPr id="25" name="Text 19"/>
          <p:cNvSpPr/>
          <p:nvPr/>
        </p:nvSpPr>
        <p:spPr>
          <a:xfrm>
            <a:off x="8000643" y="5429845"/>
            <a:ext cx="2119074" cy="264914"/>
          </a:xfrm>
          <a:prstGeom prst="rect">
            <a:avLst/>
          </a:prstGeom>
          <a:noFill/>
          <a:ln/>
        </p:spPr>
        <p:txBody>
          <a:bodyPr wrap="none" lIns="0" tIns="0" rIns="0" bIns="0" rtlCol="0" anchor="t"/>
          <a:lstStyle/>
          <a:p>
            <a:pPr algn="l" indent="0" marL="0">
              <a:lnSpc>
                <a:spcPts val="2050"/>
              </a:lnSpc>
              <a:buNone/>
            </a:pPr>
            <a:r>
              <a:rPr lang="en-US" sz="1650" dirty="0">
                <a:solidFill>
                  <a:srgbClr val="384653"/>
                </a:solidFill>
                <a:latin typeface="Host Grotesk Medium" pitchFamily="34" charset="0"/>
                <a:ea typeface="Host Grotesk Medium" pitchFamily="34" charset="-122"/>
                <a:cs typeface="Host Grotesk Medium" pitchFamily="34" charset="-120"/>
              </a:rPr>
              <a:t>Format Output</a:t>
            </a:r>
            <a:endParaRPr lang="en-US" sz="1650" dirty="0"/>
          </a:p>
        </p:txBody>
      </p:sp>
      <p:sp>
        <p:nvSpPr>
          <p:cNvPr id="26" name="Text 20"/>
          <p:cNvSpPr/>
          <p:nvPr/>
        </p:nvSpPr>
        <p:spPr>
          <a:xfrm>
            <a:off x="8000643" y="5796439"/>
            <a:ext cx="4498896" cy="770572"/>
          </a:xfrm>
          <a:prstGeom prst="rect">
            <a:avLst/>
          </a:prstGeom>
          <a:noFill/>
          <a:ln/>
        </p:spPr>
        <p:txBody>
          <a:bodyPr wrap="square" lIns="0" tIns="0" rIns="0" bIns="0" rtlCol="0" anchor="t"/>
          <a:lstStyle/>
          <a:p>
            <a:pPr algn="l" indent="0" marL="0">
              <a:lnSpc>
                <a:spcPts val="2000"/>
              </a:lnSpc>
              <a:buNone/>
            </a:pPr>
            <a:r>
              <a:rPr lang="en-US" sz="1300" dirty="0">
                <a:solidFill>
                  <a:srgbClr val="384653"/>
                </a:solidFill>
                <a:latin typeface="Roboto" pitchFamily="34" charset="0"/>
                <a:ea typeface="Roboto" pitchFamily="34" charset="-122"/>
                <a:cs typeface="Roboto" pitchFamily="34" charset="-120"/>
              </a:rPr>
              <a:t>Use tools like the </a:t>
            </a:r>
            <a:pPr algn="l" indent="0" marL="0">
              <a:lnSpc>
                <a:spcPts val="2000"/>
              </a:lnSpc>
              <a:buNone/>
            </a:pPr>
            <a:r>
              <a:rPr lang="en-US" sz="1300" dirty="0">
                <a:solidFill>
                  <a:srgbClr val="384653"/>
                </a:solidFill>
                <a:highlight>
                  <a:srgbClr val="EDECE8"/>
                </a:highlight>
                <a:latin typeface="Consolas" pitchFamily="34" charset="0"/>
                <a:ea typeface="Consolas" pitchFamily="34" charset="-122"/>
                <a:cs typeface="Consolas" pitchFamily="34" charset="-120"/>
              </a:rPr>
              <a:t>pprint</a:t>
            </a:r>
            <a:pPr algn="l" indent="0" marL="0">
              <a:lnSpc>
                <a:spcPts val="2000"/>
              </a:lnSpc>
              <a:buNone/>
            </a:pPr>
            <a:r>
              <a:rPr lang="en-US" sz="1300" dirty="0">
                <a:solidFill>
                  <a:srgbClr val="384653"/>
                </a:solidFill>
                <a:latin typeface="Roboto" pitchFamily="34" charset="0"/>
                <a:ea typeface="Roboto" pitchFamily="34" charset="-122"/>
                <a:cs typeface="Roboto" pitchFamily="34" charset="-120"/>
              </a:rPr>
              <a:t> module to display data in a more readable format, making it easier to spot discrepancies and errors.</a:t>
            </a:r>
            <a:endParaRPr lang="en-US" sz="1300" dirty="0"/>
          </a:p>
        </p:txBody>
      </p:sp>
      <p:sp>
        <p:nvSpPr>
          <p:cNvPr id="27" name="Text 21"/>
          <p:cNvSpPr/>
          <p:nvPr/>
        </p:nvSpPr>
        <p:spPr>
          <a:xfrm>
            <a:off x="2207895" y="7248644"/>
            <a:ext cx="10468689" cy="254317"/>
          </a:xfrm>
          <a:prstGeom prst="rect">
            <a:avLst/>
          </a:prstGeom>
          <a:noFill/>
          <a:ln/>
        </p:spPr>
        <p:txBody>
          <a:bodyPr wrap="none" lIns="0" tIns="0" rIns="0" bIns="0" rtlCol="0" anchor="t"/>
          <a:lstStyle/>
          <a:p>
            <a:pPr algn="l" indent="0" marL="0">
              <a:lnSpc>
                <a:spcPts val="2000"/>
              </a:lnSpc>
              <a:buNone/>
            </a:pPr>
            <a:r>
              <a:rPr lang="en-US" sz="1300" dirty="0">
                <a:solidFill>
                  <a:srgbClr val="384653"/>
                </a:solidFill>
                <a:latin typeface="Roboto" pitchFamily="34" charset="0"/>
                <a:ea typeface="Roboto" pitchFamily="34" charset="-122"/>
                <a:cs typeface="Roboto" pitchFamily="34" charset="-120"/>
              </a:rPr>
              <a:t>"Time spent building scaffolding can reduce the time you spend debugging."</a:t>
            </a:r>
            <a:endParaRPr lang="en-US" sz="1300" dirty="0"/>
          </a:p>
        </p:txBody>
      </p:sp>
      <p:sp>
        <p:nvSpPr>
          <p:cNvPr id="28" name="Shape 22"/>
          <p:cNvSpPr/>
          <p:nvPr/>
        </p:nvSpPr>
        <p:spPr>
          <a:xfrm>
            <a:off x="1953697" y="7058025"/>
            <a:ext cx="22860" cy="635556"/>
          </a:xfrm>
          <a:prstGeom prst="rect">
            <a:avLst/>
          </a:prstGeom>
          <a:solidFill>
            <a:srgbClr val="95CCD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2026-01-15T06:08:07Z</dcterms:created>
  <dcterms:modified xsi:type="dcterms:W3CDTF">2026-01-15T06:08:07Z</dcterms:modified>
</cp:coreProperties>
</file>